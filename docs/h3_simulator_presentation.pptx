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12192000"/>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theme" Target="theme/theme1.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bg"/>
          <p:cNvSpPr txBox="1"/>
          <p:nvPr/>
        </p:nvSpPr>
        <p:spPr>
          <a:xfrm>
            <a:off x="0" y="0"/>
            <a:ext cx="12192000" cy="6858000"/>
          </a:xfrm>
          <a:prstGeom prst="rect">
            <a:avLst/>
          </a:prstGeom>
          <a:solidFill>
            <a:srgbClr val="1F3864"/>
          </a:solidFill>
          <a:ln>
            <a:noFill/>
          </a:ln>
        </p:spPr>
        <p:txBody>
          <a:bodyPr wrap="square" lIns="137160" tIns="91440" rIns="137160" bIns="91440" anchor="t">
            <a:normAutofit/>
          </a:bodyPr>
          <a:lstStyle/>
          <a:p>
            <a:endParaRPr lang="en-US"/>
          </a:p>
        </p:txBody>
      </p:sp>
      <p:sp>
        <p:nvSpPr>
          <p:cNvPr id="12" name="rule"/>
          <p:cNvSpPr txBox="1"/>
          <p:nvPr/>
        </p:nvSpPr>
        <p:spPr>
          <a:xfrm>
            <a:off x="0" y="0"/>
            <a:ext cx="12192000" cy="137160"/>
          </a:xfrm>
          <a:prstGeom prst="rect">
            <a:avLst/>
          </a:prstGeom>
          <a:solidFill>
            <a:srgbClr val="C55A11"/>
          </a:solidFill>
          <a:ln>
            <a:noFill/>
          </a:ln>
        </p:spPr>
        <p:txBody>
          <a:bodyPr wrap="square" lIns="137160" tIns="91440" rIns="137160" bIns="91440" anchor="t">
            <a:normAutofit/>
          </a:bodyPr>
          <a:lstStyle/>
          <a:p>
            <a:endParaRPr lang="en-US"/>
          </a:p>
        </p:txBody>
      </p:sp>
      <p:sp>
        <p:nvSpPr>
          <p:cNvPr id="13" name="sh"/>
          <p:cNvSpPr txBox="1"/>
          <p:nvPr/>
        </p:nvSpPr>
        <p:spPr>
          <a:xfrm>
            <a:off x="731520" y="1500000"/>
            <a:ext cx="10728960" cy="400000"/>
          </a:xfrm>
          <a:prstGeom prst="rect">
            <a:avLst/>
          </a:prstGeom>
          <a:noFill/>
          <a:ln>
            <a:noFill/>
          </a:ln>
        </p:spPr>
        <p:txBody>
          <a:bodyPr wrap="square" lIns="0" tIns="0" rIns="0" bIns="0" anchor="t">
            <a:normAutofit/>
          </a:bodyPr>
          <a:lstStyle/>
          <a:p>
            <a:pPr marL="0" indent="0" algn="l">
              <a:buNone/>
            </a:pPr>
            <a:r>
              <a:rPr lang="en-US" sz="1200" b="1" i="0" spc="400" dirty="0">
                <a:solidFill>
                  <a:srgbClr val="9DB2D4"/>
                </a:solidFill>
                <a:latin typeface="Calibri"/>
              </a:rPr>
              <a:t>RESEARCH PROJECT REPORT</a:t>
            </a:r>
          </a:p>
        </p:txBody>
      </p:sp>
      <p:sp>
        <p:nvSpPr>
          <p:cNvPr id="14" name="sh"/>
          <p:cNvSpPr txBox="1"/>
          <p:nvPr/>
        </p:nvSpPr>
        <p:spPr>
          <a:xfrm>
            <a:off x="731520" y="2000000"/>
            <a:ext cx="9226905" cy="1500000"/>
          </a:xfrm>
          <a:prstGeom prst="rect">
            <a:avLst/>
          </a:prstGeom>
          <a:noFill/>
          <a:ln>
            <a:noFill/>
          </a:ln>
        </p:spPr>
        <p:txBody>
          <a:bodyPr wrap="square" lIns="0" tIns="0" rIns="0" bIns="0" anchor="t">
            <a:normAutofit/>
          </a:bodyPr>
          <a:lstStyle/>
          <a:p>
            <a:pPr marL="0" indent="0" algn="l">
              <a:buNone/>
            </a:pPr>
            <a:r>
              <a:rPr lang="en-US" sz="4400" b="1" i="0" dirty="0">
                <a:solidFill>
                  <a:srgbClr val="FFFFFF"/>
                </a:solidFill>
                <a:latin typeface="Calibri"/>
              </a:rPr>
              <a:t>A Cycle-Accurate Simulator for H3</a:t>
            </a:r>
          </a:p>
        </p:txBody>
      </p:sp>
      <p:sp>
        <p:nvSpPr>
          <p:cNvPr id="15" name="sh"/>
          <p:cNvSpPr txBox="1"/>
          <p:nvPr/>
        </p:nvSpPr>
        <p:spPr>
          <a:xfrm>
            <a:off x="731520" y="3450000"/>
            <a:ext cx="2200000" cy="45000"/>
          </a:xfrm>
          <a:prstGeom prst="rect">
            <a:avLst/>
          </a:prstGeom>
          <a:solidFill>
            <a:srgbClr val="C55A11"/>
          </a:solidFill>
          <a:ln>
            <a:noFill/>
          </a:ln>
        </p:spPr>
        <p:txBody>
          <a:bodyPr wrap="square" lIns="137160" tIns="91440" rIns="137160" bIns="91440" anchor="t">
            <a:normAutofit/>
          </a:bodyPr>
          <a:lstStyle/>
          <a:p>
            <a:endParaRPr lang="en-US"/>
          </a:p>
        </p:txBody>
      </p:sp>
      <p:sp>
        <p:nvSpPr>
          <p:cNvPr id="16" name="sh"/>
          <p:cNvSpPr txBox="1"/>
          <p:nvPr/>
        </p:nvSpPr>
        <p:spPr>
          <a:xfrm>
            <a:off x="731520" y="3700000"/>
            <a:ext cx="8583168" cy="700000"/>
          </a:xfrm>
          <a:prstGeom prst="rect">
            <a:avLst/>
          </a:prstGeom>
          <a:noFill/>
          <a:ln>
            <a:noFill/>
          </a:ln>
        </p:spPr>
        <p:txBody>
          <a:bodyPr wrap="square" lIns="0" tIns="0" rIns="0" bIns="0" anchor="t">
            <a:normAutofit/>
          </a:bodyPr>
          <a:lstStyle/>
          <a:p>
            <a:pPr marL="0" indent="0" algn="l">
              <a:buNone/>
            </a:pPr>
            <a:r>
              <a:rPr lang="en-US" sz="1750" b="0" i="0" dirty="0">
                <a:solidFill>
                  <a:srgbClr val="C9D6E8"/>
                </a:solidFill>
                <a:latin typeface="Calibri"/>
              </a:rPr>
              <a:t>Hybrid HBM + High Bandwidth Flash memory for long-context LLM inference</a:t>
            </a:r>
          </a:p>
        </p:txBody>
      </p:sp>
      <p:sp>
        <p:nvSpPr>
          <p:cNvPr id="17" name="sh"/>
          <p:cNvSpPr txBox="1"/>
          <p:nvPr/>
        </p:nvSpPr>
        <p:spPr>
          <a:xfrm>
            <a:off x="731520" y="4900000"/>
            <a:ext cx="2482240" cy="900000"/>
          </a:xfrm>
          <a:prstGeom prst="rect">
            <a:avLst/>
          </a:prstGeom>
          <a:noFill/>
          <a:ln>
            <a:noFill/>
          </a:ln>
        </p:spPr>
        <p:txBody>
          <a:bodyPr wrap="square" lIns="0" tIns="0" rIns="0" bIns="0" anchor="t">
            <a:normAutofit/>
          </a:bodyPr>
          <a:lstStyle/>
          <a:p>
            <a:pPr marL="0" indent="0" algn="l">
              <a:buNone/>
            </a:pPr>
            <a:r>
              <a:rPr lang="en-US" sz="2000" b="1" i="0" dirty="0">
                <a:solidFill>
                  <a:srgbClr val="C55A11"/>
                </a:solidFill>
                <a:latin typeface="Calibri"/>
              </a:rPr>
              <a:t>44</a:t>
            </a:r>
          </a:p>
          <a:p>
            <a:pPr marL="0" indent="0" algn="l">
              <a:spcBef>
                <a:spcPts val="150"/>
              </a:spcBef>
              <a:buNone/>
            </a:pPr>
            <a:r>
              <a:rPr lang="en-US" sz="1150" b="0" i="0" dirty="0">
                <a:solidFill>
                  <a:srgbClr val="9DB2D4"/>
                </a:solidFill>
                <a:latin typeface="Calibri"/>
              </a:rPr>
              <a:t>new files written</a:t>
            </a:r>
          </a:p>
        </p:txBody>
      </p:sp>
      <p:sp>
        <p:nvSpPr>
          <p:cNvPr id="18" name="sh"/>
          <p:cNvSpPr txBox="1"/>
          <p:nvPr/>
        </p:nvSpPr>
        <p:spPr>
          <a:xfrm>
            <a:off x="3413760" y="4900000"/>
            <a:ext cx="2482240" cy="900000"/>
          </a:xfrm>
          <a:prstGeom prst="rect">
            <a:avLst/>
          </a:prstGeom>
          <a:noFill/>
          <a:ln>
            <a:noFill/>
          </a:ln>
        </p:spPr>
        <p:txBody>
          <a:bodyPr wrap="square" lIns="0" tIns="0" rIns="0" bIns="0" anchor="t">
            <a:normAutofit/>
          </a:bodyPr>
          <a:lstStyle/>
          <a:p>
            <a:pPr marL="0" indent="0" algn="l">
              <a:buNone/>
            </a:pPr>
            <a:r>
              <a:rPr lang="en-US" sz="2000" b="1" i="0" dirty="0">
                <a:solidFill>
                  <a:srgbClr val="C55A11"/>
                </a:solidFill>
                <a:latin typeface="Calibri"/>
              </a:rPr>
              <a:t>10,600</a:t>
            </a:r>
          </a:p>
          <a:p>
            <a:pPr marL="0" indent="0" algn="l">
              <a:spcBef>
                <a:spcPts val="150"/>
              </a:spcBef>
              <a:buNone/>
            </a:pPr>
            <a:r>
              <a:rPr lang="en-US" sz="1150" b="0" i="0" dirty="0">
                <a:solidFill>
                  <a:srgbClr val="9DB2D4"/>
                </a:solidFill>
                <a:latin typeface="Calibri"/>
              </a:rPr>
              <a:t>lines of code</a:t>
            </a:r>
          </a:p>
        </p:txBody>
      </p:sp>
      <p:sp>
        <p:nvSpPr>
          <p:cNvPr id="19" name="sh"/>
          <p:cNvSpPr txBox="1"/>
          <p:nvPr/>
        </p:nvSpPr>
        <p:spPr>
          <a:xfrm>
            <a:off x="6096000" y="4900000"/>
            <a:ext cx="2482240" cy="900000"/>
          </a:xfrm>
          <a:prstGeom prst="rect">
            <a:avLst/>
          </a:prstGeom>
          <a:noFill/>
          <a:ln>
            <a:noFill/>
          </a:ln>
        </p:spPr>
        <p:txBody>
          <a:bodyPr wrap="square" lIns="0" tIns="0" rIns="0" bIns="0" anchor="t">
            <a:normAutofit/>
          </a:bodyPr>
          <a:lstStyle/>
          <a:p>
            <a:pPr marL="0" indent="0" algn="l">
              <a:buNone/>
            </a:pPr>
            <a:r>
              <a:rPr lang="en-US" sz="2000" b="1" i="0" dirty="0">
                <a:solidFill>
                  <a:srgbClr val="C55A11"/>
                </a:solidFill>
                <a:latin typeface="Calibri"/>
              </a:rPr>
              <a:t>197</a:t>
            </a:r>
          </a:p>
          <a:p>
            <a:pPr marL="0" indent="0" algn="l">
              <a:spcBef>
                <a:spcPts val="150"/>
              </a:spcBef>
              <a:buNone/>
            </a:pPr>
            <a:r>
              <a:rPr lang="en-US" sz="1150" b="0" i="0" dirty="0">
                <a:solidFill>
                  <a:srgbClr val="9DB2D4"/>
                </a:solidFill>
                <a:latin typeface="Calibri"/>
              </a:rPr>
              <a:t>automated checks passing</a:t>
            </a:r>
          </a:p>
        </p:txBody>
      </p:sp>
      <p:sp>
        <p:nvSpPr>
          <p:cNvPr id="20" name="sh"/>
          <p:cNvSpPr txBox="1"/>
          <p:nvPr/>
        </p:nvSpPr>
        <p:spPr>
          <a:xfrm>
            <a:off x="8778240" y="4900000"/>
            <a:ext cx="2482240" cy="900000"/>
          </a:xfrm>
          <a:prstGeom prst="rect">
            <a:avLst/>
          </a:prstGeom>
          <a:noFill/>
          <a:ln>
            <a:noFill/>
          </a:ln>
        </p:spPr>
        <p:txBody>
          <a:bodyPr wrap="square" lIns="0" tIns="0" rIns="0" bIns="0" anchor="t">
            <a:normAutofit/>
          </a:bodyPr>
          <a:lstStyle/>
          <a:p>
            <a:pPr marL="0" indent="0" algn="l">
              <a:buNone/>
            </a:pPr>
            <a:r>
              <a:rPr lang="en-US" sz="2000" b="1" i="0" dirty="0">
                <a:solidFill>
                  <a:srgbClr val="C55A11"/>
                </a:solidFill>
                <a:latin typeface="Calibri"/>
              </a:rPr>
              <a:t>2</a:t>
            </a:r>
          </a:p>
          <a:p>
            <a:pPr marL="0" indent="0" algn="l">
              <a:spcBef>
                <a:spcPts val="150"/>
              </a:spcBef>
              <a:buNone/>
            </a:pPr>
            <a:r>
              <a:rPr lang="en-US" sz="1150" b="0" i="0" dirty="0">
                <a:solidFill>
                  <a:srgbClr val="9DB2D4"/>
                </a:solidFill>
                <a:latin typeface="Calibri"/>
              </a:rPr>
              <a:t>simulators integrated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bg"/>
          <p:cNvSpPr txBox="1"/>
          <p:nvPr/>
        </p:nvSpPr>
        <p:spPr>
          <a:xfrm>
            <a:off x="0" y="0"/>
            <a:ext cx="12192000" cy="6858000"/>
          </a:xfrm>
          <a:prstGeom prst="rect">
            <a:avLst/>
          </a:prstGeom>
          <a:solidFill>
            <a:srgbClr val="1F3864"/>
          </a:solidFill>
          <a:ln>
            <a:noFill/>
          </a:ln>
        </p:spPr>
        <p:txBody>
          <a:bodyPr wrap="square" lIns="137160" tIns="91440" rIns="137160" bIns="91440" anchor="t">
            <a:normAutofit/>
          </a:bodyPr>
          <a:lstStyle/>
          <a:p>
            <a:endParaRPr lang="en-US"/>
          </a:p>
        </p:txBody>
      </p:sp>
      <p:sp>
        <p:nvSpPr>
          <p:cNvPr id="22" name="sh"/>
          <p:cNvSpPr txBox="1"/>
          <p:nvPr/>
        </p:nvSpPr>
        <p:spPr>
          <a:xfrm>
            <a:off x="0" y="0"/>
            <a:ext cx="12192000" cy="137160"/>
          </a:xfrm>
          <a:prstGeom prst="rect">
            <a:avLst/>
          </a:prstGeom>
          <a:solidFill>
            <a:srgbClr val="C55A11"/>
          </a:solidFill>
          <a:ln>
            <a:noFill/>
          </a:ln>
        </p:spPr>
        <p:txBody>
          <a:bodyPr wrap="square" lIns="137160" tIns="91440" rIns="137160" bIns="91440" anchor="t">
            <a:normAutofit/>
          </a:bodyPr>
          <a:lstStyle/>
          <a:p>
            <a:endParaRPr lang="en-US"/>
          </a:p>
        </p:txBody>
      </p:sp>
      <p:sp>
        <p:nvSpPr>
          <p:cNvPr id="23" name="sh"/>
          <p:cNvSpPr txBox="1"/>
          <p:nvPr/>
        </p:nvSpPr>
        <p:spPr>
          <a:xfrm>
            <a:off x="731520" y="2100000"/>
            <a:ext cx="3000000" cy="1800000"/>
          </a:xfrm>
          <a:prstGeom prst="rect">
            <a:avLst/>
          </a:prstGeom>
          <a:noFill/>
          <a:ln>
            <a:noFill/>
          </a:ln>
        </p:spPr>
        <p:txBody>
          <a:bodyPr wrap="square" lIns="0" tIns="0" rIns="0" bIns="0" anchor="t">
            <a:normAutofit/>
          </a:bodyPr>
          <a:lstStyle/>
          <a:p>
            <a:pPr marL="0" indent="0" algn="l">
              <a:buNone/>
            </a:pPr>
            <a:r>
              <a:rPr lang="en-US" sz="12000" b="1" i="0" dirty="0">
                <a:solidFill>
                  <a:srgbClr val="2C4F80"/>
                </a:solidFill>
                <a:latin typeface="Calibri"/>
              </a:rPr>
              <a:t>01</a:t>
            </a:r>
          </a:p>
        </p:txBody>
      </p:sp>
      <p:sp>
        <p:nvSpPr>
          <p:cNvPr id="24" name="sh"/>
          <p:cNvSpPr txBox="1"/>
          <p:nvPr/>
        </p:nvSpPr>
        <p:spPr>
          <a:xfrm>
            <a:off x="2031520" y="2600000"/>
            <a:ext cx="9428960" cy="900000"/>
          </a:xfrm>
          <a:prstGeom prst="rect">
            <a:avLst/>
          </a:prstGeom>
          <a:noFill/>
          <a:ln>
            <a:noFill/>
          </a:ln>
        </p:spPr>
        <p:txBody>
          <a:bodyPr wrap="square" lIns="0" tIns="0" rIns="0" bIns="0" anchor="t">
            <a:normAutofit/>
          </a:bodyPr>
          <a:lstStyle/>
          <a:p>
            <a:pPr marL="0" indent="0" algn="l">
              <a:buNone/>
            </a:pPr>
            <a:r>
              <a:rPr lang="en-US" sz="3400" b="1" i="0" dirty="0">
                <a:solidFill>
                  <a:srgbClr val="FFFFFF"/>
                </a:solidFill>
                <a:latin typeface="Calibri"/>
              </a:rPr>
              <a:t>Why this project exists</a:t>
            </a:r>
          </a:p>
        </p:txBody>
      </p:sp>
      <p:sp>
        <p:nvSpPr>
          <p:cNvPr id="25" name="sh"/>
          <p:cNvSpPr txBox="1"/>
          <p:nvPr/>
        </p:nvSpPr>
        <p:spPr>
          <a:xfrm>
            <a:off x="2031520" y="3600000"/>
            <a:ext cx="9428960" cy="600000"/>
          </a:xfrm>
          <a:prstGeom prst="rect">
            <a:avLst/>
          </a:prstGeom>
          <a:noFill/>
          <a:ln>
            <a:noFill/>
          </a:ln>
        </p:spPr>
        <p:txBody>
          <a:bodyPr wrap="square" lIns="0" tIns="0" rIns="0" bIns="0" anchor="t">
            <a:normAutofit/>
          </a:bodyPr>
          <a:lstStyle/>
          <a:p>
            <a:pPr marL="0" indent="0" algn="l">
              <a:buNone/>
            </a:pPr>
            <a:r>
              <a:rPr lang="en-US" sz="1500" b="0" i="0" dirty="0">
                <a:solidFill>
                  <a:srgbClr val="9DB2D4"/>
                </a:solidFill>
                <a:latin typeface="Calibri"/>
              </a:rPr>
              <a:t>The problem, and what the paper does about it</a:t>
            </a:r>
          </a:p>
        </p:txBody>
      </p:sp>
      <p:sp>
        <p:nvSpPr>
          <p:cNvPr id="26" name="sh"/>
          <p:cNvSpPr txBox="1"/>
          <p:nvPr/>
        </p:nvSpPr>
        <p:spPr>
          <a:xfrm>
            <a:off x="10760480" y="6358000"/>
            <a:ext cx="700000" cy="300000"/>
          </a:xfrm>
          <a:prstGeom prst="rect">
            <a:avLst/>
          </a:prstGeom>
          <a:noFill/>
          <a:ln>
            <a:noFill/>
          </a:ln>
        </p:spPr>
        <p:txBody>
          <a:bodyPr wrap="square" lIns="0" tIns="0" rIns="0" bIns="0" anchor="t">
            <a:normAutofit/>
          </a:bodyPr>
          <a:lstStyle/>
          <a:p>
            <a:pPr marL="0" indent="0" algn="r">
              <a:buNone/>
            </a:pPr>
            <a:r>
              <a:rPr lang="en-US" sz="1100" b="1" i="0" dirty="0">
                <a:solidFill>
                  <a:srgbClr val="5C7BA6"/>
                </a:solidFill>
                <a:latin typeface="Calibr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ule"/>
          <p:cNvSpPr txBox="1"/>
          <p:nvPr/>
        </p:nvSpPr>
        <p:spPr>
          <a:xfrm>
            <a:off x="0" y="0"/>
            <a:ext cx="12192000" cy="68580"/>
          </a:xfrm>
          <a:prstGeom prst="rect">
            <a:avLst/>
          </a:prstGeom>
          <a:solidFill>
            <a:srgbClr val="C55A11"/>
          </a:solidFill>
          <a:ln>
            <a:noFill/>
          </a:ln>
        </p:spPr>
        <p:txBody>
          <a:bodyPr wrap="square" lIns="137160" tIns="91440" rIns="137160" bIns="91440" anchor="t">
            <a:normAutofit/>
          </a:bodyPr>
          <a:lstStyle/>
          <a:p>
            <a:endParaRPr lang="en-US"/>
          </a:p>
        </p:txBody>
      </p:sp>
      <p:sp>
        <p:nvSpPr>
          <p:cNvPr id="28" name="spine"/>
          <p:cNvSpPr txBox="1"/>
          <p:nvPr/>
        </p:nvSpPr>
        <p:spPr>
          <a:xfrm>
            <a:off x="0" y="68580"/>
            <a:ext cx="137160" cy="6789420"/>
          </a:xfrm>
          <a:prstGeom prst="rect">
            <a:avLst/>
          </a:prstGeom>
          <a:solidFill>
            <a:srgbClr val="1F3864"/>
          </a:solidFill>
          <a:ln>
            <a:noFill/>
          </a:ln>
        </p:spPr>
        <p:txBody>
          <a:bodyPr wrap="square" lIns="137160" tIns="91440" rIns="137160" bIns="91440" anchor="t">
            <a:normAutofit/>
          </a:bodyPr>
          <a:lstStyle/>
          <a:p>
            <a:endParaRPr lang="en-US"/>
          </a:p>
        </p:txBody>
      </p:sp>
      <p:sp>
        <p:nvSpPr>
          <p:cNvPr id="29" name="sh"/>
          <p:cNvSpPr txBox="1"/>
          <p:nvPr/>
        </p:nvSpPr>
        <p:spPr>
          <a:xfrm>
            <a:off x="731520" y="320040"/>
            <a:ext cx="10728960" cy="300000"/>
          </a:xfrm>
          <a:prstGeom prst="rect">
            <a:avLst/>
          </a:prstGeom>
          <a:noFill/>
          <a:ln>
            <a:noFill/>
          </a:ln>
        </p:spPr>
        <p:txBody>
          <a:bodyPr wrap="square" lIns="0" tIns="0" rIns="0" bIns="0" anchor="t">
            <a:normAutofit/>
          </a:bodyPr>
          <a:lstStyle/>
          <a:p>
            <a:pPr marL="0" indent="0" algn="l">
              <a:buNone/>
            </a:pPr>
            <a:r>
              <a:rPr lang="en-US" sz="1100" b="1" i="0" spc="300" dirty="0">
                <a:solidFill>
                  <a:srgbClr val="C55A11"/>
                </a:solidFill>
                <a:latin typeface="Calibri"/>
              </a:rPr>
              <a:t>BACKGROUND</a:t>
            </a:r>
          </a:p>
        </p:txBody>
      </p:sp>
      <p:sp>
        <p:nvSpPr>
          <p:cNvPr id="30" name="sh"/>
          <p:cNvSpPr txBox="1"/>
          <p:nvPr/>
        </p:nvSpPr>
        <p:spPr>
          <a:xfrm>
            <a:off x="731520" y="620000"/>
            <a:ext cx="10728960" cy="780000"/>
          </a:xfrm>
          <a:prstGeom prst="rect">
            <a:avLst/>
          </a:prstGeom>
          <a:noFill/>
          <a:ln>
            <a:noFill/>
          </a:ln>
        </p:spPr>
        <p:txBody>
          <a:bodyPr wrap="square" lIns="0" tIns="0" rIns="0" bIns="0" anchor="t">
            <a:normAutofit/>
          </a:bodyPr>
          <a:lstStyle/>
          <a:p>
            <a:pPr marL="0" indent="0" algn="l">
              <a:buNone/>
            </a:pPr>
            <a:r>
              <a:rPr lang="en-US" sz="2600" b="1" i="0" dirty="0">
                <a:solidFill>
                  <a:srgbClr val="1F3864"/>
                </a:solidFill>
                <a:latin typeface="Calibri"/>
              </a:rPr>
              <a:t>Long context is a capacity problem</a:t>
            </a:r>
          </a:p>
        </p:txBody>
      </p:sp>
      <p:sp>
        <p:nvSpPr>
          <p:cNvPr id="31" name="ul"/>
          <p:cNvSpPr txBox="1"/>
          <p:nvPr/>
        </p:nvSpPr>
        <p:spPr>
          <a:xfrm>
            <a:off x="731520" y="1400000"/>
            <a:ext cx="1600000" cy="40000"/>
          </a:xfrm>
          <a:prstGeom prst="rect">
            <a:avLst/>
          </a:prstGeom>
          <a:solidFill>
            <a:srgbClr val="C55A11"/>
          </a:solidFill>
          <a:ln>
            <a:noFill/>
          </a:ln>
        </p:spPr>
        <p:txBody>
          <a:bodyPr wrap="square" lIns="137160" tIns="91440" rIns="137160" bIns="91440" anchor="t">
            <a:normAutofit/>
          </a:bodyPr>
          <a:lstStyle/>
          <a:p>
            <a:endParaRPr lang="en-US"/>
          </a:p>
        </p:txBody>
      </p:sp>
      <p:sp>
        <p:nvSpPr>
          <p:cNvPr id="32" name="sh"/>
          <p:cNvSpPr txBox="1"/>
          <p:nvPr/>
        </p:nvSpPr>
        <p:spPr>
          <a:xfrm>
            <a:off x="731520" y="6358000"/>
            <a:ext cx="6437376" cy="300000"/>
          </a:xfrm>
          <a:prstGeom prst="rect">
            <a:avLst/>
          </a:prstGeom>
          <a:noFill/>
          <a:ln>
            <a:noFill/>
          </a:ln>
        </p:spPr>
        <p:txBody>
          <a:bodyPr wrap="square" lIns="0" tIns="0" rIns="0" bIns="0" anchor="t">
            <a:normAutofit/>
          </a:bodyPr>
          <a:lstStyle/>
          <a:p>
            <a:pPr marL="0" indent="0" algn="l">
              <a:buNone/>
            </a:pPr>
            <a:r>
              <a:rPr lang="en-US" sz="1000" b="0" i="0" dirty="0">
                <a:solidFill>
                  <a:srgbClr val="8FA3BF"/>
                </a:solidFill>
                <a:latin typeface="Calibri"/>
              </a:rPr>
              <a:t>H3 cycle-accurate memory simulator</a:t>
            </a:r>
          </a:p>
        </p:txBody>
      </p:sp>
      <p:sp>
        <p:nvSpPr>
          <p:cNvPr id="33" name="sh"/>
          <p:cNvSpPr txBox="1"/>
          <p:nvPr/>
        </p:nvSpPr>
        <p:spPr>
          <a:xfrm>
            <a:off x="10760480" y="6358000"/>
            <a:ext cx="700000" cy="300000"/>
          </a:xfrm>
          <a:prstGeom prst="rect">
            <a:avLst/>
          </a:prstGeom>
          <a:noFill/>
          <a:ln>
            <a:noFill/>
          </a:ln>
        </p:spPr>
        <p:txBody>
          <a:bodyPr wrap="square" lIns="0" tIns="0" rIns="0" bIns="0" anchor="t">
            <a:normAutofit/>
          </a:bodyPr>
          <a:lstStyle/>
          <a:p>
            <a:pPr marL="0" indent="0" algn="r">
              <a:buNone/>
            </a:pPr>
            <a:r>
              <a:rPr lang="en-US" sz="1100" b="1" i="0" dirty="0">
                <a:solidFill>
                  <a:srgbClr val="8FA3BF"/>
                </a:solidFill>
                <a:latin typeface="Calibri"/>
              </a:rPr>
              <a:t>3</a:t>
            </a:r>
          </a:p>
        </p:txBody>
      </p:sp>
      <p:sp>
        <p:nvSpPr>
          <p:cNvPr id="34" name="sh"/>
          <p:cNvSpPr txBox="1"/>
          <p:nvPr/>
        </p:nvSpPr>
        <p:spPr>
          <a:xfrm>
            <a:off x="731520" y="1560000"/>
            <a:ext cx="10728960" cy="3200000"/>
          </a:xfrm>
          <a:prstGeom prst="rect">
            <a:avLst/>
          </a:prstGeom>
          <a:noFill/>
          <a:ln>
            <a:noFill/>
          </a:ln>
        </p:spPr>
        <p:txBody>
          <a:bodyPr wrap="square" lIns="0" tIns="0" rIns="0" bIns="0" anchor="t">
            <a:normAutofit/>
          </a:bodyPr>
          <a:lstStyle/>
          <a:p>
            <a:pPr marL="228600" indent="-228600" algn="l">
              <a:spcBef>
                <a:spcPts val="520"/>
              </a:spcBef>
              <a:buClr>
                <a:srgbClr val="C55A11"/>
              </a:buClr>
              <a:buSzPct val="90000"/>
              <a:buFont typeface="Arial"/>
              <a:buChar char="■"/>
            </a:pPr>
            <a:r>
              <a:rPr lang="en-US" sz="1550" b="0" i="0" dirty="0">
                <a:solidFill>
                  <a:srgbClr val="1A1D21"/>
                </a:solidFill>
                <a:latin typeface="Calibri"/>
              </a:rPr>
              <a:t>Llama 3.1 405B at 10M tokens needs about 2.5 TB per GPU for the KV cache</a:t>
            </a:r>
          </a:p>
          <a:p>
            <a:pPr marL="228600" indent="-228600" algn="l">
              <a:spcBef>
                <a:spcPts val="520"/>
              </a:spcBef>
              <a:buClr>
                <a:srgbClr val="C55A11"/>
              </a:buClr>
              <a:buSzPct val="90000"/>
              <a:buFont typeface="Arial"/>
              <a:buChar char="■"/>
            </a:pPr>
            <a:r>
              <a:rPr lang="en-US" sz="1550" b="0" i="0" dirty="0">
                <a:solidFill>
                  <a:srgbClr val="1A1D21"/>
                </a:solidFill>
                <a:latin typeface="Calibri"/>
              </a:rPr>
              <a:t>HBM tops out near 192 GB per GPU, so the data simply does not fit</a:t>
            </a:r>
          </a:p>
          <a:p>
            <a:pPr marL="228600" indent="-228600" algn="l">
              <a:spcBef>
                <a:spcPts val="520"/>
              </a:spcBef>
              <a:buClr>
                <a:srgbClr val="C55A11"/>
              </a:buClr>
              <a:buSzPct val="90000"/>
              <a:buFont typeface="Arial"/>
              <a:buChar char="■"/>
            </a:pPr>
            <a:r>
              <a:rPr lang="en-US" sz="1550" b="0" i="0" dirty="0">
                <a:solidFill>
                  <a:srgbClr val="1A1D21"/>
                </a:solidFill>
                <a:latin typeface="Calibri"/>
              </a:rPr>
              <a:t>H3 adds a second memory tier: High Bandwidth Flash</a:t>
            </a:r>
          </a:p>
          <a:p>
            <a:pPr marL="457200" indent="-228600" algn="l">
              <a:spcBef>
                <a:spcPts val="380"/>
              </a:spcBef>
              <a:buClr>
                <a:srgbClr val="8FA3BF"/>
              </a:buClr>
              <a:buSzPct val="90000"/>
              <a:buFont typeface="Arial"/>
              <a:buChar char="–"/>
            </a:pPr>
            <a:r>
              <a:rPr lang="en-US" sz="1400" b="0" i="0" dirty="0">
                <a:solidFill>
                  <a:srgbClr val="5F6368"/>
                </a:solidFill>
                <a:latin typeface="Calibri"/>
              </a:rPr>
              <a:t>Same bandwidth as HBM at 8 TB/s, but 16x the capacity at 3 TB</a:t>
            </a:r>
          </a:p>
          <a:p>
            <a:pPr marL="457200" indent="-228600" algn="l">
              <a:spcBef>
                <a:spcPts val="380"/>
              </a:spcBef>
              <a:buClr>
                <a:srgbClr val="8FA3BF"/>
              </a:buClr>
              <a:buSzPct val="90000"/>
              <a:buFont typeface="Arial"/>
              <a:buChar char="–"/>
            </a:pPr>
            <a:r>
              <a:rPr lang="en-US" sz="1400" b="0" i="0" dirty="0">
                <a:solidFill>
                  <a:srgbClr val="5F6368"/>
                </a:solidFill>
                <a:latin typeface="Calibri"/>
              </a:rPr>
              <a:t>Reads take 20 microseconds, against 19.5 nanoseconds for HBM</a:t>
            </a:r>
          </a:p>
          <a:p>
            <a:pPr marL="228600" indent="-228600" algn="l">
              <a:spcBef>
                <a:spcPts val="520"/>
              </a:spcBef>
              <a:buClr>
                <a:srgbClr val="C55A11"/>
              </a:buClr>
              <a:buSzPct val="90000"/>
              <a:buFont typeface="Arial"/>
              <a:buChar char="■"/>
            </a:pPr>
            <a:r>
              <a:rPr lang="en-US" sz="1550" b="0" i="0" dirty="0">
                <a:solidFill>
                  <a:srgbClr val="1A1D21"/>
                </a:solidFill>
                <a:latin typeface="Calibri"/>
              </a:rPr>
              <a:t>The whole design rests on hiding that delay by fetching data early</a:t>
            </a:r>
          </a:p>
        </p:txBody>
      </p:sp>
      <p:sp>
        <p:nvSpPr>
          <p:cNvPr id="35" name="nb"/>
          <p:cNvSpPr txBox="1"/>
          <p:nvPr/>
        </p:nvSpPr>
        <p:spPr>
          <a:xfrm>
            <a:off x="731520" y="4980000"/>
            <a:ext cx="68580" cy="1150000"/>
          </a:xfrm>
          <a:prstGeom prst="rect">
            <a:avLst/>
          </a:prstGeom>
          <a:solidFill>
            <a:srgbClr val="C55A11"/>
          </a:solidFill>
          <a:ln>
            <a:noFill/>
          </a:ln>
        </p:spPr>
        <p:txBody>
          <a:bodyPr wrap="square" lIns="137160" tIns="91440" rIns="137160" bIns="91440" anchor="t">
            <a:normAutofit/>
          </a:bodyPr>
          <a:lstStyle/>
          <a:p>
            <a:endParaRPr lang="en-US"/>
          </a:p>
        </p:txBody>
      </p:sp>
      <p:sp>
        <p:nvSpPr>
          <p:cNvPr id="36" name="sh"/>
          <p:cNvSpPr txBox="1"/>
          <p:nvPr/>
        </p:nvSpPr>
        <p:spPr>
          <a:xfrm>
            <a:off x="800100" y="4980000"/>
            <a:ext cx="10660380" cy="1150000"/>
          </a:xfrm>
          <a:prstGeom prst="rect">
            <a:avLst/>
          </a:prstGeom>
          <a:solidFill>
            <a:srgbClr val="EAEFF6"/>
          </a:solidFill>
          <a:ln>
            <a:noFill/>
          </a:ln>
        </p:spPr>
        <p:txBody>
          <a:bodyPr wrap="square" lIns="137160" tIns="91440" rIns="137160" bIns="91440" anchor="t">
            <a:normAutofit/>
          </a:bodyPr>
          <a:lstStyle/>
          <a:p>
            <a:pPr marL="0" indent="0" algn="l">
              <a:buNone/>
            </a:pPr>
            <a:r>
              <a:rPr lang="en-US" sz="1000" b="1" i="0" spc="200" dirty="0">
                <a:solidFill>
                  <a:srgbClr val="C55A11"/>
                </a:solidFill>
                <a:latin typeface="Calibri"/>
              </a:rPr>
              <a:t>IN PLAIN WORDS</a:t>
            </a:r>
          </a:p>
          <a:p>
            <a:pPr marL="0" indent="0" algn="l">
              <a:spcBef>
                <a:spcPts val="250"/>
              </a:spcBef>
              <a:buNone/>
            </a:pPr>
            <a:r>
              <a:rPr lang="en-US" sz="1400" b="0" i="0" dirty="0">
                <a:solidFill>
                  <a:srgbClr val="1A1D21"/>
                </a:solidFill>
                <a:latin typeface="Calibri"/>
              </a:rPr>
              <a:t>Flash memory is large and cheap but slow to start reading. H3 bets that because LLM inference is predictable, data can be fetched before it is needed. Our job was to build a simulator that can check whether that bet holds.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ule"/>
          <p:cNvSpPr txBox="1"/>
          <p:nvPr/>
        </p:nvSpPr>
        <p:spPr>
          <a:xfrm>
            <a:off x="0" y="0"/>
            <a:ext cx="12192000" cy="68580"/>
          </a:xfrm>
          <a:prstGeom prst="rect">
            <a:avLst/>
          </a:prstGeom>
          <a:solidFill>
            <a:srgbClr val="C55A11"/>
          </a:solidFill>
          <a:ln>
            <a:noFill/>
          </a:ln>
        </p:spPr>
        <p:txBody>
          <a:bodyPr wrap="square" lIns="137160" tIns="91440" rIns="137160" bIns="91440" anchor="t">
            <a:normAutofit/>
          </a:bodyPr>
          <a:lstStyle/>
          <a:p>
            <a:endParaRPr lang="en-US"/>
          </a:p>
        </p:txBody>
      </p:sp>
      <p:sp>
        <p:nvSpPr>
          <p:cNvPr id="38" name="spine"/>
          <p:cNvSpPr txBox="1"/>
          <p:nvPr/>
        </p:nvSpPr>
        <p:spPr>
          <a:xfrm>
            <a:off x="0" y="68580"/>
            <a:ext cx="137160" cy="6789420"/>
          </a:xfrm>
          <a:prstGeom prst="rect">
            <a:avLst/>
          </a:prstGeom>
          <a:solidFill>
            <a:srgbClr val="1F3864"/>
          </a:solidFill>
          <a:ln>
            <a:noFill/>
          </a:ln>
        </p:spPr>
        <p:txBody>
          <a:bodyPr wrap="square" lIns="137160" tIns="91440" rIns="137160" bIns="91440" anchor="t">
            <a:normAutofit/>
          </a:bodyPr>
          <a:lstStyle/>
          <a:p>
            <a:endParaRPr lang="en-US"/>
          </a:p>
        </p:txBody>
      </p:sp>
      <p:sp>
        <p:nvSpPr>
          <p:cNvPr id="39" name="sh"/>
          <p:cNvSpPr txBox="1"/>
          <p:nvPr/>
        </p:nvSpPr>
        <p:spPr>
          <a:xfrm>
            <a:off x="731520" y="320040"/>
            <a:ext cx="10728960" cy="300000"/>
          </a:xfrm>
          <a:prstGeom prst="rect">
            <a:avLst/>
          </a:prstGeom>
          <a:noFill/>
          <a:ln>
            <a:noFill/>
          </a:ln>
        </p:spPr>
        <p:txBody>
          <a:bodyPr wrap="square" lIns="0" tIns="0" rIns="0" bIns="0" anchor="t">
            <a:normAutofit/>
          </a:bodyPr>
          <a:lstStyle/>
          <a:p>
            <a:pPr marL="0" indent="0" algn="l">
              <a:buNone/>
            </a:pPr>
            <a:r>
              <a:rPr lang="en-US" sz="1100" b="1" i="0" spc="300" dirty="0">
                <a:solidFill>
                  <a:srgbClr val="C55A11"/>
                </a:solidFill>
                <a:latin typeface="Calibri"/>
              </a:rPr>
              <a:t>POSITIONING</a:t>
            </a:r>
          </a:p>
        </p:txBody>
      </p:sp>
      <p:sp>
        <p:nvSpPr>
          <p:cNvPr id="40" name="sh"/>
          <p:cNvSpPr txBox="1"/>
          <p:nvPr/>
        </p:nvSpPr>
        <p:spPr>
          <a:xfrm>
            <a:off x="731520" y="620000"/>
            <a:ext cx="10728960" cy="780000"/>
          </a:xfrm>
          <a:prstGeom prst="rect">
            <a:avLst/>
          </a:prstGeom>
          <a:noFill/>
          <a:ln>
            <a:noFill/>
          </a:ln>
        </p:spPr>
        <p:txBody>
          <a:bodyPr wrap="square" lIns="0" tIns="0" rIns="0" bIns="0" anchor="t">
            <a:normAutofit/>
          </a:bodyPr>
          <a:lstStyle/>
          <a:p>
            <a:pPr marL="0" indent="0" algn="l">
              <a:buNone/>
            </a:pPr>
            <a:r>
              <a:rPr lang="en-US" sz="2600" b="1" i="0" dirty="0">
                <a:solidFill>
                  <a:srgbClr val="1F3864"/>
                </a:solidFill>
                <a:latin typeface="Calibri"/>
              </a:rPr>
              <a:t>The paper's method, and ours</a:t>
            </a:r>
          </a:p>
        </p:txBody>
      </p:sp>
      <p:sp>
        <p:nvSpPr>
          <p:cNvPr id="41" name="ul"/>
          <p:cNvSpPr txBox="1"/>
          <p:nvPr/>
        </p:nvSpPr>
        <p:spPr>
          <a:xfrm>
            <a:off x="731520" y="1400000"/>
            <a:ext cx="1600000" cy="40000"/>
          </a:xfrm>
          <a:prstGeom prst="rect">
            <a:avLst/>
          </a:prstGeom>
          <a:solidFill>
            <a:srgbClr val="C55A11"/>
          </a:solidFill>
          <a:ln>
            <a:noFill/>
          </a:ln>
        </p:spPr>
        <p:txBody>
          <a:bodyPr wrap="square" lIns="137160" tIns="91440" rIns="137160" bIns="91440" anchor="t">
            <a:normAutofit/>
          </a:bodyPr>
          <a:lstStyle/>
          <a:p>
            <a:endParaRPr lang="en-US"/>
          </a:p>
        </p:txBody>
      </p:sp>
      <p:sp>
        <p:nvSpPr>
          <p:cNvPr id="42" name="sh"/>
          <p:cNvSpPr txBox="1"/>
          <p:nvPr/>
        </p:nvSpPr>
        <p:spPr>
          <a:xfrm>
            <a:off x="731520" y="6358000"/>
            <a:ext cx="6437376" cy="300000"/>
          </a:xfrm>
          <a:prstGeom prst="rect">
            <a:avLst/>
          </a:prstGeom>
          <a:noFill/>
          <a:ln>
            <a:noFill/>
          </a:ln>
        </p:spPr>
        <p:txBody>
          <a:bodyPr wrap="square" lIns="0" tIns="0" rIns="0" bIns="0" anchor="t">
            <a:normAutofit/>
          </a:bodyPr>
          <a:lstStyle/>
          <a:p>
            <a:pPr marL="0" indent="0" algn="l">
              <a:buNone/>
            </a:pPr>
            <a:r>
              <a:rPr lang="en-US" sz="1000" b="0" i="0" dirty="0">
                <a:solidFill>
                  <a:srgbClr val="8FA3BF"/>
                </a:solidFill>
                <a:latin typeface="Calibri"/>
              </a:rPr>
              <a:t>H3 cycle-accurate memory simulator</a:t>
            </a:r>
          </a:p>
        </p:txBody>
      </p:sp>
      <p:sp>
        <p:nvSpPr>
          <p:cNvPr id="43" name="sh"/>
          <p:cNvSpPr txBox="1"/>
          <p:nvPr/>
        </p:nvSpPr>
        <p:spPr>
          <a:xfrm>
            <a:off x="10760480" y="6358000"/>
            <a:ext cx="700000" cy="300000"/>
          </a:xfrm>
          <a:prstGeom prst="rect">
            <a:avLst/>
          </a:prstGeom>
          <a:noFill/>
          <a:ln>
            <a:noFill/>
          </a:ln>
        </p:spPr>
        <p:txBody>
          <a:bodyPr wrap="square" lIns="0" tIns="0" rIns="0" bIns="0" anchor="t">
            <a:normAutofit/>
          </a:bodyPr>
          <a:lstStyle/>
          <a:p>
            <a:pPr marL="0" indent="0" algn="r">
              <a:buNone/>
            </a:pPr>
            <a:r>
              <a:rPr lang="en-US" sz="1100" b="1" i="0" dirty="0">
                <a:solidFill>
                  <a:srgbClr val="8FA3BF"/>
                </a:solidFill>
                <a:latin typeface="Calibri"/>
              </a:rPr>
              <a:t>4</a:t>
            </a:r>
          </a:p>
        </p:txBody>
      </p:sp>
      <p:sp>
        <p:nvSpPr>
          <p:cNvPr id="44" name="sh"/>
          <p:cNvSpPr txBox="1"/>
          <p:nvPr/>
        </p:nvSpPr>
        <p:spPr>
          <a:xfrm>
            <a:off x="731520" y="1560000"/>
            <a:ext cx="5214480" cy="340000"/>
          </a:xfrm>
          <a:prstGeom prst="rect">
            <a:avLst/>
          </a:prstGeom>
          <a:solidFill>
            <a:srgbClr val="1F3864"/>
          </a:solidFill>
          <a:ln>
            <a:noFill/>
          </a:ln>
        </p:spPr>
        <p:txBody>
          <a:bodyPr wrap="square" lIns="114300" tIns="60960" rIns="114300" bIns="60960" anchor="t">
            <a:normAutofit/>
          </a:bodyPr>
          <a:lstStyle/>
          <a:p>
            <a:pPr marL="0" indent="0" algn="l">
              <a:buNone/>
            </a:pPr>
            <a:r>
              <a:rPr lang="en-US" sz="1150" b="1" i="0" spc="200" dirty="0">
                <a:solidFill>
                  <a:srgbClr val="FFFFFF"/>
                </a:solidFill>
                <a:latin typeface="Calibri"/>
              </a:rPr>
              <a:t>THE PAPER</a:t>
            </a:r>
          </a:p>
        </p:txBody>
      </p:sp>
      <p:sp>
        <p:nvSpPr>
          <p:cNvPr id="45" name="sh"/>
          <p:cNvSpPr txBox="1"/>
          <p:nvPr/>
        </p:nvSpPr>
        <p:spPr>
          <a:xfrm>
            <a:off x="731520" y="1980000"/>
            <a:ext cx="5214480" cy="2800000"/>
          </a:xfrm>
          <a:prstGeom prst="rect">
            <a:avLst/>
          </a:prstGeom>
          <a:solidFill>
            <a:srgbClr val="F5F7FA"/>
          </a:solidFill>
          <a:ln>
            <a:noFill/>
          </a:ln>
        </p:spPr>
        <p:txBody>
          <a:bodyPr wrap="square" lIns="137160" tIns="91440" rIns="137160" bIns="91440" anchor="t">
            <a:normAutofit/>
          </a:bodyPr>
          <a:lstStyle/>
          <a:p>
            <a:pPr marL="228600" indent="-228600" algn="l">
              <a:spcBef>
                <a:spcPts val="440"/>
              </a:spcBef>
              <a:buClr>
                <a:srgbClr val="C55A11"/>
              </a:buClr>
              <a:buSzPct val="90000"/>
              <a:buFont typeface="Arial"/>
              <a:buChar char="■"/>
            </a:pPr>
            <a:r>
              <a:rPr lang="en-US" sz="1450" b="0" i="0" dirty="0">
                <a:solidFill>
                  <a:srgbClr val="1A1D21"/>
                </a:solidFill>
                <a:latin typeface="Calibri"/>
              </a:rPr>
              <a:t>Analytical model, its Section IV-A</a:t>
            </a:r>
          </a:p>
          <a:p>
            <a:pPr marL="228600" indent="-228600" algn="l">
              <a:spcBef>
                <a:spcPts val="440"/>
              </a:spcBef>
              <a:buClr>
                <a:srgbClr val="C55A11"/>
              </a:buClr>
              <a:buSzPct val="90000"/>
              <a:buFont typeface="Arial"/>
              <a:buChar char="■"/>
            </a:pPr>
            <a:r>
              <a:rPr lang="en-US" sz="1450" b="0" i="0" dirty="0">
                <a:solidFill>
                  <a:srgbClr val="1A1D21"/>
                </a:solidFill>
                <a:latin typeface="Calibri"/>
              </a:rPr>
              <a:t>Adds up compute, transfer and communication time</a:t>
            </a:r>
          </a:p>
          <a:p>
            <a:pPr marL="228600" indent="-228600" algn="l">
              <a:spcBef>
                <a:spcPts val="440"/>
              </a:spcBef>
              <a:buClr>
                <a:srgbClr val="C55A11"/>
              </a:buClr>
              <a:buSzPct val="90000"/>
              <a:buFont typeface="Arial"/>
              <a:buChar char="■"/>
            </a:pPr>
            <a:r>
              <a:rPr lang="en-US" sz="1450" b="0" i="0" dirty="0">
                <a:solidFill>
                  <a:srgbClr val="1A1D21"/>
                </a:solidFill>
                <a:latin typeface="Calibri"/>
              </a:rPr>
              <a:t>Does not simulate individual memory requests</a:t>
            </a:r>
          </a:p>
          <a:p>
            <a:pPr marL="457200" indent="-228600" algn="l">
              <a:spcBef>
                <a:spcPts val="320"/>
              </a:spcBef>
              <a:buClr>
                <a:srgbClr val="8FA3BF"/>
              </a:buClr>
              <a:buSzPct val="90000"/>
              <a:buFont typeface="Arial"/>
              <a:buChar char="–"/>
            </a:pPr>
            <a:r>
              <a:rPr lang="en-US" sz="1300" b="0" i="0" dirty="0">
                <a:solidFill>
                  <a:srgbClr val="5F6368"/>
                </a:solidFill>
                <a:latin typeface="Calibri"/>
              </a:rPr>
              <a:t>Fast to run, but assumes the buffer works</a:t>
            </a:r>
          </a:p>
        </p:txBody>
      </p:sp>
      <p:sp>
        <p:nvSpPr>
          <p:cNvPr id="46" name="sh"/>
          <p:cNvSpPr txBox="1"/>
          <p:nvPr/>
        </p:nvSpPr>
        <p:spPr>
          <a:xfrm>
            <a:off x="6246000" y="1560000"/>
            <a:ext cx="5214480" cy="340000"/>
          </a:xfrm>
          <a:prstGeom prst="rect">
            <a:avLst/>
          </a:prstGeom>
          <a:solidFill>
            <a:srgbClr val="C55A11"/>
          </a:solidFill>
          <a:ln>
            <a:noFill/>
          </a:ln>
        </p:spPr>
        <p:txBody>
          <a:bodyPr wrap="square" lIns="114300" tIns="60960" rIns="114300" bIns="60960" anchor="t">
            <a:normAutofit/>
          </a:bodyPr>
          <a:lstStyle/>
          <a:p>
            <a:pPr marL="0" indent="0" algn="l">
              <a:buNone/>
            </a:pPr>
            <a:r>
              <a:rPr lang="en-US" sz="1150" b="1" i="0" spc="200" dirty="0">
                <a:solidFill>
                  <a:srgbClr val="FFFFFF"/>
                </a:solidFill>
                <a:latin typeface="Calibri"/>
              </a:rPr>
              <a:t>WHAT WE BUILT</a:t>
            </a:r>
          </a:p>
        </p:txBody>
      </p:sp>
      <p:sp>
        <p:nvSpPr>
          <p:cNvPr id="47" name="sh"/>
          <p:cNvSpPr txBox="1"/>
          <p:nvPr/>
        </p:nvSpPr>
        <p:spPr>
          <a:xfrm>
            <a:off x="6246000" y="1980000"/>
            <a:ext cx="5214480" cy="2800000"/>
          </a:xfrm>
          <a:prstGeom prst="rect">
            <a:avLst/>
          </a:prstGeom>
          <a:solidFill>
            <a:srgbClr val="F5F7FA"/>
          </a:solidFill>
          <a:ln>
            <a:noFill/>
          </a:ln>
        </p:spPr>
        <p:txBody>
          <a:bodyPr wrap="square" lIns="137160" tIns="91440" rIns="137160" bIns="91440" anchor="t">
            <a:normAutofit/>
          </a:bodyPr>
          <a:lstStyle/>
          <a:p>
            <a:pPr marL="228600" indent="-228600" algn="l">
              <a:spcBef>
                <a:spcPts val="440"/>
              </a:spcBef>
              <a:buClr>
                <a:srgbClr val="C55A11"/>
              </a:buClr>
              <a:buSzPct val="90000"/>
              <a:buFont typeface="Arial"/>
              <a:buChar char="■"/>
            </a:pPr>
            <a:r>
              <a:rPr lang="en-US" sz="1450" b="0" i="0" dirty="0">
                <a:solidFill>
                  <a:srgbClr val="1A1D21"/>
                </a:solidFill>
                <a:latin typeface="Calibri"/>
              </a:rPr>
              <a:t>Cycle-accurate simulation</a:t>
            </a:r>
          </a:p>
          <a:p>
            <a:pPr marL="228600" indent="-228600" algn="l">
              <a:spcBef>
                <a:spcPts val="440"/>
              </a:spcBef>
              <a:buClr>
                <a:srgbClr val="C55A11"/>
              </a:buClr>
              <a:buSzPct val="90000"/>
              <a:buFont typeface="Arial"/>
              <a:buChar char="■"/>
            </a:pPr>
            <a:r>
              <a:rPr lang="en-US" sz="1450" b="0" i="0" dirty="0">
                <a:solidFill>
                  <a:srgbClr val="1A1D21"/>
                </a:solidFill>
                <a:latin typeface="Calibri"/>
              </a:rPr>
              <a:t>Every memory request modelled individually</a:t>
            </a:r>
          </a:p>
          <a:p>
            <a:pPr marL="228600" indent="-228600" algn="l">
              <a:spcBef>
                <a:spcPts val="440"/>
              </a:spcBef>
              <a:buClr>
                <a:srgbClr val="C55A11"/>
              </a:buClr>
              <a:buSzPct val="90000"/>
              <a:buFont typeface="Arial"/>
              <a:buChar char="■"/>
            </a:pPr>
            <a:r>
              <a:rPr lang="en-US" sz="1450" b="0" i="0" dirty="0">
                <a:solidFill>
                  <a:srgbClr val="1A1D21"/>
                </a:solidFill>
                <a:latin typeface="Calibri"/>
              </a:rPr>
              <a:t>Bank conflicts, queueing, open pages all included</a:t>
            </a:r>
          </a:p>
          <a:p>
            <a:pPr marL="457200" indent="-228600" algn="l">
              <a:spcBef>
                <a:spcPts val="320"/>
              </a:spcBef>
              <a:buClr>
                <a:srgbClr val="8FA3BF"/>
              </a:buClr>
              <a:buSzPct val="90000"/>
              <a:buFont typeface="Arial"/>
              <a:buChar char="–"/>
            </a:pPr>
            <a:r>
              <a:rPr lang="en-US" sz="1300" b="0" i="0" dirty="0">
                <a:solidFill>
                  <a:srgbClr val="5F6368"/>
                </a:solidFill>
                <a:latin typeface="Calibri"/>
              </a:rPr>
              <a:t>Slower, but can test the assumption</a:t>
            </a:r>
          </a:p>
        </p:txBody>
      </p:sp>
      <p:sp>
        <p:nvSpPr>
          <p:cNvPr id="48" name="nb"/>
          <p:cNvSpPr txBox="1"/>
          <p:nvPr/>
        </p:nvSpPr>
        <p:spPr>
          <a:xfrm>
            <a:off x="731520" y="4980000"/>
            <a:ext cx="68580" cy="1150000"/>
          </a:xfrm>
          <a:prstGeom prst="rect">
            <a:avLst/>
          </a:prstGeom>
          <a:solidFill>
            <a:srgbClr val="C55A11"/>
          </a:solidFill>
          <a:ln>
            <a:noFill/>
          </a:ln>
        </p:spPr>
        <p:txBody>
          <a:bodyPr wrap="square" lIns="137160" tIns="91440" rIns="137160" bIns="91440" anchor="t">
            <a:normAutofit/>
          </a:bodyPr>
          <a:lstStyle/>
          <a:p>
            <a:endParaRPr lang="en-US"/>
          </a:p>
        </p:txBody>
      </p:sp>
      <p:sp>
        <p:nvSpPr>
          <p:cNvPr id="49" name="sh"/>
          <p:cNvSpPr txBox="1"/>
          <p:nvPr/>
        </p:nvSpPr>
        <p:spPr>
          <a:xfrm>
            <a:off x="800100" y="4980000"/>
            <a:ext cx="10660380" cy="1150000"/>
          </a:xfrm>
          <a:prstGeom prst="rect">
            <a:avLst/>
          </a:prstGeom>
          <a:solidFill>
            <a:srgbClr val="EAEFF6"/>
          </a:solidFill>
          <a:ln>
            <a:noFill/>
          </a:ln>
        </p:spPr>
        <p:txBody>
          <a:bodyPr wrap="square" lIns="137160" tIns="91440" rIns="137160" bIns="91440" anchor="t">
            <a:normAutofit/>
          </a:bodyPr>
          <a:lstStyle/>
          <a:p>
            <a:pPr marL="0" indent="0" algn="l">
              <a:buNone/>
            </a:pPr>
            <a:r>
              <a:rPr lang="en-US" sz="1000" b="1" i="0" spc="200" dirty="0">
                <a:solidFill>
                  <a:srgbClr val="C55A11"/>
                </a:solidFill>
                <a:latin typeface="Calibri"/>
              </a:rPr>
              <a:t>IN PLAIN WORDS</a:t>
            </a:r>
          </a:p>
          <a:p>
            <a:pPr marL="0" indent="0" algn="l">
              <a:spcBef>
                <a:spcPts val="250"/>
              </a:spcBef>
              <a:buNone/>
            </a:pPr>
            <a:r>
              <a:rPr lang="en-US" sz="1400" b="0" i="0" dirty="0">
                <a:solidFill>
                  <a:srgbClr val="1A1D21"/>
                </a:solidFill>
                <a:latin typeface="Calibri"/>
              </a:rPr>
              <a:t>Our simulator is more detailed than the published method, not less. The paper calculates how much H3 would help if the latency-hiding buffer works. Ours can measure whether it actually does.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bg"/>
          <p:cNvSpPr txBox="1"/>
          <p:nvPr/>
        </p:nvSpPr>
        <p:spPr>
          <a:xfrm>
            <a:off x="0" y="0"/>
            <a:ext cx="12192000" cy="6858000"/>
          </a:xfrm>
          <a:prstGeom prst="rect">
            <a:avLst/>
          </a:prstGeom>
          <a:solidFill>
            <a:srgbClr val="1F3864"/>
          </a:solidFill>
          <a:ln>
            <a:noFill/>
          </a:ln>
        </p:spPr>
        <p:txBody>
          <a:bodyPr wrap="square" lIns="137160" tIns="91440" rIns="137160" bIns="91440" anchor="t">
            <a:normAutofit/>
          </a:bodyPr>
          <a:lstStyle/>
          <a:p>
            <a:endParaRPr lang="en-US"/>
          </a:p>
        </p:txBody>
      </p:sp>
      <p:sp>
        <p:nvSpPr>
          <p:cNvPr id="51" name="sh"/>
          <p:cNvSpPr txBox="1"/>
          <p:nvPr/>
        </p:nvSpPr>
        <p:spPr>
          <a:xfrm>
            <a:off x="0" y="0"/>
            <a:ext cx="12192000" cy="137160"/>
          </a:xfrm>
          <a:prstGeom prst="rect">
            <a:avLst/>
          </a:prstGeom>
          <a:solidFill>
            <a:srgbClr val="C55A11"/>
          </a:solidFill>
          <a:ln>
            <a:noFill/>
          </a:ln>
        </p:spPr>
        <p:txBody>
          <a:bodyPr wrap="square" lIns="137160" tIns="91440" rIns="137160" bIns="91440" anchor="t">
            <a:normAutofit/>
          </a:bodyPr>
          <a:lstStyle/>
          <a:p>
            <a:endParaRPr lang="en-US"/>
          </a:p>
        </p:txBody>
      </p:sp>
      <p:sp>
        <p:nvSpPr>
          <p:cNvPr id="52" name="sh"/>
          <p:cNvSpPr txBox="1"/>
          <p:nvPr/>
        </p:nvSpPr>
        <p:spPr>
          <a:xfrm>
            <a:off x="731520" y="2100000"/>
            <a:ext cx="3000000" cy="1800000"/>
          </a:xfrm>
          <a:prstGeom prst="rect">
            <a:avLst/>
          </a:prstGeom>
          <a:noFill/>
          <a:ln>
            <a:noFill/>
          </a:ln>
        </p:spPr>
        <p:txBody>
          <a:bodyPr wrap="square" lIns="0" tIns="0" rIns="0" bIns="0" anchor="t">
            <a:normAutofit/>
          </a:bodyPr>
          <a:lstStyle/>
          <a:p>
            <a:pPr marL="0" indent="0" algn="l">
              <a:buNone/>
            </a:pPr>
            <a:r>
              <a:rPr lang="en-US" sz="12000" b="1" i="0" dirty="0">
                <a:solidFill>
                  <a:srgbClr val="2C4F80"/>
                </a:solidFill>
                <a:latin typeface="Calibri"/>
              </a:rPr>
              <a:t>02</a:t>
            </a:r>
          </a:p>
        </p:txBody>
      </p:sp>
      <p:sp>
        <p:nvSpPr>
          <p:cNvPr id="53" name="sh"/>
          <p:cNvSpPr txBox="1"/>
          <p:nvPr/>
        </p:nvSpPr>
        <p:spPr>
          <a:xfrm>
            <a:off x="2031520" y="2600000"/>
            <a:ext cx="9428960" cy="900000"/>
          </a:xfrm>
          <a:prstGeom prst="rect">
            <a:avLst/>
          </a:prstGeom>
          <a:noFill/>
          <a:ln>
            <a:noFill/>
          </a:ln>
        </p:spPr>
        <p:txBody>
          <a:bodyPr wrap="square" lIns="0" tIns="0" rIns="0" bIns="0" anchor="t">
            <a:normAutofit/>
          </a:bodyPr>
          <a:lstStyle/>
          <a:p>
            <a:pPr marL="0" indent="0" algn="l">
              <a:buNone/>
            </a:pPr>
            <a:r>
              <a:rPr lang="en-US" sz="3400" b="1" i="0" dirty="0">
                <a:solidFill>
                  <a:srgbClr val="FFFFFF"/>
                </a:solidFill>
                <a:latin typeface="Calibri"/>
              </a:rPr>
              <a:t>How it was built</a:t>
            </a:r>
          </a:p>
        </p:txBody>
      </p:sp>
      <p:sp>
        <p:nvSpPr>
          <p:cNvPr id="54" name="sh"/>
          <p:cNvSpPr txBox="1"/>
          <p:nvPr/>
        </p:nvSpPr>
        <p:spPr>
          <a:xfrm>
            <a:off x="2031520" y="3600000"/>
            <a:ext cx="9428960" cy="600000"/>
          </a:xfrm>
          <a:prstGeom prst="rect">
            <a:avLst/>
          </a:prstGeom>
          <a:noFill/>
          <a:ln>
            <a:noFill/>
          </a:ln>
        </p:spPr>
        <p:txBody>
          <a:bodyPr wrap="square" lIns="0" tIns="0" rIns="0" bIns="0" anchor="t">
            <a:normAutofit/>
          </a:bodyPr>
          <a:lstStyle/>
          <a:p>
            <a:pPr marL="0" indent="0" algn="l">
              <a:buNone/>
            </a:pPr>
            <a:r>
              <a:rPr lang="en-US" sz="1500" b="0" i="0" dirty="0">
                <a:solidFill>
                  <a:srgbClr val="9DB2D4"/>
                </a:solidFill>
                <a:latin typeface="Calibri"/>
              </a:rPr>
              <a:t>Tools, environment, and integration</a:t>
            </a:r>
          </a:p>
        </p:txBody>
      </p:sp>
      <p:sp>
        <p:nvSpPr>
          <p:cNvPr id="55" name="sh"/>
          <p:cNvSpPr txBox="1"/>
          <p:nvPr/>
        </p:nvSpPr>
        <p:spPr>
          <a:xfrm>
            <a:off x="10760480" y="6358000"/>
            <a:ext cx="700000" cy="300000"/>
          </a:xfrm>
          <a:prstGeom prst="rect">
            <a:avLst/>
          </a:prstGeom>
          <a:noFill/>
          <a:ln>
            <a:noFill/>
          </a:ln>
        </p:spPr>
        <p:txBody>
          <a:bodyPr wrap="square" lIns="0" tIns="0" rIns="0" bIns="0" anchor="t">
            <a:normAutofit/>
          </a:bodyPr>
          <a:lstStyle/>
          <a:p>
            <a:pPr marL="0" indent="0" algn="r">
              <a:buNone/>
            </a:pPr>
            <a:r>
              <a:rPr lang="en-US" sz="1100" b="1" i="0" dirty="0">
                <a:solidFill>
                  <a:srgbClr val="5C7BA6"/>
                </a:solidFill>
                <a:latin typeface="Calibr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rule"/>
          <p:cNvSpPr txBox="1"/>
          <p:nvPr/>
        </p:nvSpPr>
        <p:spPr>
          <a:xfrm>
            <a:off x="0" y="0"/>
            <a:ext cx="12192000" cy="68580"/>
          </a:xfrm>
          <a:prstGeom prst="rect">
            <a:avLst/>
          </a:prstGeom>
          <a:solidFill>
            <a:srgbClr val="C55A11"/>
          </a:solidFill>
          <a:ln>
            <a:noFill/>
          </a:ln>
        </p:spPr>
        <p:txBody>
          <a:bodyPr wrap="square" lIns="137160" tIns="91440" rIns="137160" bIns="91440" anchor="t">
            <a:normAutofit/>
          </a:bodyPr>
          <a:lstStyle/>
          <a:p>
            <a:endParaRPr lang="en-US"/>
          </a:p>
        </p:txBody>
      </p:sp>
      <p:sp>
        <p:nvSpPr>
          <p:cNvPr id="57" name="spine"/>
          <p:cNvSpPr txBox="1"/>
          <p:nvPr/>
        </p:nvSpPr>
        <p:spPr>
          <a:xfrm>
            <a:off x="0" y="68580"/>
            <a:ext cx="137160" cy="6789420"/>
          </a:xfrm>
          <a:prstGeom prst="rect">
            <a:avLst/>
          </a:prstGeom>
          <a:solidFill>
            <a:srgbClr val="1F3864"/>
          </a:solidFill>
          <a:ln>
            <a:noFill/>
          </a:ln>
        </p:spPr>
        <p:txBody>
          <a:bodyPr wrap="square" lIns="137160" tIns="91440" rIns="137160" bIns="91440" anchor="t">
            <a:normAutofit/>
          </a:bodyPr>
          <a:lstStyle/>
          <a:p>
            <a:endParaRPr lang="en-US"/>
          </a:p>
        </p:txBody>
      </p:sp>
      <p:sp>
        <p:nvSpPr>
          <p:cNvPr id="58" name="sh"/>
          <p:cNvSpPr txBox="1"/>
          <p:nvPr/>
        </p:nvSpPr>
        <p:spPr>
          <a:xfrm>
            <a:off x="731520" y="320040"/>
            <a:ext cx="10728960" cy="300000"/>
          </a:xfrm>
          <a:prstGeom prst="rect">
            <a:avLst/>
          </a:prstGeom>
          <a:noFill/>
          <a:ln>
            <a:noFill/>
          </a:ln>
        </p:spPr>
        <p:txBody>
          <a:bodyPr wrap="square" lIns="0" tIns="0" rIns="0" bIns="0" anchor="t">
            <a:normAutofit/>
          </a:bodyPr>
          <a:lstStyle/>
          <a:p>
            <a:pPr marL="0" indent="0" algn="l">
              <a:buNone/>
            </a:pPr>
            <a:r>
              <a:rPr lang="en-US" sz="1100" b="1" i="0" spc="300" dirty="0">
                <a:solidFill>
                  <a:srgbClr val="C55A11"/>
                </a:solidFill>
                <a:latin typeface="Calibri"/>
              </a:rPr>
              <a:t>TOOL CHOICE</a:t>
            </a:r>
          </a:p>
        </p:txBody>
      </p:sp>
      <p:sp>
        <p:nvSpPr>
          <p:cNvPr id="59" name="sh"/>
          <p:cNvSpPr txBox="1"/>
          <p:nvPr/>
        </p:nvSpPr>
        <p:spPr>
          <a:xfrm>
            <a:off x="731520" y="620000"/>
            <a:ext cx="10728960" cy="780000"/>
          </a:xfrm>
          <a:prstGeom prst="rect">
            <a:avLst/>
          </a:prstGeom>
          <a:noFill/>
          <a:ln>
            <a:noFill/>
          </a:ln>
        </p:spPr>
        <p:txBody>
          <a:bodyPr wrap="square" lIns="0" tIns="0" rIns="0" bIns="0" anchor="t">
            <a:normAutofit/>
          </a:bodyPr>
          <a:lstStyle/>
          <a:p>
            <a:pPr marL="0" indent="0" algn="l">
              <a:buNone/>
            </a:pPr>
            <a:r>
              <a:rPr lang="en-US" sz="2600" b="1" i="0" dirty="0">
                <a:solidFill>
                  <a:srgbClr val="1F3864"/>
                </a:solidFill>
                <a:latin typeface="Calibri"/>
              </a:rPr>
              <a:t>What we chose, and why</a:t>
            </a:r>
          </a:p>
        </p:txBody>
      </p:sp>
      <p:sp>
        <p:nvSpPr>
          <p:cNvPr id="60" name="ul"/>
          <p:cNvSpPr txBox="1"/>
          <p:nvPr/>
        </p:nvSpPr>
        <p:spPr>
          <a:xfrm>
            <a:off x="731520" y="1400000"/>
            <a:ext cx="1600000" cy="40000"/>
          </a:xfrm>
          <a:prstGeom prst="rect">
            <a:avLst/>
          </a:prstGeom>
          <a:solidFill>
            <a:srgbClr val="C55A11"/>
          </a:solidFill>
          <a:ln>
            <a:noFill/>
          </a:ln>
        </p:spPr>
        <p:txBody>
          <a:bodyPr wrap="square" lIns="137160" tIns="91440" rIns="137160" bIns="91440" anchor="t">
            <a:normAutofit/>
          </a:bodyPr>
          <a:lstStyle/>
          <a:p>
            <a:endParaRPr lang="en-US"/>
          </a:p>
        </p:txBody>
      </p:sp>
      <p:sp>
        <p:nvSpPr>
          <p:cNvPr id="61" name="sh"/>
          <p:cNvSpPr txBox="1"/>
          <p:nvPr/>
        </p:nvSpPr>
        <p:spPr>
          <a:xfrm>
            <a:off x="731520" y="6358000"/>
            <a:ext cx="6437376" cy="300000"/>
          </a:xfrm>
          <a:prstGeom prst="rect">
            <a:avLst/>
          </a:prstGeom>
          <a:noFill/>
          <a:ln>
            <a:noFill/>
          </a:ln>
        </p:spPr>
        <p:txBody>
          <a:bodyPr wrap="square" lIns="0" tIns="0" rIns="0" bIns="0" anchor="t">
            <a:normAutofit/>
          </a:bodyPr>
          <a:lstStyle/>
          <a:p>
            <a:pPr marL="0" indent="0" algn="l">
              <a:buNone/>
            </a:pPr>
            <a:r>
              <a:rPr lang="en-US" sz="1000" b="0" i="0" dirty="0">
                <a:solidFill>
                  <a:srgbClr val="8FA3BF"/>
                </a:solidFill>
                <a:latin typeface="Calibri"/>
              </a:rPr>
              <a:t>H3 cycle-accurate memory simulator</a:t>
            </a:r>
          </a:p>
        </p:txBody>
      </p:sp>
      <p:sp>
        <p:nvSpPr>
          <p:cNvPr id="62" name="sh"/>
          <p:cNvSpPr txBox="1"/>
          <p:nvPr/>
        </p:nvSpPr>
        <p:spPr>
          <a:xfrm>
            <a:off x="10760480" y="6358000"/>
            <a:ext cx="700000" cy="300000"/>
          </a:xfrm>
          <a:prstGeom prst="rect">
            <a:avLst/>
          </a:prstGeom>
          <a:noFill/>
          <a:ln>
            <a:noFill/>
          </a:ln>
        </p:spPr>
        <p:txBody>
          <a:bodyPr wrap="square" lIns="0" tIns="0" rIns="0" bIns="0" anchor="t">
            <a:normAutofit/>
          </a:bodyPr>
          <a:lstStyle/>
          <a:p>
            <a:pPr marL="0" indent="0" algn="r">
              <a:buNone/>
            </a:pPr>
            <a:r>
              <a:rPr lang="en-US" sz="1100" b="1" i="0" dirty="0">
                <a:solidFill>
                  <a:srgbClr val="8FA3BF"/>
                </a:solidFill>
                <a:latin typeface="Calibri"/>
              </a:rPr>
              <a:t>6</a:t>
            </a:r>
          </a:p>
        </p:txBody>
      </p:sp>
      <p:sp>
        <p:nvSpPr>
          <p:cNvPr id="63" name="sh"/>
          <p:cNvSpPr txBox="1"/>
          <p:nvPr/>
        </p:nvSpPr>
        <p:spPr>
          <a:xfrm>
            <a:off x="731520" y="1560000"/>
            <a:ext cx="5214480" cy="340000"/>
          </a:xfrm>
          <a:prstGeom prst="rect">
            <a:avLst/>
          </a:prstGeom>
          <a:solidFill>
            <a:srgbClr val="1F3864"/>
          </a:solidFill>
          <a:ln>
            <a:noFill/>
          </a:ln>
        </p:spPr>
        <p:txBody>
          <a:bodyPr wrap="square" lIns="114300" tIns="60960" rIns="114300" bIns="60960" anchor="t">
            <a:normAutofit/>
          </a:bodyPr>
          <a:lstStyle/>
          <a:p>
            <a:pPr marL="0" indent="0" algn="l">
              <a:buNone/>
            </a:pPr>
            <a:r>
              <a:rPr lang="en-US" sz="1150" b="1" i="0" spc="200" dirty="0">
                <a:solidFill>
                  <a:srgbClr val="FFFFFF"/>
                </a:solidFill>
                <a:latin typeface="Calibri"/>
              </a:rPr>
              <a:t>CHOSEN</a:t>
            </a:r>
          </a:p>
        </p:txBody>
      </p:sp>
      <p:sp>
        <p:nvSpPr>
          <p:cNvPr id="64" name="sh"/>
          <p:cNvSpPr txBox="1"/>
          <p:nvPr/>
        </p:nvSpPr>
        <p:spPr>
          <a:xfrm>
            <a:off x="731520" y="1980000"/>
            <a:ext cx="5214480" cy="2800000"/>
          </a:xfrm>
          <a:prstGeom prst="rect">
            <a:avLst/>
          </a:prstGeom>
          <a:solidFill>
            <a:srgbClr val="F5F7FA"/>
          </a:solidFill>
          <a:ln>
            <a:noFill/>
          </a:ln>
        </p:spPr>
        <p:txBody>
          <a:bodyPr wrap="square" lIns="137160" tIns="91440" rIns="137160" bIns="91440" anchor="t">
            <a:normAutofit/>
          </a:bodyPr>
          <a:lstStyle/>
          <a:p>
            <a:pPr marL="228600" indent="-228600" algn="l">
              <a:spcBef>
                <a:spcPts val="440"/>
              </a:spcBef>
              <a:buClr>
                <a:srgbClr val="C55A11"/>
              </a:buClr>
              <a:buSzPct val="90000"/>
              <a:buFont typeface="Arial"/>
              <a:buChar char="■"/>
            </a:pPr>
            <a:r>
              <a:rPr lang="en-US" sz="1450" b="0" i="0" dirty="0">
                <a:solidFill>
                  <a:srgbClr val="1A1D21"/>
                </a:solidFill>
                <a:latin typeface="Calibri"/>
              </a:rPr>
              <a:t>Accel-Sim / GPGPU-Sim 4.x</a:t>
            </a:r>
          </a:p>
          <a:p>
            <a:pPr marL="457200" indent="-228600" algn="l">
              <a:spcBef>
                <a:spcPts val="320"/>
              </a:spcBef>
              <a:buClr>
                <a:srgbClr val="8FA3BF"/>
              </a:buClr>
              <a:buSzPct val="90000"/>
              <a:buFont typeface="Arial"/>
              <a:buChar char="–"/>
            </a:pPr>
            <a:r>
              <a:rPr lang="en-US" sz="1300" b="0" i="0" dirty="0">
                <a:solidFill>
                  <a:srgbClr val="5F6368"/>
                </a:solidFill>
                <a:latin typeface="Calibri"/>
              </a:rPr>
              <a:t>The standard academic GPU simulator</a:t>
            </a:r>
          </a:p>
          <a:p>
            <a:pPr marL="228600" indent="-228600" algn="l">
              <a:spcBef>
                <a:spcPts val="440"/>
              </a:spcBef>
              <a:buClr>
                <a:srgbClr val="C55A11"/>
              </a:buClr>
              <a:buSzPct val="90000"/>
              <a:buFont typeface="Arial"/>
              <a:buChar char="■"/>
            </a:pPr>
            <a:r>
              <a:rPr lang="en-US" sz="1450" b="0" i="0" dirty="0">
                <a:solidFill>
                  <a:srgbClr val="1A1D21"/>
                </a:solidFill>
                <a:latin typeface="Calibri"/>
              </a:rPr>
              <a:t>Ramulator 2.1</a:t>
            </a:r>
          </a:p>
          <a:p>
            <a:pPr marL="457200" indent="-228600" algn="l">
              <a:spcBef>
                <a:spcPts val="320"/>
              </a:spcBef>
              <a:buClr>
                <a:srgbClr val="8FA3BF"/>
              </a:buClr>
              <a:buSzPct val="90000"/>
              <a:buFont typeface="Arial"/>
              <a:buChar char="–"/>
            </a:pPr>
            <a:r>
              <a:rPr lang="en-US" sz="1300" b="0" i="0" dirty="0">
                <a:solidFill>
                  <a:srgbClr val="5F6368"/>
                </a:solidFill>
                <a:latin typeface="Calibri"/>
              </a:rPr>
              <a:t>New memory types defined in Python, not C++</a:t>
            </a:r>
          </a:p>
          <a:p>
            <a:pPr marL="228600" indent="-228600" algn="l">
              <a:spcBef>
                <a:spcPts val="440"/>
              </a:spcBef>
              <a:buClr>
                <a:srgbClr val="C55A11"/>
              </a:buClr>
              <a:buSzPct val="90000"/>
              <a:buFont typeface="Arial"/>
              <a:buChar char="■"/>
            </a:pPr>
            <a:r>
              <a:rPr lang="en-US" sz="1450" b="0" i="0" dirty="0">
                <a:solidFill>
                  <a:srgbClr val="1A1D21"/>
                </a:solidFill>
                <a:latin typeface="Calibri"/>
              </a:rPr>
              <a:t>Docker, linux/amd64</a:t>
            </a:r>
          </a:p>
          <a:p>
            <a:pPr marL="457200" indent="-228600" algn="l">
              <a:spcBef>
                <a:spcPts val="320"/>
              </a:spcBef>
              <a:buClr>
                <a:srgbClr val="8FA3BF"/>
              </a:buClr>
              <a:buSzPct val="90000"/>
              <a:buFont typeface="Arial"/>
              <a:buChar char="–"/>
            </a:pPr>
            <a:r>
              <a:rPr lang="en-US" sz="1300" b="0" i="0" dirty="0">
                <a:solidFill>
                  <a:srgbClr val="5F6368"/>
                </a:solidFill>
                <a:latin typeface="Calibri"/>
              </a:rPr>
              <a:t>Tools need CUDA 12.8 on Linux</a:t>
            </a:r>
          </a:p>
        </p:txBody>
      </p:sp>
      <p:sp>
        <p:nvSpPr>
          <p:cNvPr id="65" name="sh"/>
          <p:cNvSpPr txBox="1"/>
          <p:nvPr/>
        </p:nvSpPr>
        <p:spPr>
          <a:xfrm>
            <a:off x="6246000" y="1560000"/>
            <a:ext cx="5214480" cy="340000"/>
          </a:xfrm>
          <a:prstGeom prst="rect">
            <a:avLst/>
          </a:prstGeom>
          <a:solidFill>
            <a:srgbClr val="C55A11"/>
          </a:solidFill>
          <a:ln>
            <a:noFill/>
          </a:ln>
        </p:spPr>
        <p:txBody>
          <a:bodyPr wrap="square" lIns="114300" tIns="60960" rIns="114300" bIns="60960" anchor="t">
            <a:normAutofit/>
          </a:bodyPr>
          <a:lstStyle/>
          <a:p>
            <a:pPr marL="0" indent="0" algn="l">
              <a:buNone/>
            </a:pPr>
            <a:r>
              <a:rPr lang="en-US" sz="1150" b="1" i="0" spc="200" dirty="0">
                <a:solidFill>
                  <a:srgbClr val="FFFFFF"/>
                </a:solidFill>
                <a:latin typeface="Calibri"/>
              </a:rPr>
              <a:t>WHY IT MATTERS</a:t>
            </a:r>
          </a:p>
        </p:txBody>
      </p:sp>
      <p:sp>
        <p:nvSpPr>
          <p:cNvPr id="66" name="sh"/>
          <p:cNvSpPr txBox="1"/>
          <p:nvPr/>
        </p:nvSpPr>
        <p:spPr>
          <a:xfrm>
            <a:off x="6246000" y="1980000"/>
            <a:ext cx="5214480" cy="2800000"/>
          </a:xfrm>
          <a:prstGeom prst="rect">
            <a:avLst/>
          </a:prstGeom>
          <a:solidFill>
            <a:srgbClr val="F5F7FA"/>
          </a:solidFill>
          <a:ln>
            <a:noFill/>
          </a:ln>
        </p:spPr>
        <p:txBody>
          <a:bodyPr wrap="square" lIns="137160" tIns="91440" rIns="137160" bIns="91440" anchor="t">
            <a:normAutofit/>
          </a:bodyPr>
          <a:lstStyle/>
          <a:p>
            <a:pPr marL="228600" indent="-228600" algn="l">
              <a:spcBef>
                <a:spcPts val="440"/>
              </a:spcBef>
              <a:buClr>
                <a:srgbClr val="C55A11"/>
              </a:buClr>
              <a:buSzPct val="90000"/>
              <a:buFont typeface="Arial"/>
              <a:buChar char="■"/>
            </a:pPr>
            <a:r>
              <a:rPr lang="en-US" sz="1450" b="0" i="0" dirty="0">
                <a:solidFill>
                  <a:srgbClr val="1A1D21"/>
                </a:solidFill>
                <a:latin typeface="Calibri"/>
              </a:rPr>
              <a:t>Both are published and peer-reviewed</a:t>
            </a:r>
          </a:p>
          <a:p>
            <a:pPr marL="457200" indent="-228600" algn="l">
              <a:spcBef>
                <a:spcPts val="320"/>
              </a:spcBef>
              <a:buClr>
                <a:srgbClr val="8FA3BF"/>
              </a:buClr>
              <a:buSzPct val="90000"/>
              <a:buFont typeface="Arial"/>
              <a:buChar char="–"/>
            </a:pPr>
            <a:r>
              <a:rPr lang="en-US" sz="1300" b="0" i="0" dirty="0">
                <a:solidFill>
                  <a:srgbClr val="5F6368"/>
                </a:solidFill>
                <a:latin typeface="Calibri"/>
              </a:rPr>
              <a:t>Results are comparable with other work</a:t>
            </a:r>
          </a:p>
          <a:p>
            <a:pPr marL="228600" indent="-228600" algn="l">
              <a:spcBef>
                <a:spcPts val="440"/>
              </a:spcBef>
              <a:buClr>
                <a:srgbClr val="C55A11"/>
              </a:buClr>
              <a:buSzPct val="90000"/>
              <a:buFont typeface="Arial"/>
              <a:buChar char="■"/>
            </a:pPr>
            <a:r>
              <a:rPr lang="en-US" sz="1450" b="0" i="0" dirty="0">
                <a:solidFill>
                  <a:srgbClr val="1A1D21"/>
                </a:solidFill>
                <a:latin typeface="Calibri"/>
              </a:rPr>
              <a:t>Trace-driven, so no GPU needed to run</a:t>
            </a:r>
          </a:p>
          <a:p>
            <a:pPr marL="457200" indent="-228600" algn="l">
              <a:spcBef>
                <a:spcPts val="320"/>
              </a:spcBef>
              <a:buClr>
                <a:srgbClr val="8FA3BF"/>
              </a:buClr>
              <a:buSzPct val="90000"/>
              <a:buFont typeface="Arial"/>
              <a:buChar char="–"/>
            </a:pPr>
            <a:r>
              <a:rPr lang="en-US" sz="1300" b="0" i="0" dirty="0">
                <a:solidFill>
                  <a:srgbClr val="5F6368"/>
                </a:solidFill>
                <a:latin typeface="Calibri"/>
              </a:rPr>
              <a:t>The whole thing runs on a laptop</a:t>
            </a:r>
          </a:p>
          <a:p>
            <a:pPr marL="228600" indent="-228600" algn="l">
              <a:spcBef>
                <a:spcPts val="440"/>
              </a:spcBef>
              <a:buClr>
                <a:srgbClr val="C55A11"/>
              </a:buClr>
              <a:buSzPct val="90000"/>
              <a:buFont typeface="Arial"/>
              <a:buChar char="■"/>
            </a:pPr>
            <a:r>
              <a:rPr lang="en-US" sz="1450" b="0" i="0" dirty="0">
                <a:solidFill>
                  <a:srgbClr val="1A1D21"/>
                </a:solidFill>
                <a:latin typeface="Calibri"/>
              </a:rPr>
              <a:t>Nothing written from scratch</a:t>
            </a:r>
          </a:p>
        </p:txBody>
      </p:sp>
      <p:sp>
        <p:nvSpPr>
          <p:cNvPr id="67" name="nb"/>
          <p:cNvSpPr txBox="1"/>
          <p:nvPr/>
        </p:nvSpPr>
        <p:spPr>
          <a:xfrm>
            <a:off x="731520" y="4980000"/>
            <a:ext cx="68580" cy="1150000"/>
          </a:xfrm>
          <a:prstGeom prst="rect">
            <a:avLst/>
          </a:prstGeom>
          <a:solidFill>
            <a:srgbClr val="C55A11"/>
          </a:solidFill>
          <a:ln>
            <a:noFill/>
          </a:ln>
        </p:spPr>
        <p:txBody>
          <a:bodyPr wrap="square" lIns="137160" tIns="91440" rIns="137160" bIns="91440" anchor="t">
            <a:normAutofit/>
          </a:bodyPr>
          <a:lstStyle/>
          <a:p>
            <a:endParaRPr lang="en-US"/>
          </a:p>
        </p:txBody>
      </p:sp>
      <p:sp>
        <p:nvSpPr>
          <p:cNvPr id="68" name="sh"/>
          <p:cNvSpPr txBox="1"/>
          <p:nvPr/>
        </p:nvSpPr>
        <p:spPr>
          <a:xfrm>
            <a:off x="800100" y="4980000"/>
            <a:ext cx="10660380" cy="1150000"/>
          </a:xfrm>
          <a:prstGeom prst="rect">
            <a:avLst/>
          </a:prstGeom>
          <a:solidFill>
            <a:srgbClr val="EAEFF6"/>
          </a:solidFill>
          <a:ln>
            <a:noFill/>
          </a:ln>
        </p:spPr>
        <p:txBody>
          <a:bodyPr wrap="square" lIns="137160" tIns="91440" rIns="137160" bIns="91440" anchor="t">
            <a:normAutofit/>
          </a:bodyPr>
          <a:lstStyle/>
          <a:p>
            <a:pPr marL="0" indent="0" algn="l">
              <a:buNone/>
            </a:pPr>
            <a:r>
              <a:rPr lang="en-US" sz="1000" b="1" i="0" spc="200" dirty="0">
                <a:solidFill>
                  <a:srgbClr val="C55A11"/>
                </a:solidFill>
                <a:latin typeface="Calibri"/>
              </a:rPr>
              <a:t>IN PLAIN WORDS</a:t>
            </a:r>
          </a:p>
          <a:p>
            <a:pPr marL="0" indent="0" algn="l">
              <a:spcBef>
                <a:spcPts val="250"/>
              </a:spcBef>
              <a:buNone/>
            </a:pPr>
            <a:r>
              <a:rPr lang="en-US" sz="1400" b="0" i="0" dirty="0">
                <a:solidFill>
                  <a:srgbClr val="1A1D21"/>
                </a:solidFill>
                <a:latin typeface="Calibri"/>
              </a:rPr>
              <a:t>We did not build a GPU simulator ourselves. We took two established simulators, joined them, and added only the parts that describe H3 specifically.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rule"/>
          <p:cNvSpPr txBox="1"/>
          <p:nvPr/>
        </p:nvSpPr>
        <p:spPr>
          <a:xfrm>
            <a:off x="0" y="0"/>
            <a:ext cx="12192000" cy="68580"/>
          </a:xfrm>
          <a:prstGeom prst="rect">
            <a:avLst/>
          </a:prstGeom>
          <a:solidFill>
            <a:srgbClr val="C55A11"/>
          </a:solidFill>
          <a:ln>
            <a:noFill/>
          </a:ln>
        </p:spPr>
        <p:txBody>
          <a:bodyPr wrap="square" lIns="137160" tIns="91440" rIns="137160" bIns="91440" anchor="t">
            <a:normAutofit/>
          </a:bodyPr>
          <a:lstStyle/>
          <a:p>
            <a:endParaRPr lang="en-US"/>
          </a:p>
        </p:txBody>
      </p:sp>
      <p:sp>
        <p:nvSpPr>
          <p:cNvPr id="70" name="spine"/>
          <p:cNvSpPr txBox="1"/>
          <p:nvPr/>
        </p:nvSpPr>
        <p:spPr>
          <a:xfrm>
            <a:off x="0" y="68580"/>
            <a:ext cx="137160" cy="6789420"/>
          </a:xfrm>
          <a:prstGeom prst="rect">
            <a:avLst/>
          </a:prstGeom>
          <a:solidFill>
            <a:srgbClr val="1F3864"/>
          </a:solidFill>
          <a:ln>
            <a:noFill/>
          </a:ln>
        </p:spPr>
        <p:txBody>
          <a:bodyPr wrap="square" lIns="137160" tIns="91440" rIns="137160" bIns="91440" anchor="t">
            <a:normAutofit/>
          </a:bodyPr>
          <a:lstStyle/>
          <a:p>
            <a:endParaRPr lang="en-US"/>
          </a:p>
        </p:txBody>
      </p:sp>
      <p:sp>
        <p:nvSpPr>
          <p:cNvPr id="71" name="sh"/>
          <p:cNvSpPr txBox="1"/>
          <p:nvPr/>
        </p:nvSpPr>
        <p:spPr>
          <a:xfrm>
            <a:off x="731520" y="320040"/>
            <a:ext cx="10728960" cy="300000"/>
          </a:xfrm>
          <a:prstGeom prst="rect">
            <a:avLst/>
          </a:prstGeom>
          <a:noFill/>
          <a:ln>
            <a:noFill/>
          </a:ln>
        </p:spPr>
        <p:txBody>
          <a:bodyPr wrap="square" lIns="0" tIns="0" rIns="0" bIns="0" anchor="t">
            <a:normAutofit/>
          </a:bodyPr>
          <a:lstStyle/>
          <a:p>
            <a:pPr marL="0" indent="0" algn="l">
              <a:buNone/>
            </a:pPr>
            <a:r>
              <a:rPr lang="en-US" sz="1100" b="1" i="0" spc="300" dirty="0">
                <a:solidFill>
                  <a:srgbClr val="C55A11"/>
                </a:solidFill>
                <a:latin typeface="Calibri"/>
              </a:rPr>
              <a:t>ENVIRONMENT</a:t>
            </a:r>
          </a:p>
        </p:txBody>
      </p:sp>
      <p:sp>
        <p:nvSpPr>
          <p:cNvPr id="72" name="sh"/>
          <p:cNvSpPr txBox="1"/>
          <p:nvPr/>
        </p:nvSpPr>
        <p:spPr>
          <a:xfrm>
            <a:off x="731520" y="620000"/>
            <a:ext cx="10728960" cy="780000"/>
          </a:xfrm>
          <a:prstGeom prst="rect">
            <a:avLst/>
          </a:prstGeom>
          <a:noFill/>
          <a:ln>
            <a:noFill/>
          </a:ln>
        </p:spPr>
        <p:txBody>
          <a:bodyPr wrap="square" lIns="0" tIns="0" rIns="0" bIns="0" anchor="t">
            <a:normAutofit/>
          </a:bodyPr>
          <a:lstStyle/>
          <a:p>
            <a:pPr marL="0" indent="0" algn="l">
              <a:buNone/>
            </a:pPr>
            <a:r>
              <a:rPr lang="en-US" sz="2600" b="1" i="0" dirty="0">
                <a:solidFill>
                  <a:srgbClr val="1F3864"/>
                </a:solidFill>
                <a:latin typeface="Calibri"/>
              </a:rPr>
              <a:t>Setting up the build</a:t>
            </a:r>
          </a:p>
        </p:txBody>
      </p:sp>
      <p:sp>
        <p:nvSpPr>
          <p:cNvPr id="73" name="ul"/>
          <p:cNvSpPr txBox="1"/>
          <p:nvPr/>
        </p:nvSpPr>
        <p:spPr>
          <a:xfrm>
            <a:off x="731520" y="1400000"/>
            <a:ext cx="1600000" cy="40000"/>
          </a:xfrm>
          <a:prstGeom prst="rect">
            <a:avLst/>
          </a:prstGeom>
          <a:solidFill>
            <a:srgbClr val="C55A11"/>
          </a:solidFill>
          <a:ln>
            <a:noFill/>
          </a:ln>
        </p:spPr>
        <p:txBody>
          <a:bodyPr wrap="square" lIns="137160" tIns="91440" rIns="137160" bIns="91440" anchor="t">
            <a:normAutofit/>
          </a:bodyPr>
          <a:lstStyle/>
          <a:p>
            <a:endParaRPr lang="en-US"/>
          </a:p>
        </p:txBody>
      </p:sp>
      <p:sp>
        <p:nvSpPr>
          <p:cNvPr id="74" name="sh"/>
          <p:cNvSpPr txBox="1"/>
          <p:nvPr/>
        </p:nvSpPr>
        <p:spPr>
          <a:xfrm>
            <a:off x="731520" y="6358000"/>
            <a:ext cx="6437376" cy="300000"/>
          </a:xfrm>
          <a:prstGeom prst="rect">
            <a:avLst/>
          </a:prstGeom>
          <a:noFill/>
          <a:ln>
            <a:noFill/>
          </a:ln>
        </p:spPr>
        <p:txBody>
          <a:bodyPr wrap="square" lIns="0" tIns="0" rIns="0" bIns="0" anchor="t">
            <a:normAutofit/>
          </a:bodyPr>
          <a:lstStyle/>
          <a:p>
            <a:pPr marL="0" indent="0" algn="l">
              <a:buNone/>
            </a:pPr>
            <a:r>
              <a:rPr lang="en-US" sz="1000" b="0" i="0" dirty="0">
                <a:solidFill>
                  <a:srgbClr val="8FA3BF"/>
                </a:solidFill>
                <a:latin typeface="Calibri"/>
              </a:rPr>
              <a:t>H3 cycle-accurate memory simulator</a:t>
            </a:r>
          </a:p>
        </p:txBody>
      </p:sp>
      <p:sp>
        <p:nvSpPr>
          <p:cNvPr id="75" name="sh"/>
          <p:cNvSpPr txBox="1"/>
          <p:nvPr/>
        </p:nvSpPr>
        <p:spPr>
          <a:xfrm>
            <a:off x="10760480" y="6358000"/>
            <a:ext cx="700000" cy="300000"/>
          </a:xfrm>
          <a:prstGeom prst="rect">
            <a:avLst/>
          </a:prstGeom>
          <a:noFill/>
          <a:ln>
            <a:noFill/>
          </a:ln>
        </p:spPr>
        <p:txBody>
          <a:bodyPr wrap="square" lIns="0" tIns="0" rIns="0" bIns="0" anchor="t">
            <a:normAutofit/>
          </a:bodyPr>
          <a:lstStyle/>
          <a:p>
            <a:pPr marL="0" indent="0" algn="r">
              <a:buNone/>
            </a:pPr>
            <a:r>
              <a:rPr lang="en-US" sz="1100" b="1" i="0" dirty="0">
                <a:solidFill>
                  <a:srgbClr val="8FA3BF"/>
                </a:solidFill>
                <a:latin typeface="Calibri"/>
              </a:rPr>
              <a:t>7</a:t>
            </a:r>
          </a:p>
        </p:txBody>
      </p:sp>
      <p:sp>
        <p:nvSpPr>
          <p:cNvPr id="76" name="sh"/>
          <p:cNvSpPr txBox="1"/>
          <p:nvPr/>
        </p:nvSpPr>
        <p:spPr>
          <a:xfrm>
            <a:off x="731520" y="1560000"/>
            <a:ext cx="10728960" cy="3200000"/>
          </a:xfrm>
          <a:prstGeom prst="rect">
            <a:avLst/>
          </a:prstGeom>
          <a:noFill/>
          <a:ln>
            <a:noFill/>
          </a:ln>
        </p:spPr>
        <p:txBody>
          <a:bodyPr wrap="square" lIns="0" tIns="0" rIns="0" bIns="0" anchor="t">
            <a:normAutofit/>
          </a:bodyPr>
          <a:lstStyle/>
          <a:p>
            <a:pPr marL="228600" indent="-228600" algn="l">
              <a:spcBef>
                <a:spcPts val="520"/>
              </a:spcBef>
              <a:buClr>
                <a:srgbClr val="C55A11"/>
              </a:buClr>
              <a:buSzPct val="90000"/>
              <a:buFont typeface="Arial"/>
              <a:buChar char="■"/>
            </a:pPr>
            <a:r>
              <a:rPr lang="en-US" sz="1550" b="0" i="0" dirty="0">
                <a:solidFill>
                  <a:srgbClr val="1A1D21"/>
                </a:solidFill>
                <a:latin typeface="Calibri"/>
              </a:rPr>
              <a:t>Read the repository's own config files rather than guessing versions</a:t>
            </a:r>
          </a:p>
          <a:p>
            <a:pPr marL="457200" indent="-228600" algn="l">
              <a:spcBef>
                <a:spcPts val="380"/>
              </a:spcBef>
              <a:buClr>
                <a:srgbClr val="8FA3BF"/>
              </a:buClr>
              <a:buSzPct val="90000"/>
              <a:buFont typeface="Arial"/>
              <a:buChar char="–"/>
            </a:pPr>
            <a:r>
              <a:rPr lang="en-US" sz="1400" b="0" i="0" dirty="0">
                <a:solidFill>
                  <a:srgbClr val="5F6368"/>
                </a:solidFill>
                <a:latin typeface="Calibri"/>
              </a:rPr>
              <a:t>The devcontainer file and README both pointed to CUDA 12.8 on Ubuntu 24.04</a:t>
            </a:r>
          </a:p>
          <a:p>
            <a:pPr marL="228600" indent="-228600" algn="l">
              <a:spcBef>
                <a:spcPts val="520"/>
              </a:spcBef>
              <a:buClr>
                <a:srgbClr val="C55A11"/>
              </a:buClr>
              <a:buSzPct val="90000"/>
              <a:buFont typeface="Arial"/>
              <a:buChar char="■"/>
            </a:pPr>
            <a:r>
              <a:rPr lang="en-US" sz="1550" b="0" i="0" dirty="0">
                <a:solidFill>
                  <a:srgbClr val="1A1D21"/>
                </a:solidFill>
                <a:latin typeface="Calibri"/>
              </a:rPr>
              <a:t>Wrote Dockerfile.h3sim and docker-compose.yml from those findings</a:t>
            </a:r>
          </a:p>
          <a:p>
            <a:pPr marL="228600" indent="-228600" algn="l">
              <a:spcBef>
                <a:spcPts val="520"/>
              </a:spcBef>
              <a:buClr>
                <a:srgbClr val="C55A11"/>
              </a:buClr>
              <a:buSzPct val="90000"/>
              <a:buFont typeface="Arial"/>
              <a:buChar char="■"/>
            </a:pPr>
            <a:r>
              <a:rPr lang="en-US" sz="1550" b="0" i="0" dirty="0">
                <a:solidFill>
                  <a:srgbClr val="1A1D21"/>
                </a:solidFill>
                <a:latin typeface="Calibri"/>
              </a:rPr>
              <a:t>Found three dependencies the official instructions leave out</a:t>
            </a:r>
          </a:p>
          <a:p>
            <a:pPr marL="457200" indent="-228600" algn="l">
              <a:spcBef>
                <a:spcPts val="380"/>
              </a:spcBef>
              <a:buClr>
                <a:srgbClr val="8FA3BF"/>
              </a:buClr>
              <a:buSzPct val="90000"/>
              <a:buFont typeface="Arial"/>
              <a:buChar char="–"/>
            </a:pPr>
            <a:r>
              <a:rPr lang="en-US" sz="1400" b="0" i="0" dirty="0">
                <a:solidFill>
                  <a:srgbClr val="5F6368"/>
                </a:solidFill>
                <a:latin typeface="Calibri"/>
              </a:rPr>
              <a:t>python3-dev, needed because the build calls pybind11</a:t>
            </a:r>
          </a:p>
          <a:p>
            <a:pPr marL="457200" indent="-228600" algn="l">
              <a:spcBef>
                <a:spcPts val="380"/>
              </a:spcBef>
              <a:buClr>
                <a:srgbClr val="8FA3BF"/>
              </a:buClr>
              <a:buSzPct val="90000"/>
              <a:buFont typeface="Arial"/>
              <a:buChar char="–"/>
            </a:pPr>
            <a:r>
              <a:rPr lang="en-US" sz="1400" b="0" i="0" dirty="0">
                <a:solidFill>
                  <a:srgbClr val="5F6368"/>
                </a:solidFill>
                <a:latin typeface="Calibri"/>
              </a:rPr>
              <a:t>libzstd-dev, needed for compressed traces</a:t>
            </a:r>
          </a:p>
          <a:p>
            <a:pPr marL="457200" indent="-228600" algn="l">
              <a:spcBef>
                <a:spcPts val="380"/>
              </a:spcBef>
              <a:buClr>
                <a:srgbClr val="8FA3BF"/>
              </a:buClr>
              <a:buSzPct val="90000"/>
              <a:buFont typeface="Arial"/>
              <a:buChar char="–"/>
            </a:pPr>
            <a:r>
              <a:rPr lang="en-US" sz="1400" b="0" i="0" dirty="0">
                <a:solidFill>
                  <a:srgbClr val="5F6368"/>
                </a:solidFill>
                <a:latin typeface="Calibri"/>
              </a:rPr>
              <a:t>cmake itself, missing from the documented package list</a:t>
            </a:r>
          </a:p>
        </p:txBody>
      </p:sp>
      <p:sp>
        <p:nvSpPr>
          <p:cNvPr id="77" name="nb"/>
          <p:cNvSpPr txBox="1"/>
          <p:nvPr/>
        </p:nvSpPr>
        <p:spPr>
          <a:xfrm>
            <a:off x="731520" y="4980000"/>
            <a:ext cx="68580" cy="1150000"/>
          </a:xfrm>
          <a:prstGeom prst="rect">
            <a:avLst/>
          </a:prstGeom>
          <a:solidFill>
            <a:srgbClr val="C55A11"/>
          </a:solidFill>
          <a:ln>
            <a:noFill/>
          </a:ln>
        </p:spPr>
        <p:txBody>
          <a:bodyPr wrap="square" lIns="137160" tIns="91440" rIns="137160" bIns="91440" anchor="t">
            <a:normAutofit/>
          </a:bodyPr>
          <a:lstStyle/>
          <a:p>
            <a:endParaRPr lang="en-US"/>
          </a:p>
        </p:txBody>
      </p:sp>
      <p:sp>
        <p:nvSpPr>
          <p:cNvPr id="78" name="sh"/>
          <p:cNvSpPr txBox="1"/>
          <p:nvPr/>
        </p:nvSpPr>
        <p:spPr>
          <a:xfrm>
            <a:off x="800100" y="4980000"/>
            <a:ext cx="10660380" cy="1150000"/>
          </a:xfrm>
          <a:prstGeom prst="rect">
            <a:avLst/>
          </a:prstGeom>
          <a:solidFill>
            <a:srgbClr val="EAEFF6"/>
          </a:solidFill>
          <a:ln>
            <a:noFill/>
          </a:ln>
        </p:spPr>
        <p:txBody>
          <a:bodyPr wrap="square" lIns="137160" tIns="91440" rIns="137160" bIns="91440" anchor="t">
            <a:normAutofit/>
          </a:bodyPr>
          <a:lstStyle/>
          <a:p>
            <a:pPr marL="0" indent="0" algn="l">
              <a:buNone/>
            </a:pPr>
            <a:r>
              <a:rPr lang="en-US" sz="1000" b="1" i="0" spc="200" dirty="0">
                <a:solidFill>
                  <a:srgbClr val="C55A11"/>
                </a:solidFill>
                <a:latin typeface="Calibri"/>
              </a:rPr>
              <a:t>IN PLAIN WORDS</a:t>
            </a:r>
          </a:p>
          <a:p>
            <a:pPr marL="0" indent="0" algn="l">
              <a:spcBef>
                <a:spcPts val="250"/>
              </a:spcBef>
              <a:buNone/>
            </a:pPr>
            <a:r>
              <a:rPr lang="en-US" sz="1400" b="0" i="0" dirty="0">
                <a:solidFill>
                  <a:srgbClr val="1A1D21"/>
                </a:solidFill>
                <a:latin typeface="Calibri"/>
              </a:rPr>
              <a:t>Rather than assuming which software was needed, we read the project's own configuration. That is how we found three missing packages that would otherwise have caused confusing failures partway through a 30 minute build.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rule"/>
          <p:cNvSpPr txBox="1"/>
          <p:nvPr/>
        </p:nvSpPr>
        <p:spPr>
          <a:xfrm>
            <a:off x="0" y="0"/>
            <a:ext cx="12192000" cy="68580"/>
          </a:xfrm>
          <a:prstGeom prst="rect">
            <a:avLst/>
          </a:prstGeom>
          <a:solidFill>
            <a:srgbClr val="C55A11"/>
          </a:solidFill>
          <a:ln>
            <a:noFill/>
          </a:ln>
        </p:spPr>
        <p:txBody>
          <a:bodyPr wrap="square" lIns="137160" tIns="91440" rIns="137160" bIns="91440" anchor="t">
            <a:normAutofit/>
          </a:bodyPr>
          <a:lstStyle/>
          <a:p>
            <a:endParaRPr lang="en-US"/>
          </a:p>
        </p:txBody>
      </p:sp>
      <p:sp>
        <p:nvSpPr>
          <p:cNvPr id="80" name="spine"/>
          <p:cNvSpPr txBox="1"/>
          <p:nvPr/>
        </p:nvSpPr>
        <p:spPr>
          <a:xfrm>
            <a:off x="0" y="68580"/>
            <a:ext cx="137160" cy="6789420"/>
          </a:xfrm>
          <a:prstGeom prst="rect">
            <a:avLst/>
          </a:prstGeom>
          <a:solidFill>
            <a:srgbClr val="1F3864"/>
          </a:solidFill>
          <a:ln>
            <a:noFill/>
          </a:ln>
        </p:spPr>
        <p:txBody>
          <a:bodyPr wrap="square" lIns="137160" tIns="91440" rIns="137160" bIns="91440" anchor="t">
            <a:normAutofit/>
          </a:bodyPr>
          <a:lstStyle/>
          <a:p>
            <a:endParaRPr lang="en-US"/>
          </a:p>
        </p:txBody>
      </p:sp>
      <p:sp>
        <p:nvSpPr>
          <p:cNvPr id="81" name="sh"/>
          <p:cNvSpPr txBox="1"/>
          <p:nvPr/>
        </p:nvSpPr>
        <p:spPr>
          <a:xfrm>
            <a:off x="731520" y="320040"/>
            <a:ext cx="10728960" cy="300000"/>
          </a:xfrm>
          <a:prstGeom prst="rect">
            <a:avLst/>
          </a:prstGeom>
          <a:noFill/>
          <a:ln>
            <a:noFill/>
          </a:ln>
        </p:spPr>
        <p:txBody>
          <a:bodyPr wrap="square" lIns="0" tIns="0" rIns="0" bIns="0" anchor="t">
            <a:normAutofit/>
          </a:bodyPr>
          <a:lstStyle/>
          <a:p>
            <a:pPr marL="0" indent="0" algn="l">
              <a:buNone/>
            </a:pPr>
            <a:r>
              <a:rPr lang="en-US" sz="1100" b="1" i="0" spc="300" dirty="0">
                <a:solidFill>
                  <a:srgbClr val="C55A11"/>
                </a:solidFill>
                <a:latin typeface="Calibri"/>
              </a:rPr>
              <a:t>INTEGRATION</a:t>
            </a:r>
          </a:p>
        </p:txBody>
      </p:sp>
      <p:sp>
        <p:nvSpPr>
          <p:cNvPr id="82" name="sh"/>
          <p:cNvSpPr txBox="1"/>
          <p:nvPr/>
        </p:nvSpPr>
        <p:spPr>
          <a:xfrm>
            <a:off x="731520" y="620000"/>
            <a:ext cx="10728960" cy="780000"/>
          </a:xfrm>
          <a:prstGeom prst="rect">
            <a:avLst/>
          </a:prstGeom>
          <a:noFill/>
          <a:ln>
            <a:noFill/>
          </a:ln>
        </p:spPr>
        <p:txBody>
          <a:bodyPr wrap="square" lIns="0" tIns="0" rIns="0" bIns="0" anchor="t">
            <a:normAutofit/>
          </a:bodyPr>
          <a:lstStyle/>
          <a:p>
            <a:pPr marL="0" indent="0" algn="l">
              <a:buNone/>
            </a:pPr>
            <a:r>
              <a:rPr lang="en-US" sz="2600" b="1" i="0" dirty="0">
                <a:solidFill>
                  <a:srgbClr val="1F3864"/>
                </a:solidFill>
                <a:latin typeface="Calibri"/>
              </a:rPr>
              <a:t>Linking the two simulators</a:t>
            </a:r>
          </a:p>
        </p:txBody>
      </p:sp>
      <p:sp>
        <p:nvSpPr>
          <p:cNvPr id="83" name="ul"/>
          <p:cNvSpPr txBox="1"/>
          <p:nvPr/>
        </p:nvSpPr>
        <p:spPr>
          <a:xfrm>
            <a:off x="731520" y="1400000"/>
            <a:ext cx="1600000" cy="40000"/>
          </a:xfrm>
          <a:prstGeom prst="rect">
            <a:avLst/>
          </a:prstGeom>
          <a:solidFill>
            <a:srgbClr val="C55A11"/>
          </a:solidFill>
          <a:ln>
            <a:noFill/>
          </a:ln>
        </p:spPr>
        <p:txBody>
          <a:bodyPr wrap="square" lIns="137160" tIns="91440" rIns="137160" bIns="91440" anchor="t">
            <a:normAutofit/>
          </a:bodyPr>
          <a:lstStyle/>
          <a:p>
            <a:endParaRPr lang="en-US"/>
          </a:p>
        </p:txBody>
      </p:sp>
      <p:sp>
        <p:nvSpPr>
          <p:cNvPr id="84" name="sh"/>
          <p:cNvSpPr txBox="1"/>
          <p:nvPr/>
        </p:nvSpPr>
        <p:spPr>
          <a:xfrm>
            <a:off x="731520" y="6358000"/>
            <a:ext cx="6437376" cy="300000"/>
          </a:xfrm>
          <a:prstGeom prst="rect">
            <a:avLst/>
          </a:prstGeom>
          <a:noFill/>
          <a:ln>
            <a:noFill/>
          </a:ln>
        </p:spPr>
        <p:txBody>
          <a:bodyPr wrap="square" lIns="0" tIns="0" rIns="0" bIns="0" anchor="t">
            <a:normAutofit/>
          </a:bodyPr>
          <a:lstStyle/>
          <a:p>
            <a:pPr marL="0" indent="0" algn="l">
              <a:buNone/>
            </a:pPr>
            <a:r>
              <a:rPr lang="en-US" sz="1000" b="0" i="0" dirty="0">
                <a:solidFill>
                  <a:srgbClr val="8FA3BF"/>
                </a:solidFill>
                <a:latin typeface="Calibri"/>
              </a:rPr>
              <a:t>H3 cycle-accurate memory simulator</a:t>
            </a:r>
          </a:p>
        </p:txBody>
      </p:sp>
      <p:sp>
        <p:nvSpPr>
          <p:cNvPr id="85" name="sh"/>
          <p:cNvSpPr txBox="1"/>
          <p:nvPr/>
        </p:nvSpPr>
        <p:spPr>
          <a:xfrm>
            <a:off x="10760480" y="6358000"/>
            <a:ext cx="700000" cy="300000"/>
          </a:xfrm>
          <a:prstGeom prst="rect">
            <a:avLst/>
          </a:prstGeom>
          <a:noFill/>
          <a:ln>
            <a:noFill/>
          </a:ln>
        </p:spPr>
        <p:txBody>
          <a:bodyPr wrap="square" lIns="0" tIns="0" rIns="0" bIns="0" anchor="t">
            <a:normAutofit/>
          </a:bodyPr>
          <a:lstStyle/>
          <a:p>
            <a:pPr marL="0" indent="0" algn="r">
              <a:buNone/>
            </a:pPr>
            <a:r>
              <a:rPr lang="en-US" sz="1100" b="1" i="0" dirty="0">
                <a:solidFill>
                  <a:srgbClr val="8FA3BF"/>
                </a:solidFill>
                <a:latin typeface="Calibri"/>
              </a:rPr>
              <a:t>8</a:t>
            </a:r>
          </a:p>
        </p:txBody>
      </p:sp>
      <p:sp>
        <p:nvSpPr>
          <p:cNvPr id="86" name="sh"/>
          <p:cNvSpPr txBox="1"/>
          <p:nvPr/>
        </p:nvSpPr>
        <p:spPr>
          <a:xfrm>
            <a:off x="731520" y="1560000"/>
            <a:ext cx="10728960" cy="3200000"/>
          </a:xfrm>
          <a:prstGeom prst="rect">
            <a:avLst/>
          </a:prstGeom>
          <a:noFill/>
          <a:ln>
            <a:noFill/>
          </a:ln>
        </p:spPr>
        <p:txBody>
          <a:bodyPr wrap="square" lIns="0" tIns="0" rIns="0" bIns="0" anchor="t">
            <a:normAutofit/>
          </a:bodyPr>
          <a:lstStyle/>
          <a:p>
            <a:pPr marL="228600" indent="-228600" algn="l">
              <a:spcBef>
                <a:spcPts val="520"/>
              </a:spcBef>
              <a:buClr>
                <a:srgbClr val="C55A11"/>
              </a:buClr>
              <a:buSzPct val="90000"/>
              <a:buFont typeface="Arial"/>
              <a:buChar char="■"/>
            </a:pPr>
            <a:r>
              <a:rPr lang="en-US" sz="1550" b="0" i="0" dirty="0">
                <a:solidFill>
                  <a:srgbClr val="1A1D21"/>
                </a:solidFill>
                <a:latin typeface="Calibri"/>
              </a:rPr>
              <a:t>GPGPU-Sim's memory class has no plug-in point for a new memory type</a:t>
            </a:r>
          </a:p>
          <a:p>
            <a:pPr marL="228600" indent="-228600" algn="l">
              <a:spcBef>
                <a:spcPts val="520"/>
              </a:spcBef>
              <a:buClr>
                <a:srgbClr val="C55A11"/>
              </a:buClr>
              <a:buSzPct val="90000"/>
              <a:buFont typeface="Arial"/>
              <a:buChar char="■"/>
            </a:pPr>
            <a:r>
              <a:rPr lang="en-US" sz="1550" b="0" i="0" dirty="0">
                <a:solidFill>
                  <a:srgbClr val="1A1D21"/>
                </a:solidFill>
                <a:latin typeface="Calibri"/>
              </a:rPr>
              <a:t>But it already had a switch for a second, simpler memory model</a:t>
            </a:r>
          </a:p>
          <a:p>
            <a:pPr marL="457200" indent="-228600" algn="l">
              <a:spcBef>
                <a:spcPts val="380"/>
              </a:spcBef>
              <a:buClr>
                <a:srgbClr val="8FA3BF"/>
              </a:buClr>
              <a:buSzPct val="90000"/>
              <a:buFont typeface="Arial"/>
              <a:buChar char="–"/>
            </a:pPr>
            <a:r>
              <a:rPr lang="en-US" sz="1400" b="0" i="0" dirty="0">
                <a:solidFill>
                  <a:srgbClr val="5F6368"/>
                </a:solidFill>
                <a:latin typeface="Calibri"/>
              </a:rPr>
              <a:t>-gpgpu_simple_dram_model, at gpu-sim.cc line 243</a:t>
            </a:r>
          </a:p>
          <a:p>
            <a:pPr marL="228600" indent="-228600" algn="l">
              <a:spcBef>
                <a:spcPts val="520"/>
              </a:spcBef>
              <a:buClr>
                <a:srgbClr val="C55A11"/>
              </a:buClr>
              <a:buSzPct val="90000"/>
              <a:buFont typeface="Arial"/>
              <a:buChar char="■"/>
            </a:pPr>
            <a:r>
              <a:rPr lang="en-US" sz="1550" b="0" i="0" dirty="0">
                <a:solidFill>
                  <a:srgbClr val="1A1D21"/>
                </a:solidFill>
                <a:latin typeface="Calibri"/>
              </a:rPr>
              <a:t>DECISION: copy that exact pattern rather than invent a new one</a:t>
            </a:r>
          </a:p>
          <a:p>
            <a:pPr marL="457200" indent="-228600" algn="l">
              <a:spcBef>
                <a:spcPts val="380"/>
              </a:spcBef>
              <a:buClr>
                <a:srgbClr val="8FA3BF"/>
              </a:buClr>
              <a:buSzPct val="90000"/>
              <a:buFont typeface="Arial"/>
              <a:buChar char="–"/>
            </a:pPr>
            <a:r>
              <a:rPr lang="en-US" sz="1400" b="0" i="0" dirty="0">
                <a:solidFill>
                  <a:srgbClr val="5F6368"/>
                </a:solidFill>
                <a:latin typeface="Calibri"/>
              </a:rPr>
              <a:t>-gpgpu_memory_backend 2 now selects H3; the other two paths are untouched</a:t>
            </a:r>
          </a:p>
          <a:p>
            <a:pPr marL="228600" indent="-228600" algn="l">
              <a:spcBef>
                <a:spcPts val="520"/>
              </a:spcBef>
              <a:buClr>
                <a:srgbClr val="C55A11"/>
              </a:buClr>
              <a:buSzPct val="90000"/>
              <a:buFont typeface="Arial"/>
              <a:buChar char="■"/>
            </a:pPr>
            <a:r>
              <a:rPr lang="en-US" sz="1550" b="0" i="0" dirty="0">
                <a:solidFill>
                  <a:srgbClr val="1A1D21"/>
                </a:solidFill>
                <a:latin typeface="Calibri"/>
              </a:rPr>
              <a:t>DECISION: deliver the change as a patch file, not by editing the simulator</a:t>
            </a:r>
          </a:p>
          <a:p>
            <a:pPr marL="457200" indent="-228600" algn="l">
              <a:spcBef>
                <a:spcPts val="380"/>
              </a:spcBef>
              <a:buClr>
                <a:srgbClr val="8FA3BF"/>
              </a:buClr>
              <a:buSzPct val="90000"/>
              <a:buFont typeface="Arial"/>
              <a:buChar char="–"/>
            </a:pPr>
            <a:r>
              <a:rPr lang="en-US" sz="1400" b="0" i="0" dirty="0">
                <a:solidFill>
                  <a:srgbClr val="5F6368"/>
                </a:solidFill>
                <a:latin typeface="Calibri"/>
              </a:rPr>
              <a:t>310 lines across 5 files, applied and reverted by one script</a:t>
            </a:r>
          </a:p>
        </p:txBody>
      </p:sp>
      <p:sp>
        <p:nvSpPr>
          <p:cNvPr id="87" name="nb"/>
          <p:cNvSpPr txBox="1"/>
          <p:nvPr/>
        </p:nvSpPr>
        <p:spPr>
          <a:xfrm>
            <a:off x="731520" y="4980000"/>
            <a:ext cx="68580" cy="1150000"/>
          </a:xfrm>
          <a:prstGeom prst="rect">
            <a:avLst/>
          </a:prstGeom>
          <a:solidFill>
            <a:srgbClr val="C55A11"/>
          </a:solidFill>
          <a:ln>
            <a:noFill/>
          </a:ln>
        </p:spPr>
        <p:txBody>
          <a:bodyPr wrap="square" lIns="137160" tIns="91440" rIns="137160" bIns="91440" anchor="t">
            <a:normAutofit/>
          </a:bodyPr>
          <a:lstStyle/>
          <a:p>
            <a:endParaRPr lang="en-US"/>
          </a:p>
        </p:txBody>
      </p:sp>
      <p:sp>
        <p:nvSpPr>
          <p:cNvPr id="88" name="sh"/>
          <p:cNvSpPr txBox="1"/>
          <p:nvPr/>
        </p:nvSpPr>
        <p:spPr>
          <a:xfrm>
            <a:off x="800100" y="4980000"/>
            <a:ext cx="10660380" cy="1150000"/>
          </a:xfrm>
          <a:prstGeom prst="rect">
            <a:avLst/>
          </a:prstGeom>
          <a:solidFill>
            <a:srgbClr val="EAEFF6"/>
          </a:solidFill>
          <a:ln>
            <a:noFill/>
          </a:ln>
        </p:spPr>
        <p:txBody>
          <a:bodyPr wrap="square" lIns="137160" tIns="91440" rIns="137160" bIns="91440" anchor="t">
            <a:normAutofit/>
          </a:bodyPr>
          <a:lstStyle/>
          <a:p>
            <a:pPr marL="0" indent="0" algn="l">
              <a:buNone/>
            </a:pPr>
            <a:r>
              <a:rPr lang="en-US" sz="1000" b="1" i="0" spc="200" dirty="0">
                <a:solidFill>
                  <a:srgbClr val="C55A11"/>
                </a:solidFill>
                <a:latin typeface="Calibri"/>
              </a:rPr>
              <a:t>IN PLAIN WORDS</a:t>
            </a:r>
          </a:p>
          <a:p>
            <a:pPr marL="0" indent="0" algn="l">
              <a:spcBef>
                <a:spcPts val="250"/>
              </a:spcBef>
              <a:buNone/>
            </a:pPr>
            <a:r>
              <a:rPr lang="en-US" sz="1400" b="0" i="0" dirty="0">
                <a:solidFill>
                  <a:srgbClr val="1A1D21"/>
                </a:solidFill>
                <a:latin typeface="Calibri"/>
              </a:rPr>
              <a:t>We followed a pattern the simulator already used. This keeps the change small, easy to review, and reversible. With H3 switched off, the original simulator behaves exactly as before.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rule"/>
          <p:cNvSpPr txBox="1"/>
          <p:nvPr/>
        </p:nvSpPr>
        <p:spPr>
          <a:xfrm>
            <a:off x="0" y="0"/>
            <a:ext cx="12192000" cy="68580"/>
          </a:xfrm>
          <a:prstGeom prst="rect">
            <a:avLst/>
          </a:prstGeom>
          <a:solidFill>
            <a:srgbClr val="C55A11"/>
          </a:solidFill>
          <a:ln>
            <a:noFill/>
          </a:ln>
        </p:spPr>
        <p:txBody>
          <a:bodyPr wrap="square" lIns="137160" tIns="91440" rIns="137160" bIns="91440" anchor="t">
            <a:normAutofit/>
          </a:bodyPr>
          <a:lstStyle/>
          <a:p>
            <a:endParaRPr lang="en-US"/>
          </a:p>
        </p:txBody>
      </p:sp>
      <p:sp>
        <p:nvSpPr>
          <p:cNvPr id="90" name="spine"/>
          <p:cNvSpPr txBox="1"/>
          <p:nvPr/>
        </p:nvSpPr>
        <p:spPr>
          <a:xfrm>
            <a:off x="0" y="68580"/>
            <a:ext cx="137160" cy="6789420"/>
          </a:xfrm>
          <a:prstGeom prst="rect">
            <a:avLst/>
          </a:prstGeom>
          <a:solidFill>
            <a:srgbClr val="1F3864"/>
          </a:solidFill>
          <a:ln>
            <a:noFill/>
          </a:ln>
        </p:spPr>
        <p:txBody>
          <a:bodyPr wrap="square" lIns="137160" tIns="91440" rIns="137160" bIns="91440" anchor="t">
            <a:normAutofit/>
          </a:bodyPr>
          <a:lstStyle/>
          <a:p>
            <a:endParaRPr lang="en-US"/>
          </a:p>
        </p:txBody>
      </p:sp>
      <p:sp>
        <p:nvSpPr>
          <p:cNvPr id="91" name="sh"/>
          <p:cNvSpPr txBox="1"/>
          <p:nvPr/>
        </p:nvSpPr>
        <p:spPr>
          <a:xfrm>
            <a:off x="731520" y="320040"/>
            <a:ext cx="10728960" cy="300000"/>
          </a:xfrm>
          <a:prstGeom prst="rect">
            <a:avLst/>
          </a:prstGeom>
          <a:noFill/>
          <a:ln>
            <a:noFill/>
          </a:ln>
        </p:spPr>
        <p:txBody>
          <a:bodyPr wrap="square" lIns="0" tIns="0" rIns="0" bIns="0" anchor="t">
            <a:normAutofit/>
          </a:bodyPr>
          <a:lstStyle/>
          <a:p>
            <a:pPr marL="0" indent="0" algn="l">
              <a:buNone/>
            </a:pPr>
            <a:r>
              <a:rPr lang="en-US" sz="1100" b="1" i="0" spc="300" dirty="0">
                <a:solidFill>
                  <a:srgbClr val="C55A11"/>
                </a:solidFill>
                <a:latin typeface="Calibri"/>
              </a:rPr>
              <a:t>ARCHITECTURE</a:t>
            </a:r>
          </a:p>
        </p:txBody>
      </p:sp>
      <p:sp>
        <p:nvSpPr>
          <p:cNvPr id="92" name="sh"/>
          <p:cNvSpPr txBox="1"/>
          <p:nvPr/>
        </p:nvSpPr>
        <p:spPr>
          <a:xfrm>
            <a:off x="731520" y="620000"/>
            <a:ext cx="10728960" cy="780000"/>
          </a:xfrm>
          <a:prstGeom prst="rect">
            <a:avLst/>
          </a:prstGeom>
          <a:noFill/>
          <a:ln>
            <a:noFill/>
          </a:ln>
        </p:spPr>
        <p:txBody>
          <a:bodyPr wrap="square" lIns="0" tIns="0" rIns="0" bIns="0" anchor="t">
            <a:normAutofit/>
          </a:bodyPr>
          <a:lstStyle/>
          <a:p>
            <a:pPr marL="0" indent="0" algn="l">
              <a:buNone/>
            </a:pPr>
            <a:r>
              <a:rPr lang="en-US" sz="2600" b="1" i="0" dirty="0">
                <a:solidFill>
                  <a:srgbClr val="1F3864"/>
                </a:solidFill>
                <a:latin typeface="Calibri"/>
              </a:rPr>
              <a:t>How a memory request flows</a:t>
            </a:r>
          </a:p>
        </p:txBody>
      </p:sp>
      <p:sp>
        <p:nvSpPr>
          <p:cNvPr id="93" name="ul"/>
          <p:cNvSpPr txBox="1"/>
          <p:nvPr/>
        </p:nvSpPr>
        <p:spPr>
          <a:xfrm>
            <a:off x="731520" y="1400000"/>
            <a:ext cx="1600000" cy="40000"/>
          </a:xfrm>
          <a:prstGeom prst="rect">
            <a:avLst/>
          </a:prstGeom>
          <a:solidFill>
            <a:srgbClr val="C55A11"/>
          </a:solidFill>
          <a:ln>
            <a:noFill/>
          </a:ln>
        </p:spPr>
        <p:txBody>
          <a:bodyPr wrap="square" lIns="137160" tIns="91440" rIns="137160" bIns="91440" anchor="t">
            <a:normAutofit/>
          </a:bodyPr>
          <a:lstStyle/>
          <a:p>
            <a:endParaRPr lang="en-US"/>
          </a:p>
        </p:txBody>
      </p:sp>
      <p:sp>
        <p:nvSpPr>
          <p:cNvPr id="94" name="sh"/>
          <p:cNvSpPr txBox="1"/>
          <p:nvPr/>
        </p:nvSpPr>
        <p:spPr>
          <a:xfrm>
            <a:off x="731520" y="6358000"/>
            <a:ext cx="6437376" cy="300000"/>
          </a:xfrm>
          <a:prstGeom prst="rect">
            <a:avLst/>
          </a:prstGeom>
          <a:noFill/>
          <a:ln>
            <a:noFill/>
          </a:ln>
        </p:spPr>
        <p:txBody>
          <a:bodyPr wrap="square" lIns="0" tIns="0" rIns="0" bIns="0" anchor="t">
            <a:normAutofit/>
          </a:bodyPr>
          <a:lstStyle/>
          <a:p>
            <a:pPr marL="0" indent="0" algn="l">
              <a:buNone/>
            </a:pPr>
            <a:r>
              <a:rPr lang="en-US" sz="1000" b="0" i="0" dirty="0">
                <a:solidFill>
                  <a:srgbClr val="8FA3BF"/>
                </a:solidFill>
                <a:latin typeface="Calibri"/>
              </a:rPr>
              <a:t>H3 cycle-accurate memory simulator</a:t>
            </a:r>
          </a:p>
        </p:txBody>
      </p:sp>
      <p:sp>
        <p:nvSpPr>
          <p:cNvPr id="95" name="sh"/>
          <p:cNvSpPr txBox="1"/>
          <p:nvPr/>
        </p:nvSpPr>
        <p:spPr>
          <a:xfrm>
            <a:off x="10760480" y="6358000"/>
            <a:ext cx="700000" cy="300000"/>
          </a:xfrm>
          <a:prstGeom prst="rect">
            <a:avLst/>
          </a:prstGeom>
          <a:noFill/>
          <a:ln>
            <a:noFill/>
          </a:ln>
        </p:spPr>
        <p:txBody>
          <a:bodyPr wrap="square" lIns="0" tIns="0" rIns="0" bIns="0" anchor="t">
            <a:normAutofit/>
          </a:bodyPr>
          <a:lstStyle/>
          <a:p>
            <a:pPr marL="0" indent="0" algn="r">
              <a:buNone/>
            </a:pPr>
            <a:r>
              <a:rPr lang="en-US" sz="1100" b="1" i="0" dirty="0">
                <a:solidFill>
                  <a:srgbClr val="8FA3BF"/>
                </a:solidFill>
                <a:latin typeface="Calibri"/>
              </a:rPr>
              <a:t>9</a:t>
            </a:r>
          </a:p>
        </p:txBody>
      </p:sp>
      <p:sp>
        <p:nvSpPr>
          <p:cNvPr id="96" name="sh"/>
          <p:cNvSpPr txBox="1"/>
          <p:nvPr/>
        </p:nvSpPr>
        <p:spPr>
          <a:xfrm>
            <a:off x="731520" y="1720000"/>
            <a:ext cx="2050000" cy="620000"/>
          </a:xfrm>
          <a:prstGeom prst="roundRect">
            <a:avLst>
              <a:gd name="adj" fmla="val 12000"/>
            </a:avLst>
          </a:prstGeom>
          <a:solidFill>
            <a:srgbClr val="1F3864"/>
          </a:solidFill>
          <a:ln>
            <a:noFill/>
          </a:ln>
        </p:spPr>
        <p:txBody>
          <a:bodyPr wrap="square" lIns="68580" tIns="45720" rIns="68580" bIns="45720" anchor="ctr">
            <a:normAutofit/>
          </a:bodyPr>
          <a:lstStyle/>
          <a:p>
            <a:pPr marL="0" indent="0" algn="ctr">
              <a:buNone/>
            </a:pPr>
            <a:r>
              <a:rPr lang="en-US" sz="1300" b="1" i="0" dirty="0">
                <a:solidFill>
                  <a:srgbClr val="FFFFFF"/>
                </a:solidFill>
                <a:latin typeface="Calibri"/>
              </a:rPr>
              <a:t>GPU cores</a:t>
            </a:r>
          </a:p>
          <a:p>
            <a:pPr marL="0" indent="0" algn="ctr">
              <a:spcBef>
                <a:spcPts val="80"/>
              </a:spcBef>
              <a:buNone/>
            </a:pPr>
            <a:r>
              <a:rPr lang="en-US" sz="950" b="0" i="0" dirty="0">
                <a:solidFill>
                  <a:srgbClr val="FFFFFF"/>
                </a:solidFill>
                <a:latin typeface="Calibri"/>
              </a:rPr>
              <a:t>Accel-Sim / GPGPU-Sim</a:t>
            </a:r>
          </a:p>
        </p:txBody>
      </p:sp>
      <p:sp>
        <p:nvSpPr>
          <p:cNvPr id="97" name="sh"/>
          <p:cNvSpPr txBox="1"/>
          <p:nvPr/>
        </p:nvSpPr>
        <p:spPr>
          <a:xfrm>
            <a:off x="2841520" y="1940000"/>
            <a:ext cx="420000" cy="180000"/>
          </a:xfrm>
          <a:prstGeom prst="rightArrow">
            <a:avLst>
              <a:gd name="adj1" fmla="val 50000"/>
              <a:gd name="adj2" fmla="val 50000"/>
            </a:avLst>
          </a:prstGeom>
          <a:solidFill>
            <a:srgbClr val="8FA3BF"/>
          </a:solidFill>
          <a:ln>
            <a:noFill/>
          </a:ln>
        </p:spPr>
        <p:txBody>
          <a:bodyPr wrap="square" lIns="137160" tIns="91440" rIns="137160" bIns="91440" anchor="t">
            <a:normAutofit/>
          </a:bodyPr>
          <a:lstStyle/>
          <a:p>
            <a:endParaRPr lang="en-US"/>
          </a:p>
        </p:txBody>
      </p:sp>
      <p:sp>
        <p:nvSpPr>
          <p:cNvPr id="98" name="sh"/>
          <p:cNvSpPr txBox="1"/>
          <p:nvPr/>
        </p:nvSpPr>
        <p:spPr>
          <a:xfrm>
            <a:off x="3321520" y="1720000"/>
            <a:ext cx="2050000" cy="620000"/>
          </a:xfrm>
          <a:prstGeom prst="roundRect">
            <a:avLst>
              <a:gd name="adj" fmla="val 12000"/>
            </a:avLst>
          </a:prstGeom>
          <a:solidFill>
            <a:srgbClr val="1F3864"/>
          </a:solidFill>
          <a:ln>
            <a:noFill/>
          </a:ln>
        </p:spPr>
        <p:txBody>
          <a:bodyPr wrap="square" lIns="68580" tIns="45720" rIns="68580" bIns="45720" anchor="ctr">
            <a:normAutofit/>
          </a:bodyPr>
          <a:lstStyle/>
          <a:p>
            <a:pPr marL="0" indent="0" algn="ctr">
              <a:buNone/>
            </a:pPr>
            <a:r>
              <a:rPr lang="en-US" sz="1300" b="1" i="0" dirty="0">
                <a:solidFill>
                  <a:srgbClr val="FFFFFF"/>
                </a:solidFill>
                <a:latin typeface="Calibri"/>
              </a:rPr>
              <a:t>L2 cache</a:t>
            </a:r>
          </a:p>
          <a:p>
            <a:pPr marL="0" indent="0" algn="ctr">
              <a:spcBef>
                <a:spcPts val="80"/>
              </a:spcBef>
              <a:buNone/>
            </a:pPr>
            <a:r>
              <a:rPr lang="en-US" sz="950" b="0" i="0" dirty="0">
                <a:solidFill>
                  <a:srgbClr val="FFFFFF"/>
                </a:solidFill>
                <a:latin typeface="Calibri"/>
              </a:rPr>
              <a:t>memory partition x40</a:t>
            </a:r>
          </a:p>
        </p:txBody>
      </p:sp>
      <p:sp>
        <p:nvSpPr>
          <p:cNvPr id="99" name="sh"/>
          <p:cNvSpPr txBox="1"/>
          <p:nvPr/>
        </p:nvSpPr>
        <p:spPr>
          <a:xfrm>
            <a:off x="5431520" y="1940000"/>
            <a:ext cx="420000" cy="180000"/>
          </a:xfrm>
          <a:prstGeom prst="rightArrow">
            <a:avLst>
              <a:gd name="adj1" fmla="val 50000"/>
              <a:gd name="adj2" fmla="val 50000"/>
            </a:avLst>
          </a:prstGeom>
          <a:solidFill>
            <a:srgbClr val="8FA3BF"/>
          </a:solidFill>
          <a:ln>
            <a:noFill/>
          </a:ln>
        </p:spPr>
        <p:txBody>
          <a:bodyPr wrap="square" lIns="137160" tIns="91440" rIns="137160" bIns="91440" anchor="t">
            <a:normAutofit/>
          </a:bodyPr>
          <a:lstStyle/>
          <a:p>
            <a:endParaRPr lang="en-US"/>
          </a:p>
        </p:txBody>
      </p:sp>
      <p:sp>
        <p:nvSpPr>
          <p:cNvPr id="100" name="sh"/>
          <p:cNvSpPr txBox="1"/>
          <p:nvPr/>
        </p:nvSpPr>
        <p:spPr>
          <a:xfrm>
            <a:off x="5911520" y="1720000"/>
            <a:ext cx="2450000" cy="620000"/>
          </a:xfrm>
          <a:prstGeom prst="roundRect">
            <a:avLst>
              <a:gd name="adj" fmla="val 12000"/>
            </a:avLst>
          </a:prstGeom>
          <a:solidFill>
            <a:srgbClr val="C55A11"/>
          </a:solidFill>
          <a:ln>
            <a:noFill/>
          </a:ln>
        </p:spPr>
        <p:txBody>
          <a:bodyPr wrap="square" lIns="68580" tIns="45720" rIns="68580" bIns="45720" anchor="ctr">
            <a:normAutofit/>
          </a:bodyPr>
          <a:lstStyle/>
          <a:p>
            <a:pPr marL="0" indent="0" algn="ctr">
              <a:buNone/>
            </a:pPr>
            <a:r>
              <a:rPr lang="en-US" sz="1300" b="1" i="0" dirty="0">
                <a:solidFill>
                  <a:srgbClr val="FFFFFF"/>
                </a:solidFill>
                <a:latin typeface="Calibri"/>
              </a:rPr>
              <a:t>H3 address router</a:t>
            </a:r>
          </a:p>
          <a:p>
            <a:pPr marL="0" indent="0" algn="ctr">
              <a:spcBef>
                <a:spcPts val="80"/>
              </a:spcBef>
              <a:buNone/>
            </a:pPr>
            <a:r>
              <a:rPr lang="en-US" sz="950" b="0" i="0" dirty="0">
                <a:solidFill>
                  <a:srgbClr val="FFFFFF"/>
                </a:solidFill>
                <a:latin typeface="Calibri"/>
              </a:rPr>
              <a:t>HBM or flash?</a:t>
            </a:r>
          </a:p>
        </p:txBody>
      </p:sp>
      <p:sp>
        <p:nvSpPr>
          <p:cNvPr id="101" name="sh"/>
          <p:cNvSpPr txBox="1"/>
          <p:nvPr/>
        </p:nvSpPr>
        <p:spPr>
          <a:xfrm>
            <a:off x="6211520" y="2400000"/>
            <a:ext cx="400000" cy="380000"/>
          </a:xfrm>
          <a:prstGeom prst="downArrow">
            <a:avLst>
              <a:gd name="adj1" fmla="val 50000"/>
              <a:gd name="adj2" fmla="val 50000"/>
            </a:avLst>
          </a:prstGeom>
          <a:solidFill>
            <a:srgbClr val="8FA3BF"/>
          </a:solidFill>
          <a:ln>
            <a:noFill/>
          </a:ln>
        </p:spPr>
        <p:txBody>
          <a:bodyPr wrap="square" lIns="137160" tIns="91440" rIns="137160" bIns="91440" anchor="t">
            <a:normAutofit/>
          </a:bodyPr>
          <a:lstStyle/>
          <a:p>
            <a:endParaRPr lang="en-US"/>
          </a:p>
        </p:txBody>
      </p:sp>
      <p:sp>
        <p:nvSpPr>
          <p:cNvPr id="102" name="sh"/>
          <p:cNvSpPr txBox="1"/>
          <p:nvPr/>
        </p:nvSpPr>
        <p:spPr>
          <a:xfrm>
            <a:off x="731520" y="2860000"/>
            <a:ext cx="2450000" cy="620000"/>
          </a:xfrm>
          <a:prstGeom prst="roundRect">
            <a:avLst>
              <a:gd name="adj" fmla="val 12000"/>
            </a:avLst>
          </a:prstGeom>
          <a:solidFill>
            <a:srgbClr val="2E5C8A"/>
          </a:solidFill>
          <a:ln>
            <a:noFill/>
          </a:ln>
        </p:spPr>
        <p:txBody>
          <a:bodyPr wrap="square" lIns="68580" tIns="45720" rIns="68580" bIns="45720" anchor="ctr">
            <a:normAutofit/>
          </a:bodyPr>
          <a:lstStyle/>
          <a:p>
            <a:pPr marL="0" indent="0" algn="ctr">
              <a:buNone/>
            </a:pPr>
            <a:r>
              <a:rPr lang="en-US" sz="1300" b="1" i="0" dirty="0">
                <a:solidFill>
                  <a:srgbClr val="FFFFFF"/>
                </a:solidFill>
                <a:latin typeface="Calibri"/>
              </a:rPr>
              <a:t>HBM3e</a:t>
            </a:r>
          </a:p>
          <a:p>
            <a:pPr marL="0" indent="0" algn="ctr">
              <a:spcBef>
                <a:spcPts val="80"/>
              </a:spcBef>
              <a:buNone/>
            </a:pPr>
            <a:r>
              <a:rPr lang="en-US" sz="950" b="0" i="0" dirty="0">
                <a:solidFill>
                  <a:srgbClr val="FFFFFF"/>
                </a:solidFill>
                <a:latin typeface="Calibri"/>
              </a:rPr>
              <a:t>192 GB - 19.5 ns</a:t>
            </a:r>
          </a:p>
        </p:txBody>
      </p:sp>
      <p:sp>
        <p:nvSpPr>
          <p:cNvPr id="103" name="sh"/>
          <p:cNvSpPr txBox="1"/>
          <p:nvPr/>
        </p:nvSpPr>
        <p:spPr>
          <a:xfrm>
            <a:off x="5911520" y="2860000"/>
            <a:ext cx="2450000" cy="620000"/>
          </a:xfrm>
          <a:prstGeom prst="roundRect">
            <a:avLst>
              <a:gd name="adj" fmla="val 12000"/>
            </a:avLst>
          </a:prstGeom>
          <a:solidFill>
            <a:srgbClr val="C55A11"/>
          </a:solidFill>
          <a:ln>
            <a:noFill/>
          </a:ln>
        </p:spPr>
        <p:txBody>
          <a:bodyPr wrap="square" lIns="68580" tIns="45720" rIns="68580" bIns="45720" anchor="ctr">
            <a:normAutofit/>
          </a:bodyPr>
          <a:lstStyle/>
          <a:p>
            <a:pPr marL="0" indent="0" algn="ctr">
              <a:buNone/>
            </a:pPr>
            <a:r>
              <a:rPr lang="en-US" sz="1300" b="1" i="0" dirty="0">
                <a:solidFill>
                  <a:srgbClr val="FFFFFF"/>
                </a:solidFill>
                <a:latin typeface="Calibri"/>
              </a:rPr>
              <a:t>Latency hiding buffer</a:t>
            </a:r>
          </a:p>
          <a:p>
            <a:pPr marL="0" indent="0" algn="ctr">
              <a:spcBef>
                <a:spcPts val="80"/>
              </a:spcBef>
              <a:buNone/>
            </a:pPr>
            <a:r>
              <a:rPr lang="en-US" sz="950" b="0" i="0" dirty="0">
                <a:solidFill>
                  <a:srgbClr val="FFFFFF"/>
                </a:solidFill>
                <a:latin typeface="Calibri"/>
              </a:rPr>
              <a:t>40 MB SRAM - 2 ns</a:t>
            </a:r>
          </a:p>
        </p:txBody>
      </p:sp>
      <p:sp>
        <p:nvSpPr>
          <p:cNvPr id="104" name="sh"/>
          <p:cNvSpPr txBox="1"/>
          <p:nvPr/>
        </p:nvSpPr>
        <p:spPr>
          <a:xfrm>
            <a:off x="6211520" y="3560000"/>
            <a:ext cx="400000" cy="380000"/>
          </a:xfrm>
          <a:prstGeom prst="downArrow">
            <a:avLst>
              <a:gd name="adj1" fmla="val 50000"/>
              <a:gd name="adj2" fmla="val 50000"/>
            </a:avLst>
          </a:prstGeom>
          <a:solidFill>
            <a:srgbClr val="8FA3BF"/>
          </a:solidFill>
          <a:ln>
            <a:noFill/>
          </a:ln>
        </p:spPr>
        <p:txBody>
          <a:bodyPr wrap="square" lIns="137160" tIns="91440" rIns="137160" bIns="91440" anchor="t">
            <a:normAutofit/>
          </a:bodyPr>
          <a:lstStyle/>
          <a:p>
            <a:endParaRPr lang="en-US"/>
          </a:p>
        </p:txBody>
      </p:sp>
      <p:sp>
        <p:nvSpPr>
          <p:cNvPr id="105" name="sh"/>
          <p:cNvSpPr txBox="1"/>
          <p:nvPr/>
        </p:nvSpPr>
        <p:spPr>
          <a:xfrm>
            <a:off x="5911520" y="4040000"/>
            <a:ext cx="2450000" cy="620000"/>
          </a:xfrm>
          <a:prstGeom prst="roundRect">
            <a:avLst>
              <a:gd name="adj" fmla="val 12000"/>
            </a:avLst>
          </a:prstGeom>
          <a:solidFill>
            <a:srgbClr val="7A3E00"/>
          </a:solidFill>
          <a:ln>
            <a:noFill/>
          </a:ln>
        </p:spPr>
        <p:txBody>
          <a:bodyPr wrap="square" lIns="68580" tIns="45720" rIns="68580" bIns="45720" anchor="ctr">
            <a:normAutofit/>
          </a:bodyPr>
          <a:lstStyle/>
          <a:p>
            <a:pPr marL="0" indent="0" algn="ctr">
              <a:buNone/>
            </a:pPr>
            <a:r>
              <a:rPr lang="en-US" sz="1300" b="1" i="0" dirty="0">
                <a:solidFill>
                  <a:srgbClr val="FFFFFF"/>
                </a:solidFill>
                <a:latin typeface="Calibri"/>
              </a:rPr>
              <a:t>HBF flash</a:t>
            </a:r>
          </a:p>
          <a:p>
            <a:pPr marL="0" indent="0" algn="ctr">
              <a:spcBef>
                <a:spcPts val="80"/>
              </a:spcBef>
              <a:buNone/>
            </a:pPr>
            <a:r>
              <a:rPr lang="en-US" sz="950" b="0" i="0" dirty="0">
                <a:solidFill>
                  <a:srgbClr val="FFFFFF"/>
                </a:solidFill>
                <a:latin typeface="Calibri"/>
              </a:rPr>
              <a:t>3 TB - 20 microseconds</a:t>
            </a:r>
          </a:p>
        </p:txBody>
      </p:sp>
      <p:sp>
        <p:nvSpPr>
          <p:cNvPr id="106" name="sh"/>
          <p:cNvSpPr txBox="1"/>
          <p:nvPr/>
        </p:nvSpPr>
        <p:spPr>
          <a:xfrm>
            <a:off x="731520" y="4040000"/>
            <a:ext cx="2450000" cy="620000"/>
          </a:xfrm>
          <a:prstGeom prst="roundRect">
            <a:avLst>
              <a:gd name="adj" fmla="val 12000"/>
            </a:avLst>
          </a:prstGeom>
          <a:solidFill>
            <a:srgbClr val="F5F7FA"/>
          </a:solidFill>
          <a:ln>
            <a:noFill/>
          </a:ln>
        </p:spPr>
        <p:txBody>
          <a:bodyPr wrap="square" lIns="68580" tIns="45720" rIns="68580" bIns="45720" anchor="ctr">
            <a:normAutofit/>
          </a:bodyPr>
          <a:lstStyle/>
          <a:p>
            <a:pPr marL="0" indent="0" algn="ctr">
              <a:buNone/>
            </a:pPr>
            <a:r>
              <a:rPr lang="en-US" sz="1150" b="0" i="0" dirty="0">
                <a:solidFill>
                  <a:srgbClr val="1A1D21"/>
                </a:solidFill>
                <a:latin typeface="Calibri"/>
              </a:rPr>
              <a:t>Prefetch scheduler feeds the buffer ahead of time</a:t>
            </a:r>
          </a:p>
        </p:txBody>
      </p:sp>
      <p:sp>
        <p:nvSpPr>
          <p:cNvPr id="107" name="nb"/>
          <p:cNvSpPr txBox="1"/>
          <p:nvPr/>
        </p:nvSpPr>
        <p:spPr>
          <a:xfrm>
            <a:off x="731520" y="5250000"/>
            <a:ext cx="68580" cy="950000"/>
          </a:xfrm>
          <a:prstGeom prst="rect">
            <a:avLst/>
          </a:prstGeom>
          <a:solidFill>
            <a:srgbClr val="C55A11"/>
          </a:solidFill>
          <a:ln>
            <a:noFill/>
          </a:ln>
        </p:spPr>
        <p:txBody>
          <a:bodyPr wrap="square" lIns="137160" tIns="91440" rIns="137160" bIns="91440" anchor="t">
            <a:normAutofit/>
          </a:bodyPr>
          <a:lstStyle/>
          <a:p>
            <a:endParaRPr lang="en-US"/>
          </a:p>
        </p:txBody>
      </p:sp>
      <p:sp>
        <p:nvSpPr>
          <p:cNvPr id="108" name="sh"/>
          <p:cNvSpPr txBox="1"/>
          <p:nvPr/>
        </p:nvSpPr>
        <p:spPr>
          <a:xfrm>
            <a:off x="800100" y="5250000"/>
            <a:ext cx="10660380" cy="950000"/>
          </a:xfrm>
          <a:prstGeom prst="rect">
            <a:avLst/>
          </a:prstGeom>
          <a:solidFill>
            <a:srgbClr val="EAEFF6"/>
          </a:solidFill>
          <a:ln>
            <a:noFill/>
          </a:ln>
        </p:spPr>
        <p:txBody>
          <a:bodyPr wrap="square" lIns="137160" tIns="91440" rIns="137160" bIns="91440" anchor="t">
            <a:normAutofit/>
          </a:bodyPr>
          <a:lstStyle/>
          <a:p>
            <a:pPr marL="0" indent="0" algn="l">
              <a:buNone/>
            </a:pPr>
            <a:r>
              <a:rPr lang="en-US" sz="1000" b="1" i="0" spc="200" dirty="0">
                <a:solidFill>
                  <a:srgbClr val="C55A11"/>
                </a:solidFill>
                <a:latin typeface="Calibri"/>
              </a:rPr>
              <a:t>IN PLAIN WORDS</a:t>
            </a:r>
          </a:p>
          <a:p>
            <a:pPr marL="0" indent="0" algn="l">
              <a:spcBef>
                <a:spcPts val="250"/>
              </a:spcBef>
              <a:buNone/>
            </a:pPr>
            <a:r>
              <a:rPr lang="en-US" sz="1400" b="0" i="0" dirty="0">
                <a:solidFill>
                  <a:srgbClr val="1A1D21"/>
                </a:solidFill>
                <a:latin typeface="Calibri"/>
              </a:rPr>
              <a:t>A request leaves the GPU, passes through cache, then the router decides whether it belongs in fast HBM or slow flash. Flash requests go through the buffer, which usually already has the data because the scheduler fetched it in advance.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bg"/>
          <p:cNvSpPr txBox="1"/>
          <p:nvPr/>
        </p:nvSpPr>
        <p:spPr>
          <a:xfrm>
            <a:off x="0" y="0"/>
            <a:ext cx="12192000" cy="6858000"/>
          </a:xfrm>
          <a:prstGeom prst="rect">
            <a:avLst/>
          </a:prstGeom>
          <a:solidFill>
            <a:srgbClr val="1F3864"/>
          </a:solidFill>
          <a:ln>
            <a:noFill/>
          </a:ln>
        </p:spPr>
        <p:txBody>
          <a:bodyPr wrap="square" lIns="137160" tIns="91440" rIns="137160" bIns="91440" anchor="t">
            <a:normAutofit/>
          </a:bodyPr>
          <a:lstStyle/>
          <a:p>
            <a:endParaRPr lang="en-US"/>
          </a:p>
        </p:txBody>
      </p:sp>
      <p:sp>
        <p:nvSpPr>
          <p:cNvPr id="110" name="sh"/>
          <p:cNvSpPr txBox="1"/>
          <p:nvPr/>
        </p:nvSpPr>
        <p:spPr>
          <a:xfrm>
            <a:off x="0" y="0"/>
            <a:ext cx="12192000" cy="137160"/>
          </a:xfrm>
          <a:prstGeom prst="rect">
            <a:avLst/>
          </a:prstGeom>
          <a:solidFill>
            <a:srgbClr val="C55A11"/>
          </a:solidFill>
          <a:ln>
            <a:noFill/>
          </a:ln>
        </p:spPr>
        <p:txBody>
          <a:bodyPr wrap="square" lIns="137160" tIns="91440" rIns="137160" bIns="91440" anchor="t">
            <a:normAutofit/>
          </a:bodyPr>
          <a:lstStyle/>
          <a:p>
            <a:endParaRPr lang="en-US"/>
          </a:p>
        </p:txBody>
      </p:sp>
      <p:sp>
        <p:nvSpPr>
          <p:cNvPr id="111" name="sh"/>
          <p:cNvSpPr txBox="1"/>
          <p:nvPr/>
        </p:nvSpPr>
        <p:spPr>
          <a:xfrm>
            <a:off x="731520" y="2100000"/>
            <a:ext cx="3000000" cy="1800000"/>
          </a:xfrm>
          <a:prstGeom prst="rect">
            <a:avLst/>
          </a:prstGeom>
          <a:noFill/>
          <a:ln>
            <a:noFill/>
          </a:ln>
        </p:spPr>
        <p:txBody>
          <a:bodyPr wrap="square" lIns="0" tIns="0" rIns="0" bIns="0" anchor="t">
            <a:normAutofit/>
          </a:bodyPr>
          <a:lstStyle/>
          <a:p>
            <a:pPr marL="0" indent="0" algn="l">
              <a:buNone/>
            </a:pPr>
            <a:r>
              <a:rPr lang="en-US" sz="12000" b="1" i="0" dirty="0">
                <a:solidFill>
                  <a:srgbClr val="2C4F80"/>
                </a:solidFill>
                <a:latin typeface="Calibri"/>
              </a:rPr>
              <a:t>03</a:t>
            </a:r>
          </a:p>
        </p:txBody>
      </p:sp>
      <p:sp>
        <p:nvSpPr>
          <p:cNvPr id="112" name="sh"/>
          <p:cNvSpPr txBox="1"/>
          <p:nvPr/>
        </p:nvSpPr>
        <p:spPr>
          <a:xfrm>
            <a:off x="2031520" y="2600000"/>
            <a:ext cx="9428960" cy="900000"/>
          </a:xfrm>
          <a:prstGeom prst="rect">
            <a:avLst/>
          </a:prstGeom>
          <a:noFill/>
          <a:ln>
            <a:noFill/>
          </a:ln>
        </p:spPr>
        <p:txBody>
          <a:bodyPr wrap="square" lIns="0" tIns="0" rIns="0" bIns="0" anchor="t">
            <a:normAutofit/>
          </a:bodyPr>
          <a:lstStyle/>
          <a:p>
            <a:pPr marL="0" indent="0" algn="l">
              <a:buNone/>
            </a:pPr>
            <a:r>
              <a:rPr lang="en-US" sz="3400" b="1" i="0" dirty="0">
                <a:solidFill>
                  <a:srgbClr val="FFFFFF"/>
                </a:solidFill>
                <a:latin typeface="Calibri"/>
              </a:rPr>
              <a:t>The components we wrote</a:t>
            </a:r>
          </a:p>
        </p:txBody>
      </p:sp>
      <p:sp>
        <p:nvSpPr>
          <p:cNvPr id="113" name="sh"/>
          <p:cNvSpPr txBox="1"/>
          <p:nvPr/>
        </p:nvSpPr>
        <p:spPr>
          <a:xfrm>
            <a:off x="2031520" y="3600000"/>
            <a:ext cx="9428960" cy="600000"/>
          </a:xfrm>
          <a:prstGeom prst="rect">
            <a:avLst/>
          </a:prstGeom>
          <a:noFill/>
          <a:ln>
            <a:noFill/>
          </a:ln>
        </p:spPr>
        <p:txBody>
          <a:bodyPr wrap="square" lIns="0" tIns="0" rIns="0" bIns="0" anchor="t">
            <a:normAutofit/>
          </a:bodyPr>
          <a:lstStyle/>
          <a:p>
            <a:pPr marL="0" indent="0" algn="l">
              <a:buNone/>
            </a:pPr>
            <a:r>
              <a:rPr lang="en-US" sz="1500" b="0" i="0" dirty="0">
                <a:solidFill>
                  <a:srgbClr val="9DB2D4"/>
                </a:solidFill>
                <a:latin typeface="Calibri"/>
              </a:rPr>
              <a:t>Four pieces, and the decisions behind them</a:t>
            </a:r>
          </a:p>
        </p:txBody>
      </p:sp>
      <p:sp>
        <p:nvSpPr>
          <p:cNvPr id="114" name="sh"/>
          <p:cNvSpPr txBox="1"/>
          <p:nvPr/>
        </p:nvSpPr>
        <p:spPr>
          <a:xfrm>
            <a:off x="10760480" y="6358000"/>
            <a:ext cx="700000" cy="300000"/>
          </a:xfrm>
          <a:prstGeom prst="rect">
            <a:avLst/>
          </a:prstGeom>
          <a:noFill/>
          <a:ln>
            <a:noFill/>
          </a:ln>
        </p:spPr>
        <p:txBody>
          <a:bodyPr wrap="square" lIns="0" tIns="0" rIns="0" bIns="0" anchor="t">
            <a:normAutofit/>
          </a:bodyPr>
          <a:lstStyle/>
          <a:p>
            <a:pPr marL="0" indent="0" algn="r">
              <a:buNone/>
            </a:pPr>
            <a:r>
              <a:rPr lang="en-US" sz="1100" b="1" i="0" dirty="0">
                <a:solidFill>
                  <a:srgbClr val="5C7BA6"/>
                </a:solidFill>
                <a:latin typeface="Calibr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rule"/>
          <p:cNvSpPr txBox="1"/>
          <p:nvPr/>
        </p:nvSpPr>
        <p:spPr>
          <a:xfrm>
            <a:off x="0" y="0"/>
            <a:ext cx="12192000" cy="68580"/>
          </a:xfrm>
          <a:prstGeom prst="rect">
            <a:avLst/>
          </a:prstGeom>
          <a:solidFill>
            <a:srgbClr val="C55A11"/>
          </a:solidFill>
          <a:ln>
            <a:noFill/>
          </a:ln>
        </p:spPr>
        <p:txBody>
          <a:bodyPr wrap="square" lIns="137160" tIns="91440" rIns="137160" bIns="91440" anchor="t">
            <a:normAutofit/>
          </a:bodyPr>
          <a:lstStyle/>
          <a:p>
            <a:endParaRPr lang="en-US"/>
          </a:p>
        </p:txBody>
      </p:sp>
      <p:sp>
        <p:nvSpPr>
          <p:cNvPr id="116" name="spine"/>
          <p:cNvSpPr txBox="1"/>
          <p:nvPr/>
        </p:nvSpPr>
        <p:spPr>
          <a:xfrm>
            <a:off x="0" y="68580"/>
            <a:ext cx="137160" cy="6789420"/>
          </a:xfrm>
          <a:prstGeom prst="rect">
            <a:avLst/>
          </a:prstGeom>
          <a:solidFill>
            <a:srgbClr val="1F3864"/>
          </a:solidFill>
          <a:ln>
            <a:noFill/>
          </a:ln>
        </p:spPr>
        <p:txBody>
          <a:bodyPr wrap="square" lIns="137160" tIns="91440" rIns="137160" bIns="91440" anchor="t">
            <a:normAutofit/>
          </a:bodyPr>
          <a:lstStyle/>
          <a:p>
            <a:endParaRPr lang="en-US"/>
          </a:p>
        </p:txBody>
      </p:sp>
      <p:sp>
        <p:nvSpPr>
          <p:cNvPr id="117" name="sh"/>
          <p:cNvSpPr txBox="1"/>
          <p:nvPr/>
        </p:nvSpPr>
        <p:spPr>
          <a:xfrm>
            <a:off x="731520" y="320040"/>
            <a:ext cx="10728960" cy="300000"/>
          </a:xfrm>
          <a:prstGeom prst="rect">
            <a:avLst/>
          </a:prstGeom>
          <a:noFill/>
          <a:ln>
            <a:noFill/>
          </a:ln>
        </p:spPr>
        <p:txBody>
          <a:bodyPr wrap="square" lIns="0" tIns="0" rIns="0" bIns="0" anchor="t">
            <a:normAutofit/>
          </a:bodyPr>
          <a:lstStyle/>
          <a:p>
            <a:pPr marL="0" indent="0" algn="l">
              <a:buNone/>
            </a:pPr>
            <a:r>
              <a:rPr lang="en-US" sz="1100" b="1" i="0" spc="300" dirty="0">
                <a:solidFill>
                  <a:srgbClr val="C55A11"/>
                </a:solidFill>
                <a:latin typeface="Calibri"/>
              </a:rPr>
              <a:t>FLASH MODEL</a:t>
            </a:r>
          </a:p>
        </p:txBody>
      </p:sp>
      <p:sp>
        <p:nvSpPr>
          <p:cNvPr id="118" name="sh"/>
          <p:cNvSpPr txBox="1"/>
          <p:nvPr/>
        </p:nvSpPr>
        <p:spPr>
          <a:xfrm>
            <a:off x="731520" y="620000"/>
            <a:ext cx="10728960" cy="780000"/>
          </a:xfrm>
          <a:prstGeom prst="rect">
            <a:avLst/>
          </a:prstGeom>
          <a:noFill/>
          <a:ln>
            <a:noFill/>
          </a:ln>
        </p:spPr>
        <p:txBody>
          <a:bodyPr wrap="square" lIns="0" tIns="0" rIns="0" bIns="0" anchor="t">
            <a:normAutofit/>
          </a:bodyPr>
          <a:lstStyle/>
          <a:p>
            <a:pPr marL="0" indent="0" algn="l">
              <a:buNone/>
            </a:pPr>
            <a:r>
              <a:rPr lang="en-US" sz="2600" b="1" i="0" dirty="0">
                <a:solidFill>
                  <a:srgbClr val="1F3864"/>
                </a:solidFill>
                <a:latin typeface="Calibri"/>
              </a:rPr>
              <a:t>Building the flash memory model</a:t>
            </a:r>
          </a:p>
        </p:txBody>
      </p:sp>
      <p:sp>
        <p:nvSpPr>
          <p:cNvPr id="119" name="ul"/>
          <p:cNvSpPr txBox="1"/>
          <p:nvPr/>
        </p:nvSpPr>
        <p:spPr>
          <a:xfrm>
            <a:off x="731520" y="1400000"/>
            <a:ext cx="1600000" cy="40000"/>
          </a:xfrm>
          <a:prstGeom prst="rect">
            <a:avLst/>
          </a:prstGeom>
          <a:solidFill>
            <a:srgbClr val="C55A11"/>
          </a:solidFill>
          <a:ln>
            <a:noFill/>
          </a:ln>
        </p:spPr>
        <p:txBody>
          <a:bodyPr wrap="square" lIns="137160" tIns="91440" rIns="137160" bIns="91440" anchor="t">
            <a:normAutofit/>
          </a:bodyPr>
          <a:lstStyle/>
          <a:p>
            <a:endParaRPr lang="en-US"/>
          </a:p>
        </p:txBody>
      </p:sp>
      <p:sp>
        <p:nvSpPr>
          <p:cNvPr id="120" name="sh"/>
          <p:cNvSpPr txBox="1"/>
          <p:nvPr/>
        </p:nvSpPr>
        <p:spPr>
          <a:xfrm>
            <a:off x="731520" y="6358000"/>
            <a:ext cx="6437376" cy="300000"/>
          </a:xfrm>
          <a:prstGeom prst="rect">
            <a:avLst/>
          </a:prstGeom>
          <a:noFill/>
          <a:ln>
            <a:noFill/>
          </a:ln>
        </p:spPr>
        <p:txBody>
          <a:bodyPr wrap="square" lIns="0" tIns="0" rIns="0" bIns="0" anchor="t">
            <a:normAutofit/>
          </a:bodyPr>
          <a:lstStyle/>
          <a:p>
            <a:pPr marL="0" indent="0" algn="l">
              <a:buNone/>
            </a:pPr>
            <a:r>
              <a:rPr lang="en-US" sz="1000" b="0" i="0" dirty="0">
                <a:solidFill>
                  <a:srgbClr val="8FA3BF"/>
                </a:solidFill>
                <a:latin typeface="Calibri"/>
              </a:rPr>
              <a:t>H3 cycle-accurate memory simulator</a:t>
            </a:r>
          </a:p>
        </p:txBody>
      </p:sp>
      <p:sp>
        <p:nvSpPr>
          <p:cNvPr id="121" name="sh"/>
          <p:cNvSpPr txBox="1"/>
          <p:nvPr/>
        </p:nvSpPr>
        <p:spPr>
          <a:xfrm>
            <a:off x="10760480" y="6358000"/>
            <a:ext cx="700000" cy="300000"/>
          </a:xfrm>
          <a:prstGeom prst="rect">
            <a:avLst/>
          </a:prstGeom>
          <a:noFill/>
          <a:ln>
            <a:noFill/>
          </a:ln>
        </p:spPr>
        <p:txBody>
          <a:bodyPr wrap="square" lIns="0" tIns="0" rIns="0" bIns="0" anchor="t">
            <a:normAutofit/>
          </a:bodyPr>
          <a:lstStyle/>
          <a:p>
            <a:pPr marL="0" indent="0" algn="r">
              <a:buNone/>
            </a:pPr>
            <a:r>
              <a:rPr lang="en-US" sz="1100" b="1" i="0" dirty="0">
                <a:solidFill>
                  <a:srgbClr val="8FA3BF"/>
                </a:solidFill>
                <a:latin typeface="Calibri"/>
              </a:rPr>
              <a:t>11</a:t>
            </a:r>
          </a:p>
        </p:txBody>
      </p:sp>
      <p:sp>
        <p:nvSpPr>
          <p:cNvPr id="122" name="sh"/>
          <p:cNvSpPr txBox="1"/>
          <p:nvPr/>
        </p:nvSpPr>
        <p:spPr>
          <a:xfrm>
            <a:off x="731520" y="1560000"/>
            <a:ext cx="10728960" cy="3200000"/>
          </a:xfrm>
          <a:prstGeom prst="rect">
            <a:avLst/>
          </a:prstGeom>
          <a:noFill/>
          <a:ln>
            <a:noFill/>
          </a:ln>
        </p:spPr>
        <p:txBody>
          <a:bodyPr wrap="square" lIns="0" tIns="0" rIns="0" bIns="0" anchor="t">
            <a:normAutofit/>
          </a:bodyPr>
          <a:lstStyle/>
          <a:p>
            <a:pPr marL="228600" indent="-228600" algn="l">
              <a:spcBef>
                <a:spcPts val="520"/>
              </a:spcBef>
              <a:buClr>
                <a:srgbClr val="C55A11"/>
              </a:buClr>
              <a:buSzPct val="90000"/>
              <a:buFont typeface="Arial"/>
              <a:buChar char="■"/>
            </a:pPr>
            <a:r>
              <a:rPr lang="en-US" sz="1550" b="0" i="0" dirty="0">
                <a:solidFill>
                  <a:srgbClr val="1A1D21"/>
                </a:solidFill>
                <a:latin typeface="Calibri"/>
              </a:rPr>
              <a:t>Found that Ramulator's memory models are GENERATED from Python, not hand-written</a:t>
            </a:r>
          </a:p>
          <a:p>
            <a:pPr marL="457200" indent="-228600" algn="l">
              <a:spcBef>
                <a:spcPts val="380"/>
              </a:spcBef>
              <a:buClr>
                <a:srgbClr val="8FA3BF"/>
              </a:buClr>
              <a:buSzPct val="90000"/>
              <a:buFont typeface="Arial"/>
              <a:buChar char="–"/>
            </a:pPr>
            <a:r>
              <a:rPr lang="en-US" sz="1400" b="0" i="0" dirty="0">
                <a:solidFill>
                  <a:srgbClr val="5F6368"/>
                </a:solidFill>
                <a:latin typeface="Calibri"/>
              </a:rPr>
              <a:t>The C++ files carry an AUTO-GENERATED, DO NOT EDIT banner</a:t>
            </a:r>
          </a:p>
          <a:p>
            <a:pPr marL="228600" indent="-228600" algn="l">
              <a:spcBef>
                <a:spcPts val="520"/>
              </a:spcBef>
              <a:buClr>
                <a:srgbClr val="C55A11"/>
              </a:buClr>
              <a:buSzPct val="90000"/>
              <a:buFont typeface="Arial"/>
              <a:buChar char="■"/>
            </a:pPr>
            <a:r>
              <a:rPr lang="en-US" sz="1550" b="0" i="0" dirty="0">
                <a:solidFill>
                  <a:srgbClr val="1A1D21"/>
                </a:solidFill>
                <a:latin typeface="Calibri"/>
              </a:rPr>
              <a:t>DECISION: write the model as Python, at ramulator_hbf/hbf.py</a:t>
            </a:r>
          </a:p>
          <a:p>
            <a:pPr marL="457200" indent="-228600" algn="l">
              <a:spcBef>
                <a:spcPts val="380"/>
              </a:spcBef>
              <a:buClr>
                <a:srgbClr val="8FA3BF"/>
              </a:buClr>
              <a:buSzPct val="90000"/>
              <a:buFont typeface="Arial"/>
              <a:buChar char="–"/>
            </a:pPr>
            <a:r>
              <a:rPr lang="en-US" sz="1400" b="0" i="0" dirty="0">
                <a:solidFill>
                  <a:srgbClr val="5F6368"/>
                </a:solidFill>
                <a:latin typeface="Calibri"/>
              </a:rPr>
              <a:t>Hand-written C++ would have been erased on the next build</a:t>
            </a:r>
          </a:p>
          <a:p>
            <a:pPr marL="228600" indent="-228600" algn="l">
              <a:spcBef>
                <a:spcPts val="520"/>
              </a:spcBef>
              <a:buClr>
                <a:srgbClr val="C55A11"/>
              </a:buClr>
              <a:buSzPct val="90000"/>
              <a:buFont typeface="Arial"/>
              <a:buChar char="■"/>
            </a:pPr>
            <a:r>
              <a:rPr lang="en-US" sz="1550" b="0" i="0" dirty="0">
                <a:solidFill>
                  <a:srgbClr val="1A1D21"/>
                </a:solidFill>
                <a:latin typeface="Calibri"/>
              </a:rPr>
              <a:t>Key insight: a flash page read has the same two-step shape as DRAM</a:t>
            </a:r>
          </a:p>
          <a:p>
            <a:pPr marL="457200" indent="-228600" algn="l">
              <a:spcBef>
                <a:spcPts val="380"/>
              </a:spcBef>
              <a:buClr>
                <a:srgbClr val="8FA3BF"/>
              </a:buClr>
              <a:buSzPct val="90000"/>
              <a:buFont typeface="Arial"/>
              <a:buChar char="–"/>
            </a:pPr>
            <a:r>
              <a:rPr lang="en-US" sz="1400" b="0" i="0" dirty="0">
                <a:solidFill>
                  <a:srgbClr val="5F6368"/>
                </a:solidFill>
                <a:latin typeface="Calibri"/>
              </a:rPr>
              <a:t>Step 1 reads the flash array into a buffer, and takes 20 microseconds</a:t>
            </a:r>
          </a:p>
          <a:p>
            <a:pPr marL="457200" indent="-228600" algn="l">
              <a:spcBef>
                <a:spcPts val="380"/>
              </a:spcBef>
              <a:buClr>
                <a:srgbClr val="8FA3BF"/>
              </a:buClr>
              <a:buSzPct val="90000"/>
              <a:buFont typeface="Arial"/>
              <a:buChar char="–"/>
            </a:pPr>
            <a:r>
              <a:rPr lang="en-US" sz="1400" b="0" i="0" dirty="0">
                <a:solidFill>
                  <a:srgbClr val="5F6368"/>
                </a:solidFill>
                <a:latin typeface="Calibri"/>
              </a:rPr>
              <a:t>Step 2 moves data from that buffer onto the bus, and is fast</a:t>
            </a:r>
          </a:p>
        </p:txBody>
      </p:sp>
      <p:sp>
        <p:nvSpPr>
          <p:cNvPr id="123" name="nb"/>
          <p:cNvSpPr txBox="1"/>
          <p:nvPr/>
        </p:nvSpPr>
        <p:spPr>
          <a:xfrm>
            <a:off x="731520" y="4980000"/>
            <a:ext cx="68580" cy="1150000"/>
          </a:xfrm>
          <a:prstGeom prst="rect">
            <a:avLst/>
          </a:prstGeom>
          <a:solidFill>
            <a:srgbClr val="C55A11"/>
          </a:solidFill>
          <a:ln>
            <a:noFill/>
          </a:ln>
        </p:spPr>
        <p:txBody>
          <a:bodyPr wrap="square" lIns="137160" tIns="91440" rIns="137160" bIns="91440" anchor="t">
            <a:normAutofit/>
          </a:bodyPr>
          <a:lstStyle/>
          <a:p>
            <a:endParaRPr lang="en-US"/>
          </a:p>
        </p:txBody>
      </p:sp>
      <p:sp>
        <p:nvSpPr>
          <p:cNvPr id="124" name="sh"/>
          <p:cNvSpPr txBox="1"/>
          <p:nvPr/>
        </p:nvSpPr>
        <p:spPr>
          <a:xfrm>
            <a:off x="800100" y="4980000"/>
            <a:ext cx="10660380" cy="1150000"/>
          </a:xfrm>
          <a:prstGeom prst="rect">
            <a:avLst/>
          </a:prstGeom>
          <a:solidFill>
            <a:srgbClr val="EAEFF6"/>
          </a:solidFill>
          <a:ln>
            <a:noFill/>
          </a:ln>
        </p:spPr>
        <p:txBody>
          <a:bodyPr wrap="square" lIns="137160" tIns="91440" rIns="137160" bIns="91440" anchor="t">
            <a:normAutofit/>
          </a:bodyPr>
          <a:lstStyle/>
          <a:p>
            <a:pPr marL="0" indent="0" algn="l">
              <a:buNone/>
            </a:pPr>
            <a:r>
              <a:rPr lang="en-US" sz="1000" b="1" i="0" spc="200" dirty="0">
                <a:solidFill>
                  <a:srgbClr val="C55A11"/>
                </a:solidFill>
                <a:latin typeface="Calibri"/>
              </a:rPr>
              <a:t>IN PLAIN WORDS</a:t>
            </a:r>
          </a:p>
          <a:p>
            <a:pPr marL="0" indent="0" algn="l">
              <a:spcBef>
                <a:spcPts val="250"/>
              </a:spcBef>
              <a:buNone/>
            </a:pPr>
            <a:r>
              <a:rPr lang="en-US" sz="1400" b="0" i="0" dirty="0">
                <a:solidFill>
                  <a:srgbClr val="1A1D21"/>
                </a:solidFill>
                <a:latin typeface="Calibri"/>
              </a:rPr>
              <a:t>Flash and DRAM look very different, but the sequence of operations is similar enough that we could reuse Ramulator's existing machinery rather than writing a new memory simulator from nothing.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rule"/>
          <p:cNvSpPr txBox="1"/>
          <p:nvPr/>
        </p:nvSpPr>
        <p:spPr>
          <a:xfrm>
            <a:off x="0" y="0"/>
            <a:ext cx="12192000" cy="68580"/>
          </a:xfrm>
          <a:prstGeom prst="rect">
            <a:avLst/>
          </a:prstGeom>
          <a:solidFill>
            <a:srgbClr val="C55A11"/>
          </a:solidFill>
          <a:ln>
            <a:noFill/>
          </a:ln>
        </p:spPr>
        <p:txBody>
          <a:bodyPr wrap="square" lIns="137160" tIns="91440" rIns="137160" bIns="91440" anchor="t">
            <a:normAutofit/>
          </a:bodyPr>
          <a:lstStyle/>
          <a:p>
            <a:endParaRPr lang="en-US"/>
          </a:p>
        </p:txBody>
      </p:sp>
      <p:sp>
        <p:nvSpPr>
          <p:cNvPr id="126" name="spine"/>
          <p:cNvSpPr txBox="1"/>
          <p:nvPr/>
        </p:nvSpPr>
        <p:spPr>
          <a:xfrm>
            <a:off x="0" y="68580"/>
            <a:ext cx="137160" cy="6789420"/>
          </a:xfrm>
          <a:prstGeom prst="rect">
            <a:avLst/>
          </a:prstGeom>
          <a:solidFill>
            <a:srgbClr val="1F3864"/>
          </a:solidFill>
          <a:ln>
            <a:noFill/>
          </a:ln>
        </p:spPr>
        <p:txBody>
          <a:bodyPr wrap="square" lIns="137160" tIns="91440" rIns="137160" bIns="91440" anchor="t">
            <a:normAutofit/>
          </a:bodyPr>
          <a:lstStyle/>
          <a:p>
            <a:endParaRPr lang="en-US"/>
          </a:p>
        </p:txBody>
      </p:sp>
      <p:sp>
        <p:nvSpPr>
          <p:cNvPr id="127" name="sh"/>
          <p:cNvSpPr txBox="1"/>
          <p:nvPr/>
        </p:nvSpPr>
        <p:spPr>
          <a:xfrm>
            <a:off x="731520" y="320040"/>
            <a:ext cx="10728960" cy="300000"/>
          </a:xfrm>
          <a:prstGeom prst="rect">
            <a:avLst/>
          </a:prstGeom>
          <a:noFill/>
          <a:ln>
            <a:noFill/>
          </a:ln>
        </p:spPr>
        <p:txBody>
          <a:bodyPr wrap="square" lIns="0" tIns="0" rIns="0" bIns="0" anchor="t">
            <a:normAutofit/>
          </a:bodyPr>
          <a:lstStyle/>
          <a:p>
            <a:pPr marL="0" indent="0" algn="l">
              <a:buNone/>
            </a:pPr>
            <a:r>
              <a:rPr lang="en-US" sz="1100" b="1" i="0" spc="300" dirty="0">
                <a:solidFill>
                  <a:srgbClr val="C55A11"/>
                </a:solidFill>
                <a:latin typeface="Calibri"/>
              </a:rPr>
              <a:t>FLASH MODEL</a:t>
            </a:r>
          </a:p>
        </p:txBody>
      </p:sp>
      <p:sp>
        <p:nvSpPr>
          <p:cNvPr id="128" name="sh"/>
          <p:cNvSpPr txBox="1"/>
          <p:nvPr/>
        </p:nvSpPr>
        <p:spPr>
          <a:xfrm>
            <a:off x="731520" y="620000"/>
            <a:ext cx="10728960" cy="780000"/>
          </a:xfrm>
          <a:prstGeom prst="rect">
            <a:avLst/>
          </a:prstGeom>
          <a:noFill/>
          <a:ln>
            <a:noFill/>
          </a:ln>
        </p:spPr>
        <p:txBody>
          <a:bodyPr wrap="square" lIns="0" tIns="0" rIns="0" bIns="0" anchor="t">
            <a:normAutofit/>
          </a:bodyPr>
          <a:lstStyle/>
          <a:p>
            <a:pPr marL="0" indent="0" algn="l">
              <a:buNone/>
            </a:pPr>
            <a:r>
              <a:rPr lang="en-US" sz="2600" b="1" i="0" dirty="0">
                <a:solidFill>
                  <a:srgbClr val="1F3864"/>
                </a:solidFill>
                <a:latin typeface="Calibri"/>
              </a:rPr>
              <a:t>Decisions inside the flash model</a:t>
            </a:r>
          </a:p>
        </p:txBody>
      </p:sp>
      <p:sp>
        <p:nvSpPr>
          <p:cNvPr id="129" name="ul"/>
          <p:cNvSpPr txBox="1"/>
          <p:nvPr/>
        </p:nvSpPr>
        <p:spPr>
          <a:xfrm>
            <a:off x="731520" y="1400000"/>
            <a:ext cx="1600000" cy="40000"/>
          </a:xfrm>
          <a:prstGeom prst="rect">
            <a:avLst/>
          </a:prstGeom>
          <a:solidFill>
            <a:srgbClr val="C55A11"/>
          </a:solidFill>
          <a:ln>
            <a:noFill/>
          </a:ln>
        </p:spPr>
        <p:txBody>
          <a:bodyPr wrap="square" lIns="137160" tIns="91440" rIns="137160" bIns="91440" anchor="t">
            <a:normAutofit/>
          </a:bodyPr>
          <a:lstStyle/>
          <a:p>
            <a:endParaRPr lang="en-US"/>
          </a:p>
        </p:txBody>
      </p:sp>
      <p:sp>
        <p:nvSpPr>
          <p:cNvPr id="130" name="sh"/>
          <p:cNvSpPr txBox="1"/>
          <p:nvPr/>
        </p:nvSpPr>
        <p:spPr>
          <a:xfrm>
            <a:off x="731520" y="6358000"/>
            <a:ext cx="6437376" cy="300000"/>
          </a:xfrm>
          <a:prstGeom prst="rect">
            <a:avLst/>
          </a:prstGeom>
          <a:noFill/>
          <a:ln>
            <a:noFill/>
          </a:ln>
        </p:spPr>
        <p:txBody>
          <a:bodyPr wrap="square" lIns="0" tIns="0" rIns="0" bIns="0" anchor="t">
            <a:normAutofit/>
          </a:bodyPr>
          <a:lstStyle/>
          <a:p>
            <a:pPr marL="0" indent="0" algn="l">
              <a:buNone/>
            </a:pPr>
            <a:r>
              <a:rPr lang="en-US" sz="1000" b="0" i="0" dirty="0">
                <a:solidFill>
                  <a:srgbClr val="8FA3BF"/>
                </a:solidFill>
                <a:latin typeface="Calibri"/>
              </a:rPr>
              <a:t>H3 cycle-accurate memory simulator</a:t>
            </a:r>
          </a:p>
        </p:txBody>
      </p:sp>
      <p:sp>
        <p:nvSpPr>
          <p:cNvPr id="131" name="sh"/>
          <p:cNvSpPr txBox="1"/>
          <p:nvPr/>
        </p:nvSpPr>
        <p:spPr>
          <a:xfrm>
            <a:off x="10760480" y="6358000"/>
            <a:ext cx="700000" cy="300000"/>
          </a:xfrm>
          <a:prstGeom prst="rect">
            <a:avLst/>
          </a:prstGeom>
          <a:noFill/>
          <a:ln>
            <a:noFill/>
          </a:ln>
        </p:spPr>
        <p:txBody>
          <a:bodyPr wrap="square" lIns="0" tIns="0" rIns="0" bIns="0" anchor="t">
            <a:normAutofit/>
          </a:bodyPr>
          <a:lstStyle/>
          <a:p>
            <a:pPr marL="0" indent="0" algn="r">
              <a:buNone/>
            </a:pPr>
            <a:r>
              <a:rPr lang="en-US" sz="1100" b="1" i="0" dirty="0">
                <a:solidFill>
                  <a:srgbClr val="8FA3BF"/>
                </a:solidFill>
                <a:latin typeface="Calibri"/>
              </a:rPr>
              <a:t>12</a:t>
            </a:r>
          </a:p>
        </p:txBody>
      </p:sp>
      <p:sp>
        <p:nvSpPr>
          <p:cNvPr id="132" name="sh"/>
          <p:cNvSpPr txBox="1"/>
          <p:nvPr/>
        </p:nvSpPr>
        <p:spPr>
          <a:xfrm>
            <a:off x="731520" y="1600000"/>
            <a:ext cx="2517240" cy="1700000"/>
          </a:xfrm>
          <a:prstGeom prst="roundRect">
            <a:avLst>
              <a:gd name="adj" fmla="val 8000"/>
            </a:avLst>
          </a:prstGeom>
          <a:solidFill>
            <a:srgbClr val="F5F7FA"/>
          </a:solidFill>
          <a:ln>
            <a:noFill/>
          </a:ln>
        </p:spPr>
        <p:txBody>
          <a:bodyPr wrap="square" lIns="160020" tIns="137160" rIns="160020" bIns="137160" anchor="t">
            <a:normAutofit/>
          </a:bodyPr>
          <a:lstStyle/>
          <a:p>
            <a:pPr marL="0" indent="0" algn="l">
              <a:buNone/>
            </a:pPr>
            <a:r>
              <a:rPr lang="en-US" sz="3600" b="1" i="0" dirty="0">
                <a:solidFill>
                  <a:srgbClr val="C55A11"/>
                </a:solidFill>
                <a:latin typeface="Calibri"/>
              </a:rPr>
              <a:t>64</a:t>
            </a:r>
          </a:p>
          <a:p>
            <a:pPr marL="0" indent="0" algn="l">
              <a:spcBef>
                <a:spcPts val="200"/>
              </a:spcBef>
              <a:buNone/>
            </a:pPr>
            <a:r>
              <a:rPr lang="en-US" sz="1250" b="1" i="0" dirty="0">
                <a:solidFill>
                  <a:srgbClr val="1A1D21"/>
                </a:solidFill>
                <a:latin typeface="Calibri"/>
              </a:rPr>
              <a:t>planes per channel</a:t>
            </a:r>
          </a:p>
          <a:p>
            <a:pPr marL="0" indent="0" algn="l">
              <a:spcBef>
                <a:spcPts val="120"/>
              </a:spcBef>
              <a:buNone/>
            </a:pPr>
            <a:r>
              <a:rPr lang="en-US" sz="1050" b="0" i="0" dirty="0">
                <a:solidFill>
                  <a:srgbClr val="5F6368"/>
                </a:solidFill>
                <a:latin typeface="Calibri"/>
              </a:rPr>
              <a:t>not arbitrary, see below</a:t>
            </a:r>
          </a:p>
        </p:txBody>
      </p:sp>
      <p:sp>
        <p:nvSpPr>
          <p:cNvPr id="133" name="sh"/>
          <p:cNvSpPr txBox="1"/>
          <p:nvPr/>
        </p:nvSpPr>
        <p:spPr>
          <a:xfrm>
            <a:off x="731520" y="1600000"/>
            <a:ext cx="2517240" cy="60000"/>
          </a:xfrm>
          <a:prstGeom prst="rect">
            <a:avLst/>
          </a:prstGeom>
          <a:solidFill>
            <a:srgbClr val="C55A11"/>
          </a:solidFill>
          <a:ln>
            <a:noFill/>
          </a:ln>
        </p:spPr>
        <p:txBody>
          <a:bodyPr wrap="square" lIns="137160" tIns="91440" rIns="137160" bIns="91440" anchor="t">
            <a:normAutofit/>
          </a:bodyPr>
          <a:lstStyle/>
          <a:p>
            <a:endParaRPr lang="en-US"/>
          </a:p>
        </p:txBody>
      </p:sp>
      <p:sp>
        <p:nvSpPr>
          <p:cNvPr id="134" name="sh"/>
          <p:cNvSpPr txBox="1"/>
          <p:nvPr/>
        </p:nvSpPr>
        <p:spPr>
          <a:xfrm>
            <a:off x="3468760" y="1600000"/>
            <a:ext cx="2517240" cy="1700000"/>
          </a:xfrm>
          <a:prstGeom prst="roundRect">
            <a:avLst>
              <a:gd name="adj" fmla="val 8000"/>
            </a:avLst>
          </a:prstGeom>
          <a:solidFill>
            <a:srgbClr val="F5F7FA"/>
          </a:solidFill>
          <a:ln>
            <a:noFill/>
          </a:ln>
        </p:spPr>
        <p:txBody>
          <a:bodyPr wrap="square" lIns="160020" tIns="137160" rIns="160020" bIns="137160" anchor="t">
            <a:normAutofit/>
          </a:bodyPr>
          <a:lstStyle/>
          <a:p>
            <a:pPr marL="0" indent="0" algn="l">
              <a:buNone/>
            </a:pPr>
            <a:r>
              <a:rPr lang="en-US" sz="3600" b="1" i="0" dirty="0">
                <a:solidFill>
                  <a:srgbClr val="1F3864"/>
                </a:solidFill>
                <a:latin typeface="Calibri"/>
              </a:rPr>
              <a:t>16 KB</a:t>
            </a:r>
          </a:p>
          <a:p>
            <a:pPr marL="0" indent="0" algn="l">
              <a:spcBef>
                <a:spcPts val="200"/>
              </a:spcBef>
              <a:buNone/>
            </a:pPr>
            <a:r>
              <a:rPr lang="en-US" sz="1250" b="1" i="0" dirty="0">
                <a:solidFill>
                  <a:srgbClr val="1A1D21"/>
                </a:solidFill>
                <a:latin typeface="Calibri"/>
              </a:rPr>
              <a:t>flash page size</a:t>
            </a:r>
          </a:p>
          <a:p>
            <a:pPr marL="0" indent="0" algn="l">
              <a:spcBef>
                <a:spcPts val="120"/>
              </a:spcBef>
              <a:buNone/>
            </a:pPr>
            <a:r>
              <a:rPr lang="en-US" sz="1050" b="0" i="0" dirty="0">
                <a:solidFill>
                  <a:srgbClr val="5F6368"/>
                </a:solidFill>
                <a:latin typeface="Calibri"/>
              </a:rPr>
              <a:t>one row in the model</a:t>
            </a:r>
          </a:p>
        </p:txBody>
      </p:sp>
      <p:sp>
        <p:nvSpPr>
          <p:cNvPr id="135" name="sh"/>
          <p:cNvSpPr txBox="1"/>
          <p:nvPr/>
        </p:nvSpPr>
        <p:spPr>
          <a:xfrm>
            <a:off x="3468760" y="1600000"/>
            <a:ext cx="2517240" cy="60000"/>
          </a:xfrm>
          <a:prstGeom prst="rect">
            <a:avLst/>
          </a:prstGeom>
          <a:solidFill>
            <a:srgbClr val="1F3864"/>
          </a:solidFill>
          <a:ln>
            <a:noFill/>
          </a:ln>
        </p:spPr>
        <p:txBody>
          <a:bodyPr wrap="square" lIns="137160" tIns="91440" rIns="137160" bIns="91440" anchor="t">
            <a:normAutofit/>
          </a:bodyPr>
          <a:lstStyle/>
          <a:p>
            <a:endParaRPr lang="en-US"/>
          </a:p>
        </p:txBody>
      </p:sp>
      <p:sp>
        <p:nvSpPr>
          <p:cNvPr id="136" name="sh"/>
          <p:cNvSpPr txBox="1"/>
          <p:nvPr/>
        </p:nvSpPr>
        <p:spPr>
          <a:xfrm>
            <a:off x="6206000" y="1600000"/>
            <a:ext cx="2517240" cy="1700000"/>
          </a:xfrm>
          <a:prstGeom prst="roundRect">
            <a:avLst>
              <a:gd name="adj" fmla="val 8000"/>
            </a:avLst>
          </a:prstGeom>
          <a:solidFill>
            <a:srgbClr val="F5F7FA"/>
          </a:solidFill>
          <a:ln>
            <a:noFill/>
          </a:ln>
        </p:spPr>
        <p:txBody>
          <a:bodyPr wrap="square" lIns="160020" tIns="137160" rIns="160020" bIns="137160" anchor="t">
            <a:normAutofit/>
          </a:bodyPr>
          <a:lstStyle/>
          <a:p>
            <a:pPr marL="0" indent="0" algn="l">
              <a:buNone/>
            </a:pPr>
            <a:r>
              <a:rPr lang="en-US" sz="3600" b="1" i="0" dirty="0">
                <a:solidFill>
                  <a:srgbClr val="2E5C8A"/>
                </a:solidFill>
                <a:latin typeface="Calibri"/>
              </a:rPr>
              <a:t>4 TB</a:t>
            </a:r>
          </a:p>
          <a:p>
            <a:pPr marL="0" indent="0" algn="l">
              <a:spcBef>
                <a:spcPts val="200"/>
              </a:spcBef>
              <a:buNone/>
            </a:pPr>
            <a:r>
              <a:rPr lang="en-US" sz="1250" b="1" i="0" dirty="0">
                <a:solidFill>
                  <a:srgbClr val="1A1D21"/>
                </a:solidFill>
                <a:latin typeface="Calibri"/>
              </a:rPr>
              <a:t>address space</a:t>
            </a:r>
          </a:p>
          <a:p>
            <a:pPr marL="0" indent="0" algn="l">
              <a:spcBef>
                <a:spcPts val="120"/>
              </a:spcBef>
              <a:buNone/>
            </a:pPr>
            <a:r>
              <a:rPr lang="en-US" sz="1050" b="0" i="0" dirty="0">
                <a:solidFill>
                  <a:srgbClr val="5F6368"/>
                </a:solidFill>
                <a:latin typeface="Calibri"/>
              </a:rPr>
              <a:t>3 TB actually exposed</a:t>
            </a:r>
          </a:p>
        </p:txBody>
      </p:sp>
      <p:sp>
        <p:nvSpPr>
          <p:cNvPr id="137" name="sh"/>
          <p:cNvSpPr txBox="1"/>
          <p:nvPr/>
        </p:nvSpPr>
        <p:spPr>
          <a:xfrm>
            <a:off x="6206000" y="1600000"/>
            <a:ext cx="2517240" cy="60000"/>
          </a:xfrm>
          <a:prstGeom prst="rect">
            <a:avLst/>
          </a:prstGeom>
          <a:solidFill>
            <a:srgbClr val="2E5C8A"/>
          </a:solidFill>
          <a:ln>
            <a:noFill/>
          </a:ln>
        </p:spPr>
        <p:txBody>
          <a:bodyPr wrap="square" lIns="137160" tIns="91440" rIns="137160" bIns="91440" anchor="t">
            <a:normAutofit/>
          </a:bodyPr>
          <a:lstStyle/>
          <a:p>
            <a:endParaRPr lang="en-US"/>
          </a:p>
        </p:txBody>
      </p:sp>
      <p:sp>
        <p:nvSpPr>
          <p:cNvPr id="138" name="sh"/>
          <p:cNvSpPr txBox="1"/>
          <p:nvPr/>
        </p:nvSpPr>
        <p:spPr>
          <a:xfrm>
            <a:off x="8943240" y="1600000"/>
            <a:ext cx="2517240" cy="1700000"/>
          </a:xfrm>
          <a:prstGeom prst="roundRect">
            <a:avLst>
              <a:gd name="adj" fmla="val 8000"/>
            </a:avLst>
          </a:prstGeom>
          <a:solidFill>
            <a:srgbClr val="F5F7FA"/>
          </a:solidFill>
          <a:ln>
            <a:noFill/>
          </a:ln>
        </p:spPr>
        <p:txBody>
          <a:bodyPr wrap="square" lIns="160020" tIns="137160" rIns="160020" bIns="137160" anchor="t">
            <a:normAutofit/>
          </a:bodyPr>
          <a:lstStyle/>
          <a:p>
            <a:pPr marL="0" indent="0" algn="l">
              <a:buNone/>
            </a:pPr>
            <a:r>
              <a:rPr lang="en-US" sz="3600" b="1" i="0" dirty="0">
                <a:solidFill>
                  <a:srgbClr val="2E7D32"/>
                </a:solidFill>
                <a:latin typeface="Calibri"/>
              </a:rPr>
              <a:t>0</a:t>
            </a:r>
          </a:p>
          <a:p>
            <a:pPr marL="0" indent="0" algn="l">
              <a:spcBef>
                <a:spcPts val="200"/>
              </a:spcBef>
              <a:buNone/>
            </a:pPr>
            <a:r>
              <a:rPr lang="en-US" sz="1250" b="1" i="0" dirty="0">
                <a:solidFill>
                  <a:srgbClr val="1A1D21"/>
                </a:solidFill>
                <a:latin typeface="Calibri"/>
              </a:rPr>
              <a:t>refresh operations</a:t>
            </a:r>
          </a:p>
          <a:p>
            <a:pPr marL="0" indent="0" algn="l">
              <a:spcBef>
                <a:spcPts val="120"/>
              </a:spcBef>
              <a:buNone/>
            </a:pPr>
            <a:r>
              <a:rPr lang="en-US" sz="1050" b="0" i="0" dirty="0">
                <a:solidFill>
                  <a:srgbClr val="5F6368"/>
                </a:solidFill>
                <a:latin typeface="Calibri"/>
              </a:rPr>
              <a:t>declared but never used</a:t>
            </a:r>
          </a:p>
        </p:txBody>
      </p:sp>
      <p:sp>
        <p:nvSpPr>
          <p:cNvPr id="139" name="sh"/>
          <p:cNvSpPr txBox="1"/>
          <p:nvPr/>
        </p:nvSpPr>
        <p:spPr>
          <a:xfrm>
            <a:off x="8943240" y="1600000"/>
            <a:ext cx="2517240" cy="60000"/>
          </a:xfrm>
          <a:prstGeom prst="rect">
            <a:avLst/>
          </a:prstGeom>
          <a:solidFill>
            <a:srgbClr val="2E7D32"/>
          </a:solidFill>
          <a:ln>
            <a:noFill/>
          </a:ln>
        </p:spPr>
        <p:txBody>
          <a:bodyPr wrap="square" lIns="137160" tIns="91440" rIns="137160" bIns="91440" anchor="t">
            <a:normAutofit/>
          </a:bodyPr>
          <a:lstStyle/>
          <a:p>
            <a:endParaRPr lang="en-US"/>
          </a:p>
        </p:txBody>
      </p:sp>
      <p:sp>
        <p:nvSpPr>
          <p:cNvPr id="140" name="sh"/>
          <p:cNvSpPr txBox="1"/>
          <p:nvPr/>
        </p:nvSpPr>
        <p:spPr>
          <a:xfrm>
            <a:off x="731520" y="3520000"/>
            <a:ext cx="10728960" cy="1300000"/>
          </a:xfrm>
          <a:prstGeom prst="rect">
            <a:avLst/>
          </a:prstGeom>
          <a:noFill/>
          <a:ln>
            <a:noFill/>
          </a:ln>
        </p:spPr>
        <p:txBody>
          <a:bodyPr wrap="square" lIns="0" tIns="0" rIns="0" bIns="0" anchor="t">
            <a:normAutofit/>
          </a:bodyPr>
          <a:lstStyle/>
          <a:p>
            <a:pPr marL="457200" indent="-228600" algn="l">
              <a:spcBef>
                <a:spcPts val="380"/>
              </a:spcBef>
              <a:buClr>
                <a:srgbClr val="8FA3BF"/>
              </a:buClr>
              <a:buSzPct val="90000"/>
              <a:buFont typeface="Arial"/>
              <a:buChar char="–"/>
            </a:pPr>
            <a:r>
              <a:rPr lang="en-US" sz="1300" b="0" i="0" dirty="0">
                <a:solidFill>
                  <a:srgbClr val="5F6368"/>
                </a:solidFill>
                <a:latin typeface="Calibri"/>
              </a:rPr>
              <a:t>To keep 32 GB/s flowing through a 20 microsecond delay, 40 pages must be in flight at once. 64 planes gives 1.6x headroom.</a:t>
            </a:r>
          </a:p>
          <a:p>
            <a:pPr marL="457200" indent="-228600" algn="l">
              <a:spcBef>
                <a:spcPts val="380"/>
              </a:spcBef>
              <a:buClr>
                <a:srgbClr val="8FA3BF"/>
              </a:buClr>
              <a:buSzPct val="90000"/>
              <a:buFont typeface="Arial"/>
              <a:buChar char="–"/>
            </a:pPr>
            <a:r>
              <a:rPr lang="en-US" sz="1300" b="0" i="0" dirty="0">
                <a:solidFill>
                  <a:srgbClr val="5F6368"/>
                </a:solidFill>
                <a:latin typeface="Calibri"/>
              </a:rPr>
              <a:t>Capacity is rounded up to a power of two because Ramulator's address decoder cannot handle 3 TB directly. The router exposes exactly 3 TB.</a:t>
            </a:r>
          </a:p>
        </p:txBody>
      </p:sp>
      <p:sp>
        <p:nvSpPr>
          <p:cNvPr id="141" name="nb"/>
          <p:cNvSpPr txBox="1"/>
          <p:nvPr/>
        </p:nvSpPr>
        <p:spPr>
          <a:xfrm>
            <a:off x="731520" y="4980000"/>
            <a:ext cx="68580" cy="1150000"/>
          </a:xfrm>
          <a:prstGeom prst="rect">
            <a:avLst/>
          </a:prstGeom>
          <a:solidFill>
            <a:srgbClr val="C55A11"/>
          </a:solidFill>
          <a:ln>
            <a:noFill/>
          </a:ln>
        </p:spPr>
        <p:txBody>
          <a:bodyPr wrap="square" lIns="137160" tIns="91440" rIns="137160" bIns="91440" anchor="t">
            <a:normAutofit/>
          </a:bodyPr>
          <a:lstStyle/>
          <a:p>
            <a:endParaRPr lang="en-US"/>
          </a:p>
        </p:txBody>
      </p:sp>
      <p:sp>
        <p:nvSpPr>
          <p:cNvPr id="142" name="sh"/>
          <p:cNvSpPr txBox="1"/>
          <p:nvPr/>
        </p:nvSpPr>
        <p:spPr>
          <a:xfrm>
            <a:off x="800100" y="4980000"/>
            <a:ext cx="10660380" cy="1150000"/>
          </a:xfrm>
          <a:prstGeom prst="rect">
            <a:avLst/>
          </a:prstGeom>
          <a:solidFill>
            <a:srgbClr val="EAEFF6"/>
          </a:solidFill>
          <a:ln>
            <a:noFill/>
          </a:ln>
        </p:spPr>
        <p:txBody>
          <a:bodyPr wrap="square" lIns="137160" tIns="91440" rIns="137160" bIns="91440" anchor="t">
            <a:normAutofit/>
          </a:bodyPr>
          <a:lstStyle/>
          <a:p>
            <a:pPr marL="0" indent="0" algn="l">
              <a:buNone/>
            </a:pPr>
            <a:r>
              <a:rPr lang="en-US" sz="1000" b="1" i="0" spc="200" dirty="0">
                <a:solidFill>
                  <a:srgbClr val="C55A11"/>
                </a:solidFill>
                <a:latin typeface="Calibri"/>
              </a:rPr>
              <a:t>IN PLAIN WORDS</a:t>
            </a:r>
          </a:p>
          <a:p>
            <a:pPr marL="0" indent="0" algn="l">
              <a:spcBef>
                <a:spcPts val="250"/>
              </a:spcBef>
              <a:buNone/>
            </a:pPr>
            <a:r>
              <a:rPr lang="en-US" sz="1400" b="0" i="0" dirty="0">
                <a:solidFill>
                  <a:srgbClr val="1A1D21"/>
                </a:solidFill>
                <a:latin typeface="Calibri"/>
              </a:rPr>
              <a:t>Every one of these is a deliberate compromise, written down in docs/hbf_model.md together with what would need to change for a more accurate flash model.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rule"/>
          <p:cNvSpPr txBox="1"/>
          <p:nvPr/>
        </p:nvSpPr>
        <p:spPr>
          <a:xfrm>
            <a:off x="0" y="0"/>
            <a:ext cx="12192000" cy="68580"/>
          </a:xfrm>
          <a:prstGeom prst="rect">
            <a:avLst/>
          </a:prstGeom>
          <a:solidFill>
            <a:srgbClr val="C55A11"/>
          </a:solidFill>
          <a:ln>
            <a:noFill/>
          </a:ln>
        </p:spPr>
        <p:txBody>
          <a:bodyPr wrap="square" lIns="137160" tIns="91440" rIns="137160" bIns="91440" anchor="t">
            <a:normAutofit/>
          </a:bodyPr>
          <a:lstStyle/>
          <a:p>
            <a:endParaRPr lang="en-US"/>
          </a:p>
        </p:txBody>
      </p:sp>
      <p:sp>
        <p:nvSpPr>
          <p:cNvPr id="144" name="spine"/>
          <p:cNvSpPr txBox="1"/>
          <p:nvPr/>
        </p:nvSpPr>
        <p:spPr>
          <a:xfrm>
            <a:off x="0" y="68580"/>
            <a:ext cx="137160" cy="6789420"/>
          </a:xfrm>
          <a:prstGeom prst="rect">
            <a:avLst/>
          </a:prstGeom>
          <a:solidFill>
            <a:srgbClr val="1F3864"/>
          </a:solidFill>
          <a:ln>
            <a:noFill/>
          </a:ln>
        </p:spPr>
        <p:txBody>
          <a:bodyPr wrap="square" lIns="137160" tIns="91440" rIns="137160" bIns="91440" anchor="t">
            <a:normAutofit/>
          </a:bodyPr>
          <a:lstStyle/>
          <a:p>
            <a:endParaRPr lang="en-US"/>
          </a:p>
        </p:txBody>
      </p:sp>
      <p:sp>
        <p:nvSpPr>
          <p:cNvPr id="145" name="sh"/>
          <p:cNvSpPr txBox="1"/>
          <p:nvPr/>
        </p:nvSpPr>
        <p:spPr>
          <a:xfrm>
            <a:off x="731520" y="320040"/>
            <a:ext cx="10728960" cy="300000"/>
          </a:xfrm>
          <a:prstGeom prst="rect">
            <a:avLst/>
          </a:prstGeom>
          <a:noFill/>
          <a:ln>
            <a:noFill/>
          </a:ln>
        </p:spPr>
        <p:txBody>
          <a:bodyPr wrap="square" lIns="0" tIns="0" rIns="0" bIns="0" anchor="t">
            <a:normAutofit/>
          </a:bodyPr>
          <a:lstStyle/>
          <a:p>
            <a:pPr marL="0" indent="0" algn="l">
              <a:buNone/>
            </a:pPr>
            <a:r>
              <a:rPr lang="en-US" sz="1100" b="1" i="0" spc="300" dirty="0">
                <a:solidFill>
                  <a:srgbClr val="C55A11"/>
                </a:solidFill>
                <a:latin typeface="Calibri"/>
              </a:rPr>
              <a:t>COMPONENTS</a:t>
            </a:r>
          </a:p>
        </p:txBody>
      </p:sp>
      <p:sp>
        <p:nvSpPr>
          <p:cNvPr id="146" name="sh"/>
          <p:cNvSpPr txBox="1"/>
          <p:nvPr/>
        </p:nvSpPr>
        <p:spPr>
          <a:xfrm>
            <a:off x="731520" y="620000"/>
            <a:ext cx="10728960" cy="780000"/>
          </a:xfrm>
          <a:prstGeom prst="rect">
            <a:avLst/>
          </a:prstGeom>
          <a:noFill/>
          <a:ln>
            <a:noFill/>
          </a:ln>
        </p:spPr>
        <p:txBody>
          <a:bodyPr wrap="square" lIns="0" tIns="0" rIns="0" bIns="0" anchor="t">
            <a:normAutofit/>
          </a:bodyPr>
          <a:lstStyle/>
          <a:p>
            <a:pPr marL="0" indent="0" algn="l">
              <a:buNone/>
            </a:pPr>
            <a:r>
              <a:rPr lang="en-US" sz="2600" b="1" i="0" dirty="0">
                <a:solidFill>
                  <a:srgbClr val="1F3864"/>
                </a:solidFill>
                <a:latin typeface="Calibri"/>
              </a:rPr>
              <a:t>The router and the buffer</a:t>
            </a:r>
          </a:p>
        </p:txBody>
      </p:sp>
      <p:sp>
        <p:nvSpPr>
          <p:cNvPr id="147" name="ul"/>
          <p:cNvSpPr txBox="1"/>
          <p:nvPr/>
        </p:nvSpPr>
        <p:spPr>
          <a:xfrm>
            <a:off x="731520" y="1400000"/>
            <a:ext cx="1600000" cy="40000"/>
          </a:xfrm>
          <a:prstGeom prst="rect">
            <a:avLst/>
          </a:prstGeom>
          <a:solidFill>
            <a:srgbClr val="C55A11"/>
          </a:solidFill>
          <a:ln>
            <a:noFill/>
          </a:ln>
        </p:spPr>
        <p:txBody>
          <a:bodyPr wrap="square" lIns="137160" tIns="91440" rIns="137160" bIns="91440" anchor="t">
            <a:normAutofit/>
          </a:bodyPr>
          <a:lstStyle/>
          <a:p>
            <a:endParaRPr lang="en-US"/>
          </a:p>
        </p:txBody>
      </p:sp>
      <p:sp>
        <p:nvSpPr>
          <p:cNvPr id="148" name="sh"/>
          <p:cNvSpPr txBox="1"/>
          <p:nvPr/>
        </p:nvSpPr>
        <p:spPr>
          <a:xfrm>
            <a:off x="731520" y="6358000"/>
            <a:ext cx="6437376" cy="300000"/>
          </a:xfrm>
          <a:prstGeom prst="rect">
            <a:avLst/>
          </a:prstGeom>
          <a:noFill/>
          <a:ln>
            <a:noFill/>
          </a:ln>
        </p:spPr>
        <p:txBody>
          <a:bodyPr wrap="square" lIns="0" tIns="0" rIns="0" bIns="0" anchor="t">
            <a:normAutofit/>
          </a:bodyPr>
          <a:lstStyle/>
          <a:p>
            <a:pPr marL="0" indent="0" algn="l">
              <a:buNone/>
            </a:pPr>
            <a:r>
              <a:rPr lang="en-US" sz="1000" b="0" i="0" dirty="0">
                <a:solidFill>
                  <a:srgbClr val="8FA3BF"/>
                </a:solidFill>
                <a:latin typeface="Calibri"/>
              </a:rPr>
              <a:t>H3 cycle-accurate memory simulator</a:t>
            </a:r>
          </a:p>
        </p:txBody>
      </p:sp>
      <p:sp>
        <p:nvSpPr>
          <p:cNvPr id="149" name="sh"/>
          <p:cNvSpPr txBox="1"/>
          <p:nvPr/>
        </p:nvSpPr>
        <p:spPr>
          <a:xfrm>
            <a:off x="10760480" y="6358000"/>
            <a:ext cx="700000" cy="300000"/>
          </a:xfrm>
          <a:prstGeom prst="rect">
            <a:avLst/>
          </a:prstGeom>
          <a:noFill/>
          <a:ln>
            <a:noFill/>
          </a:ln>
        </p:spPr>
        <p:txBody>
          <a:bodyPr wrap="square" lIns="0" tIns="0" rIns="0" bIns="0" anchor="t">
            <a:normAutofit/>
          </a:bodyPr>
          <a:lstStyle/>
          <a:p>
            <a:pPr marL="0" indent="0" algn="r">
              <a:buNone/>
            </a:pPr>
            <a:r>
              <a:rPr lang="en-US" sz="1100" b="1" i="0" dirty="0">
                <a:solidFill>
                  <a:srgbClr val="8FA3BF"/>
                </a:solidFill>
                <a:latin typeface="Calibri"/>
              </a:rPr>
              <a:t>13</a:t>
            </a:r>
          </a:p>
        </p:txBody>
      </p:sp>
      <p:sp>
        <p:nvSpPr>
          <p:cNvPr id="150" name="sh"/>
          <p:cNvSpPr txBox="1"/>
          <p:nvPr/>
        </p:nvSpPr>
        <p:spPr>
          <a:xfrm>
            <a:off x="731520" y="1560000"/>
            <a:ext cx="5214480" cy="340000"/>
          </a:xfrm>
          <a:prstGeom prst="rect">
            <a:avLst/>
          </a:prstGeom>
          <a:solidFill>
            <a:srgbClr val="1F3864"/>
          </a:solidFill>
          <a:ln>
            <a:noFill/>
          </a:ln>
        </p:spPr>
        <p:txBody>
          <a:bodyPr wrap="square" lIns="114300" tIns="60960" rIns="114300" bIns="60960" anchor="t">
            <a:normAutofit/>
          </a:bodyPr>
          <a:lstStyle/>
          <a:p>
            <a:pPr marL="0" indent="0" algn="l">
              <a:buNone/>
            </a:pPr>
            <a:r>
              <a:rPr lang="en-US" sz="1150" b="1" i="0" spc="200" dirty="0">
                <a:solidFill>
                  <a:srgbClr val="FFFFFF"/>
                </a:solidFill>
                <a:latin typeface="Calibri"/>
              </a:rPr>
              <a:t>ADDRESS ROUTER</a:t>
            </a:r>
          </a:p>
        </p:txBody>
      </p:sp>
      <p:sp>
        <p:nvSpPr>
          <p:cNvPr id="151" name="sh"/>
          <p:cNvSpPr txBox="1"/>
          <p:nvPr/>
        </p:nvSpPr>
        <p:spPr>
          <a:xfrm>
            <a:off x="731520" y="1980000"/>
            <a:ext cx="5214480" cy="2800000"/>
          </a:xfrm>
          <a:prstGeom prst="rect">
            <a:avLst/>
          </a:prstGeom>
          <a:solidFill>
            <a:srgbClr val="F5F7FA"/>
          </a:solidFill>
          <a:ln>
            <a:noFill/>
          </a:ln>
        </p:spPr>
        <p:txBody>
          <a:bodyPr wrap="square" lIns="137160" tIns="91440" rIns="137160" bIns="91440" anchor="t">
            <a:normAutofit/>
          </a:bodyPr>
          <a:lstStyle/>
          <a:p>
            <a:pPr marL="228600" indent="-228600" algn="l">
              <a:spcBef>
                <a:spcPts val="440"/>
              </a:spcBef>
              <a:buClr>
                <a:srgbClr val="C55A11"/>
              </a:buClr>
              <a:buSzPct val="90000"/>
              <a:buFont typeface="Arial"/>
              <a:buChar char="■"/>
            </a:pPr>
            <a:r>
              <a:rPr lang="en-US" sz="1450" b="0" i="0" dirty="0">
                <a:solidFill>
                  <a:srgbClr val="1A1D21"/>
                </a:solidFill>
                <a:latin typeface="Calibri"/>
              </a:rPr>
              <a:t>Decides HBM or flash for every request</a:t>
            </a:r>
          </a:p>
          <a:p>
            <a:pPr marL="457200" indent="-228600" algn="l">
              <a:spcBef>
                <a:spcPts val="320"/>
              </a:spcBef>
              <a:buClr>
                <a:srgbClr val="8FA3BF"/>
              </a:buClr>
              <a:buSzPct val="90000"/>
              <a:buFont typeface="Arial"/>
              <a:buChar char="–"/>
            </a:pPr>
            <a:r>
              <a:rPr lang="en-US" sz="1300" b="0" i="0" dirty="0">
                <a:solidFill>
                  <a:srgbClr val="5F6368"/>
                </a:solidFill>
                <a:latin typeface="Calibri"/>
              </a:rPr>
              <a:t>Weights and shared cache go to flash, never written</a:t>
            </a:r>
          </a:p>
          <a:p>
            <a:pPr marL="457200" indent="-228600" algn="l">
              <a:spcBef>
                <a:spcPts val="320"/>
              </a:spcBef>
              <a:buClr>
                <a:srgbClr val="8FA3BF"/>
              </a:buClr>
              <a:buSzPct val="90000"/>
              <a:buFont typeface="Arial"/>
              <a:buChar char="–"/>
            </a:pPr>
            <a:r>
              <a:rPr lang="en-US" sz="1300" b="0" i="0" dirty="0">
                <a:solidFill>
                  <a:srgbClr val="5F6368"/>
                </a:solidFill>
                <a:latin typeface="Calibri"/>
              </a:rPr>
              <a:t>Generated cache and activations go to HBM</a:t>
            </a:r>
          </a:p>
          <a:p>
            <a:pPr marL="228600" indent="-228600" algn="l">
              <a:spcBef>
                <a:spcPts val="440"/>
              </a:spcBef>
              <a:buClr>
                <a:srgbClr val="C55A11"/>
              </a:buClr>
              <a:buSzPct val="90000"/>
              <a:buFont typeface="Arial"/>
              <a:buChar char="■"/>
            </a:pPr>
            <a:r>
              <a:rPr lang="en-US" sz="1450" b="0" i="0" dirty="0">
                <a:solidFill>
                  <a:srgbClr val="1A1D21"/>
                </a:solidFill>
                <a:latin typeface="Calibri"/>
              </a:rPr>
              <a:t>Enforces that flash is read-only</a:t>
            </a:r>
          </a:p>
          <a:p>
            <a:pPr marL="228600" indent="-228600" algn="l">
              <a:spcBef>
                <a:spcPts val="440"/>
              </a:spcBef>
              <a:buClr>
                <a:srgbClr val="C55A11"/>
              </a:buClr>
              <a:buSzPct val="90000"/>
              <a:buFont typeface="Arial"/>
              <a:buChar char="■"/>
            </a:pPr>
            <a:r>
              <a:rPr lang="en-US" sz="1450" b="0" i="0" dirty="0">
                <a:solidFill>
                  <a:srgbClr val="1A1D21"/>
                </a:solidFill>
                <a:latin typeface="Calibri"/>
              </a:rPr>
              <a:t>Adds the 25 ns die-to-die crossing cost</a:t>
            </a:r>
          </a:p>
        </p:txBody>
      </p:sp>
      <p:sp>
        <p:nvSpPr>
          <p:cNvPr id="152" name="sh"/>
          <p:cNvSpPr txBox="1"/>
          <p:nvPr/>
        </p:nvSpPr>
        <p:spPr>
          <a:xfrm>
            <a:off x="6246000" y="1560000"/>
            <a:ext cx="5214480" cy="340000"/>
          </a:xfrm>
          <a:prstGeom prst="rect">
            <a:avLst/>
          </a:prstGeom>
          <a:solidFill>
            <a:srgbClr val="C55A11"/>
          </a:solidFill>
          <a:ln>
            <a:noFill/>
          </a:ln>
        </p:spPr>
        <p:txBody>
          <a:bodyPr wrap="square" lIns="114300" tIns="60960" rIns="114300" bIns="60960" anchor="t">
            <a:normAutofit/>
          </a:bodyPr>
          <a:lstStyle/>
          <a:p>
            <a:pPr marL="0" indent="0" algn="l">
              <a:buNone/>
            </a:pPr>
            <a:r>
              <a:rPr lang="en-US" sz="1150" b="1" i="0" spc="200" dirty="0">
                <a:solidFill>
                  <a:srgbClr val="FFFFFF"/>
                </a:solidFill>
                <a:latin typeface="Calibri"/>
              </a:rPr>
              <a:t>LATENCY HIDING BUFFER</a:t>
            </a:r>
          </a:p>
        </p:txBody>
      </p:sp>
      <p:sp>
        <p:nvSpPr>
          <p:cNvPr id="153" name="sh"/>
          <p:cNvSpPr txBox="1"/>
          <p:nvPr/>
        </p:nvSpPr>
        <p:spPr>
          <a:xfrm>
            <a:off x="6246000" y="1980000"/>
            <a:ext cx="5214480" cy="2800000"/>
          </a:xfrm>
          <a:prstGeom prst="rect">
            <a:avLst/>
          </a:prstGeom>
          <a:solidFill>
            <a:srgbClr val="F5F7FA"/>
          </a:solidFill>
          <a:ln>
            <a:noFill/>
          </a:ln>
        </p:spPr>
        <p:txBody>
          <a:bodyPr wrap="square" lIns="137160" tIns="91440" rIns="137160" bIns="91440" anchor="t">
            <a:normAutofit/>
          </a:bodyPr>
          <a:lstStyle/>
          <a:p>
            <a:pPr marL="228600" indent="-228600" algn="l">
              <a:spcBef>
                <a:spcPts val="440"/>
              </a:spcBef>
              <a:buClr>
                <a:srgbClr val="C55A11"/>
              </a:buClr>
              <a:buSzPct val="90000"/>
              <a:buFont typeface="Arial"/>
              <a:buChar char="■"/>
            </a:pPr>
            <a:r>
              <a:rPr lang="en-US" sz="1450" b="0" i="0" dirty="0">
                <a:solidFill>
                  <a:srgbClr val="1A1D21"/>
                </a:solidFill>
                <a:latin typeface="Calibri"/>
              </a:rPr>
              <a:t>Fetches data before the GPU asks for it</a:t>
            </a:r>
          </a:p>
          <a:p>
            <a:pPr marL="457200" indent="-228600" algn="l">
              <a:spcBef>
                <a:spcPts val="320"/>
              </a:spcBef>
              <a:buClr>
                <a:srgbClr val="8FA3BF"/>
              </a:buClr>
              <a:buSzPct val="90000"/>
              <a:buFont typeface="Arial"/>
              <a:buChar char="–"/>
            </a:pPr>
            <a:r>
              <a:rPr lang="en-US" sz="1300" b="0" i="0" dirty="0">
                <a:solidFill>
                  <a:srgbClr val="5F6368"/>
                </a:solidFill>
                <a:latin typeface="Calibri"/>
              </a:rPr>
              <a:t>Two halves: read one, fill the other</a:t>
            </a:r>
          </a:p>
          <a:p>
            <a:pPr marL="228600" indent="-228600" algn="l">
              <a:spcBef>
                <a:spcPts val="440"/>
              </a:spcBef>
              <a:buClr>
                <a:srgbClr val="C55A11"/>
              </a:buClr>
              <a:buSzPct val="90000"/>
              <a:buFont typeface="Arial"/>
              <a:buChar char="■"/>
            </a:pPr>
            <a:r>
              <a:rPr lang="en-US" sz="1450" b="0" i="0" dirty="0">
                <a:solidFill>
                  <a:srgbClr val="1A1D21"/>
                </a:solidFill>
                <a:latin typeface="Calibri"/>
              </a:rPr>
              <a:t>FINDING: the paper's Equation 1 is a balance condition</a:t>
            </a:r>
          </a:p>
          <a:p>
            <a:pPr marL="457200" indent="-228600" algn="l">
              <a:spcBef>
                <a:spcPts val="320"/>
              </a:spcBef>
              <a:buClr>
                <a:srgbClr val="8FA3BF"/>
              </a:buClr>
              <a:buSzPct val="90000"/>
              <a:buFont typeface="Arial"/>
              <a:buChar char="–"/>
            </a:pPr>
            <a:r>
              <a:rPr lang="en-US" sz="1300" b="0" i="0" dirty="0">
                <a:solidFill>
                  <a:srgbClr val="5F6368"/>
                </a:solidFill>
                <a:latin typeface="Calibri"/>
              </a:rPr>
              <a:t>Draining a half and filling it both take 20 microseconds</a:t>
            </a:r>
          </a:p>
          <a:p>
            <a:pPr marL="228600" indent="-228600" algn="l">
              <a:spcBef>
                <a:spcPts val="440"/>
              </a:spcBef>
              <a:buClr>
                <a:srgbClr val="C55A11"/>
              </a:buClr>
              <a:buSzPct val="90000"/>
              <a:buFont typeface="Arial"/>
              <a:buChar char="■"/>
            </a:pPr>
            <a:r>
              <a:rPr lang="en-US" sz="1450" b="0" i="0" dirty="0">
                <a:solidFill>
                  <a:srgbClr val="1A1D21"/>
                </a:solidFill>
                <a:latin typeface="Calibri"/>
              </a:rPr>
              <a:t>DECISION: modelled as a streaming buffer</a:t>
            </a:r>
          </a:p>
        </p:txBody>
      </p:sp>
      <p:sp>
        <p:nvSpPr>
          <p:cNvPr id="154" name="nb"/>
          <p:cNvSpPr txBox="1"/>
          <p:nvPr/>
        </p:nvSpPr>
        <p:spPr>
          <a:xfrm>
            <a:off x="731520" y="4980000"/>
            <a:ext cx="68580" cy="1150000"/>
          </a:xfrm>
          <a:prstGeom prst="rect">
            <a:avLst/>
          </a:prstGeom>
          <a:solidFill>
            <a:srgbClr val="C55A11"/>
          </a:solidFill>
          <a:ln>
            <a:noFill/>
          </a:ln>
        </p:spPr>
        <p:txBody>
          <a:bodyPr wrap="square" lIns="137160" tIns="91440" rIns="137160" bIns="91440" anchor="t">
            <a:normAutofit/>
          </a:bodyPr>
          <a:lstStyle/>
          <a:p>
            <a:endParaRPr lang="en-US"/>
          </a:p>
        </p:txBody>
      </p:sp>
      <p:sp>
        <p:nvSpPr>
          <p:cNvPr id="155" name="sh"/>
          <p:cNvSpPr txBox="1"/>
          <p:nvPr/>
        </p:nvSpPr>
        <p:spPr>
          <a:xfrm>
            <a:off x="800100" y="4980000"/>
            <a:ext cx="10660380" cy="1150000"/>
          </a:xfrm>
          <a:prstGeom prst="rect">
            <a:avLst/>
          </a:prstGeom>
          <a:solidFill>
            <a:srgbClr val="EAEFF6"/>
          </a:solidFill>
          <a:ln>
            <a:noFill/>
          </a:ln>
        </p:spPr>
        <p:txBody>
          <a:bodyPr wrap="square" lIns="137160" tIns="91440" rIns="137160" bIns="91440" anchor="t">
            <a:normAutofit/>
          </a:bodyPr>
          <a:lstStyle/>
          <a:p>
            <a:pPr marL="0" indent="0" algn="l">
              <a:buNone/>
            </a:pPr>
            <a:r>
              <a:rPr lang="en-US" sz="1000" b="1" i="0" spc="200" dirty="0">
                <a:solidFill>
                  <a:srgbClr val="C55A11"/>
                </a:solidFill>
                <a:latin typeface="Calibri"/>
              </a:rPr>
              <a:t>IN PLAIN WORDS</a:t>
            </a:r>
          </a:p>
          <a:p>
            <a:pPr marL="0" indent="0" algn="l">
              <a:spcBef>
                <a:spcPts val="250"/>
              </a:spcBef>
              <a:buNone/>
            </a:pPr>
            <a:r>
              <a:rPr lang="en-US" sz="1400" b="0" i="0" dirty="0">
                <a:solidFill>
                  <a:srgbClr val="1A1D21"/>
                </a:solidFill>
                <a:latin typeface="Calibri"/>
              </a:rPr>
              <a:t>The router is also a correctness check: if a write ever reaches the read-only flash region, a counter becomes non-zero and we know data was placed in the wrong memory. The buffer streams because one layer's weights are 870 MB against a 40 MB buffer.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rule"/>
          <p:cNvSpPr txBox="1"/>
          <p:nvPr/>
        </p:nvSpPr>
        <p:spPr>
          <a:xfrm>
            <a:off x="0" y="0"/>
            <a:ext cx="12192000" cy="68580"/>
          </a:xfrm>
          <a:prstGeom prst="rect">
            <a:avLst/>
          </a:prstGeom>
          <a:solidFill>
            <a:srgbClr val="C55A11"/>
          </a:solidFill>
          <a:ln>
            <a:noFill/>
          </a:ln>
        </p:spPr>
        <p:txBody>
          <a:bodyPr wrap="square" lIns="137160" tIns="91440" rIns="137160" bIns="91440" anchor="t">
            <a:normAutofit/>
          </a:bodyPr>
          <a:lstStyle/>
          <a:p>
            <a:endParaRPr lang="en-US"/>
          </a:p>
        </p:txBody>
      </p:sp>
      <p:sp>
        <p:nvSpPr>
          <p:cNvPr id="157" name="spine"/>
          <p:cNvSpPr txBox="1"/>
          <p:nvPr/>
        </p:nvSpPr>
        <p:spPr>
          <a:xfrm>
            <a:off x="0" y="68580"/>
            <a:ext cx="137160" cy="6789420"/>
          </a:xfrm>
          <a:prstGeom prst="rect">
            <a:avLst/>
          </a:prstGeom>
          <a:solidFill>
            <a:srgbClr val="1F3864"/>
          </a:solidFill>
          <a:ln>
            <a:noFill/>
          </a:ln>
        </p:spPr>
        <p:txBody>
          <a:bodyPr wrap="square" lIns="137160" tIns="91440" rIns="137160" bIns="91440" anchor="t">
            <a:normAutofit/>
          </a:bodyPr>
          <a:lstStyle/>
          <a:p>
            <a:endParaRPr lang="en-US"/>
          </a:p>
        </p:txBody>
      </p:sp>
      <p:sp>
        <p:nvSpPr>
          <p:cNvPr id="158" name="sh"/>
          <p:cNvSpPr txBox="1"/>
          <p:nvPr/>
        </p:nvSpPr>
        <p:spPr>
          <a:xfrm>
            <a:off x="731520" y="320040"/>
            <a:ext cx="10728960" cy="300000"/>
          </a:xfrm>
          <a:prstGeom prst="rect">
            <a:avLst/>
          </a:prstGeom>
          <a:noFill/>
          <a:ln>
            <a:noFill/>
          </a:ln>
        </p:spPr>
        <p:txBody>
          <a:bodyPr wrap="square" lIns="0" tIns="0" rIns="0" bIns="0" anchor="t">
            <a:normAutofit/>
          </a:bodyPr>
          <a:lstStyle/>
          <a:p>
            <a:pPr marL="0" indent="0" algn="l">
              <a:buNone/>
            </a:pPr>
            <a:r>
              <a:rPr lang="en-US" sz="1100" b="1" i="0" spc="300" dirty="0">
                <a:solidFill>
                  <a:srgbClr val="C55A11"/>
                </a:solidFill>
                <a:latin typeface="Calibri"/>
              </a:rPr>
              <a:t>COMPONENTS</a:t>
            </a:r>
          </a:p>
        </p:txBody>
      </p:sp>
      <p:sp>
        <p:nvSpPr>
          <p:cNvPr id="159" name="sh"/>
          <p:cNvSpPr txBox="1"/>
          <p:nvPr/>
        </p:nvSpPr>
        <p:spPr>
          <a:xfrm>
            <a:off x="731520" y="620000"/>
            <a:ext cx="10728960" cy="780000"/>
          </a:xfrm>
          <a:prstGeom prst="rect">
            <a:avLst/>
          </a:prstGeom>
          <a:noFill/>
          <a:ln>
            <a:noFill/>
          </a:ln>
        </p:spPr>
        <p:txBody>
          <a:bodyPr wrap="square" lIns="0" tIns="0" rIns="0" bIns="0" anchor="t">
            <a:normAutofit/>
          </a:bodyPr>
          <a:lstStyle/>
          <a:p>
            <a:pPr marL="0" indent="0" algn="l">
              <a:buNone/>
            </a:pPr>
            <a:r>
              <a:rPr lang="en-US" sz="2600" b="1" i="0" dirty="0">
                <a:solidFill>
                  <a:srgbClr val="1F3864"/>
                </a:solidFill>
                <a:latin typeface="Calibri"/>
              </a:rPr>
              <a:t>The prefetch scheduler</a:t>
            </a:r>
          </a:p>
        </p:txBody>
      </p:sp>
      <p:sp>
        <p:nvSpPr>
          <p:cNvPr id="160" name="ul"/>
          <p:cNvSpPr txBox="1"/>
          <p:nvPr/>
        </p:nvSpPr>
        <p:spPr>
          <a:xfrm>
            <a:off x="731520" y="1400000"/>
            <a:ext cx="1600000" cy="40000"/>
          </a:xfrm>
          <a:prstGeom prst="rect">
            <a:avLst/>
          </a:prstGeom>
          <a:solidFill>
            <a:srgbClr val="C55A11"/>
          </a:solidFill>
          <a:ln>
            <a:noFill/>
          </a:ln>
        </p:spPr>
        <p:txBody>
          <a:bodyPr wrap="square" lIns="137160" tIns="91440" rIns="137160" bIns="91440" anchor="t">
            <a:normAutofit/>
          </a:bodyPr>
          <a:lstStyle/>
          <a:p>
            <a:endParaRPr lang="en-US"/>
          </a:p>
        </p:txBody>
      </p:sp>
      <p:sp>
        <p:nvSpPr>
          <p:cNvPr id="161" name="sh"/>
          <p:cNvSpPr txBox="1"/>
          <p:nvPr/>
        </p:nvSpPr>
        <p:spPr>
          <a:xfrm>
            <a:off x="731520" y="6358000"/>
            <a:ext cx="6437376" cy="300000"/>
          </a:xfrm>
          <a:prstGeom prst="rect">
            <a:avLst/>
          </a:prstGeom>
          <a:noFill/>
          <a:ln>
            <a:noFill/>
          </a:ln>
        </p:spPr>
        <p:txBody>
          <a:bodyPr wrap="square" lIns="0" tIns="0" rIns="0" bIns="0" anchor="t">
            <a:normAutofit/>
          </a:bodyPr>
          <a:lstStyle/>
          <a:p>
            <a:pPr marL="0" indent="0" algn="l">
              <a:buNone/>
            </a:pPr>
            <a:r>
              <a:rPr lang="en-US" sz="1000" b="0" i="0" dirty="0">
                <a:solidFill>
                  <a:srgbClr val="8FA3BF"/>
                </a:solidFill>
                <a:latin typeface="Calibri"/>
              </a:rPr>
              <a:t>H3 cycle-accurate memory simulator</a:t>
            </a:r>
          </a:p>
        </p:txBody>
      </p:sp>
      <p:sp>
        <p:nvSpPr>
          <p:cNvPr id="162" name="sh"/>
          <p:cNvSpPr txBox="1"/>
          <p:nvPr/>
        </p:nvSpPr>
        <p:spPr>
          <a:xfrm>
            <a:off x="10760480" y="6358000"/>
            <a:ext cx="700000" cy="300000"/>
          </a:xfrm>
          <a:prstGeom prst="rect">
            <a:avLst/>
          </a:prstGeom>
          <a:noFill/>
          <a:ln>
            <a:noFill/>
          </a:ln>
        </p:spPr>
        <p:txBody>
          <a:bodyPr wrap="square" lIns="0" tIns="0" rIns="0" bIns="0" anchor="t">
            <a:normAutofit/>
          </a:bodyPr>
          <a:lstStyle/>
          <a:p>
            <a:pPr marL="0" indent="0" algn="r">
              <a:buNone/>
            </a:pPr>
            <a:r>
              <a:rPr lang="en-US" sz="1100" b="1" i="0" dirty="0">
                <a:solidFill>
                  <a:srgbClr val="8FA3BF"/>
                </a:solidFill>
                <a:latin typeface="Calibri"/>
              </a:rPr>
              <a:t>14</a:t>
            </a:r>
          </a:p>
        </p:txBody>
      </p:sp>
      <p:sp>
        <p:nvSpPr>
          <p:cNvPr id="163" name="sh"/>
          <p:cNvSpPr txBox="1"/>
          <p:nvPr/>
        </p:nvSpPr>
        <p:spPr>
          <a:xfrm>
            <a:off x="731520" y="1560000"/>
            <a:ext cx="10728960" cy="3200000"/>
          </a:xfrm>
          <a:prstGeom prst="rect">
            <a:avLst/>
          </a:prstGeom>
          <a:noFill/>
          <a:ln>
            <a:noFill/>
          </a:ln>
        </p:spPr>
        <p:txBody>
          <a:bodyPr wrap="square" lIns="0" tIns="0" rIns="0" bIns="0" anchor="t">
            <a:normAutofit/>
          </a:bodyPr>
          <a:lstStyle/>
          <a:p>
            <a:pPr marL="228600" indent="-228600" algn="l">
              <a:spcBef>
                <a:spcPts val="520"/>
              </a:spcBef>
              <a:buClr>
                <a:srgbClr val="C55A11"/>
              </a:buClr>
              <a:buSzPct val="90000"/>
              <a:buFont typeface="Arial"/>
              <a:buChar char="■"/>
            </a:pPr>
            <a:r>
              <a:rPr lang="en-US" sz="1550" b="0" i="0" dirty="0">
                <a:solidFill>
                  <a:srgbClr val="1A1D21"/>
                </a:solidFill>
                <a:latin typeface="Calibri"/>
              </a:rPr>
              <a:t>Decides WHEN to start fetching each piece of data</a:t>
            </a:r>
          </a:p>
          <a:p>
            <a:pPr marL="228600" indent="-228600" algn="l">
              <a:spcBef>
                <a:spcPts val="520"/>
              </a:spcBef>
              <a:buClr>
                <a:srgbClr val="C55A11"/>
              </a:buClr>
              <a:buSzPct val="90000"/>
              <a:buFont typeface="Arial"/>
              <a:buChar char="■"/>
            </a:pPr>
            <a:r>
              <a:rPr lang="en-US" sz="1550" b="0" i="0" dirty="0">
                <a:solidFill>
                  <a:srgbClr val="1A1D21"/>
                </a:solidFill>
                <a:latin typeface="Calibri"/>
              </a:rPr>
              <a:t>Works because LLM inference is completely predictable</a:t>
            </a:r>
          </a:p>
          <a:p>
            <a:pPr marL="457200" indent="-228600" algn="l">
              <a:spcBef>
                <a:spcPts val="380"/>
              </a:spcBef>
              <a:buClr>
                <a:srgbClr val="8FA3BF"/>
              </a:buClr>
              <a:buSzPct val="90000"/>
              <a:buFont typeface="Arial"/>
              <a:buChar char="–"/>
            </a:pPr>
            <a:r>
              <a:rPr lang="en-US" sz="1400" b="0" i="0" dirty="0">
                <a:solidFill>
                  <a:srgbClr val="5F6368"/>
                </a:solidFill>
                <a:latin typeface="Calibri"/>
              </a:rPr>
              <a:t>Every tensor read is known before the first token is generated</a:t>
            </a:r>
          </a:p>
          <a:p>
            <a:pPr marL="457200" indent="-228600" algn="l">
              <a:spcBef>
                <a:spcPts val="380"/>
              </a:spcBef>
              <a:buClr>
                <a:srgbClr val="8FA3BF"/>
              </a:buClr>
              <a:buSzPct val="90000"/>
              <a:buFont typeface="Arial"/>
              <a:buChar char="–"/>
            </a:pPr>
            <a:r>
              <a:rPr lang="en-US" sz="1400" b="0" i="0" dirty="0">
                <a:solidFill>
                  <a:srgbClr val="5F6368"/>
                </a:solidFill>
                <a:latin typeface="Calibri"/>
              </a:rPr>
              <a:t>There is nothing to guess, only to schedule</a:t>
            </a:r>
          </a:p>
          <a:p>
            <a:pPr marL="228600" indent="-228600" algn="l">
              <a:spcBef>
                <a:spcPts val="520"/>
              </a:spcBef>
              <a:buClr>
                <a:srgbClr val="C55A11"/>
              </a:buClr>
              <a:buSzPct val="90000"/>
              <a:buFont typeface="Arial"/>
              <a:buChar char="■"/>
            </a:pPr>
            <a:r>
              <a:rPr lang="en-US" sz="1550" b="0" i="0" dirty="0">
                <a:solidFill>
                  <a:srgbClr val="1A1D21"/>
                </a:solidFill>
                <a:latin typeface="Calibri"/>
              </a:rPr>
              <a:t>VALIDATION: our arithmetic independently reproduces the published model</a:t>
            </a:r>
          </a:p>
          <a:p>
            <a:pPr marL="457200" indent="-228600" algn="l">
              <a:spcBef>
                <a:spcPts val="380"/>
              </a:spcBef>
              <a:buClr>
                <a:srgbClr val="8FA3BF"/>
              </a:buClr>
              <a:buSzPct val="90000"/>
              <a:buFont typeface="Arial"/>
              <a:buChar char="–"/>
            </a:pPr>
            <a:r>
              <a:rPr lang="en-US" sz="1400" b="0" i="0" dirty="0">
                <a:solidFill>
                  <a:srgbClr val="5F6368"/>
                </a:solidFill>
                <a:latin typeface="Calibri"/>
              </a:rPr>
              <a:t>405.9 billion parameters, matching the 405B in the model name</a:t>
            </a:r>
          </a:p>
          <a:p>
            <a:pPr marL="457200" indent="-228600" algn="l">
              <a:spcBef>
                <a:spcPts val="380"/>
              </a:spcBef>
              <a:buClr>
                <a:srgbClr val="8FA3BF"/>
              </a:buClr>
              <a:buSzPct val="90000"/>
              <a:buFont typeface="Arial"/>
              <a:buChar char="–"/>
            </a:pPr>
            <a:r>
              <a:rPr lang="en-US" sz="1400" b="0" i="0" dirty="0">
                <a:solidFill>
                  <a:srgbClr val="5F6368"/>
                </a:solidFill>
                <a:latin typeface="Calibri"/>
              </a:rPr>
              <a:t>35% and 84% cache occupancy, matching the paper's figures exactly</a:t>
            </a:r>
          </a:p>
        </p:txBody>
      </p:sp>
      <p:sp>
        <p:nvSpPr>
          <p:cNvPr id="164" name="nb"/>
          <p:cNvSpPr txBox="1"/>
          <p:nvPr/>
        </p:nvSpPr>
        <p:spPr>
          <a:xfrm>
            <a:off x="731520" y="4980000"/>
            <a:ext cx="68580" cy="1150000"/>
          </a:xfrm>
          <a:prstGeom prst="rect">
            <a:avLst/>
          </a:prstGeom>
          <a:solidFill>
            <a:srgbClr val="C55A11"/>
          </a:solidFill>
          <a:ln>
            <a:noFill/>
          </a:ln>
        </p:spPr>
        <p:txBody>
          <a:bodyPr wrap="square" lIns="137160" tIns="91440" rIns="137160" bIns="91440" anchor="t">
            <a:normAutofit/>
          </a:bodyPr>
          <a:lstStyle/>
          <a:p>
            <a:endParaRPr lang="en-US"/>
          </a:p>
        </p:txBody>
      </p:sp>
      <p:sp>
        <p:nvSpPr>
          <p:cNvPr id="165" name="sh"/>
          <p:cNvSpPr txBox="1"/>
          <p:nvPr/>
        </p:nvSpPr>
        <p:spPr>
          <a:xfrm>
            <a:off x="800100" y="4980000"/>
            <a:ext cx="10660380" cy="1150000"/>
          </a:xfrm>
          <a:prstGeom prst="rect">
            <a:avLst/>
          </a:prstGeom>
          <a:solidFill>
            <a:srgbClr val="EAEFF6"/>
          </a:solidFill>
          <a:ln>
            <a:noFill/>
          </a:ln>
        </p:spPr>
        <p:txBody>
          <a:bodyPr wrap="square" lIns="137160" tIns="91440" rIns="137160" bIns="91440" anchor="t">
            <a:normAutofit/>
          </a:bodyPr>
          <a:lstStyle/>
          <a:p>
            <a:pPr marL="0" indent="0" algn="l">
              <a:buNone/>
            </a:pPr>
            <a:r>
              <a:rPr lang="en-US" sz="1000" b="1" i="0" spc="200" dirty="0">
                <a:solidFill>
                  <a:srgbClr val="C55A11"/>
                </a:solidFill>
                <a:latin typeface="Calibri"/>
              </a:rPr>
              <a:t>IN PLAIN WORDS</a:t>
            </a:r>
          </a:p>
          <a:p>
            <a:pPr marL="0" indent="0" algn="l">
              <a:spcBef>
                <a:spcPts val="250"/>
              </a:spcBef>
              <a:buNone/>
            </a:pPr>
            <a:r>
              <a:rPr lang="en-US" sz="1400" b="0" i="0" dirty="0">
                <a:solidFill>
                  <a:srgbClr val="1A1D21"/>
                </a:solidFill>
                <a:latin typeface="Calibri"/>
              </a:rPr>
              <a:t>This is the strongest evidence that our model of the workload is right. We never downloaded the model. We computed tensor sizes from the published architecture and arrived at the same numbers the paper reports.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rule"/>
          <p:cNvSpPr txBox="1"/>
          <p:nvPr/>
        </p:nvSpPr>
        <p:spPr>
          <a:xfrm>
            <a:off x="0" y="0"/>
            <a:ext cx="12192000" cy="68580"/>
          </a:xfrm>
          <a:prstGeom prst="rect">
            <a:avLst/>
          </a:prstGeom>
          <a:solidFill>
            <a:srgbClr val="C55A11"/>
          </a:solidFill>
          <a:ln>
            <a:noFill/>
          </a:ln>
        </p:spPr>
        <p:txBody>
          <a:bodyPr wrap="square" lIns="137160" tIns="91440" rIns="137160" bIns="91440" anchor="t">
            <a:normAutofit/>
          </a:bodyPr>
          <a:lstStyle/>
          <a:p>
            <a:endParaRPr lang="en-US"/>
          </a:p>
        </p:txBody>
      </p:sp>
      <p:sp>
        <p:nvSpPr>
          <p:cNvPr id="167" name="spine"/>
          <p:cNvSpPr txBox="1"/>
          <p:nvPr/>
        </p:nvSpPr>
        <p:spPr>
          <a:xfrm>
            <a:off x="0" y="68580"/>
            <a:ext cx="137160" cy="6789420"/>
          </a:xfrm>
          <a:prstGeom prst="rect">
            <a:avLst/>
          </a:prstGeom>
          <a:solidFill>
            <a:srgbClr val="1F3864"/>
          </a:solidFill>
          <a:ln>
            <a:noFill/>
          </a:ln>
        </p:spPr>
        <p:txBody>
          <a:bodyPr wrap="square" lIns="137160" tIns="91440" rIns="137160" bIns="91440" anchor="t">
            <a:normAutofit/>
          </a:bodyPr>
          <a:lstStyle/>
          <a:p>
            <a:endParaRPr lang="en-US"/>
          </a:p>
        </p:txBody>
      </p:sp>
      <p:sp>
        <p:nvSpPr>
          <p:cNvPr id="168" name="sh"/>
          <p:cNvSpPr txBox="1"/>
          <p:nvPr/>
        </p:nvSpPr>
        <p:spPr>
          <a:xfrm>
            <a:off x="731520" y="320040"/>
            <a:ext cx="10728960" cy="300000"/>
          </a:xfrm>
          <a:prstGeom prst="rect">
            <a:avLst/>
          </a:prstGeom>
          <a:noFill/>
          <a:ln>
            <a:noFill/>
          </a:ln>
        </p:spPr>
        <p:txBody>
          <a:bodyPr wrap="square" lIns="0" tIns="0" rIns="0" bIns="0" anchor="t">
            <a:normAutofit/>
          </a:bodyPr>
          <a:lstStyle/>
          <a:p>
            <a:pPr marL="0" indent="0" algn="l">
              <a:buNone/>
            </a:pPr>
            <a:r>
              <a:rPr lang="en-US" sz="1100" b="1" i="0" spc="300" dirty="0">
                <a:solidFill>
                  <a:srgbClr val="C55A11"/>
                </a:solidFill>
                <a:latin typeface="Calibri"/>
              </a:rPr>
              <a:t>FINDING</a:t>
            </a:r>
          </a:p>
        </p:txBody>
      </p:sp>
      <p:sp>
        <p:nvSpPr>
          <p:cNvPr id="169" name="sh"/>
          <p:cNvSpPr txBox="1"/>
          <p:nvPr/>
        </p:nvSpPr>
        <p:spPr>
          <a:xfrm>
            <a:off x="731520" y="620000"/>
            <a:ext cx="10728960" cy="780000"/>
          </a:xfrm>
          <a:prstGeom prst="rect">
            <a:avLst/>
          </a:prstGeom>
          <a:noFill/>
          <a:ln>
            <a:noFill/>
          </a:ln>
        </p:spPr>
        <p:txBody>
          <a:bodyPr wrap="square" lIns="0" tIns="0" rIns="0" bIns="0" anchor="t">
            <a:normAutofit/>
          </a:bodyPr>
          <a:lstStyle/>
          <a:p>
            <a:pPr marL="0" indent="0" algn="l">
              <a:buNone/>
            </a:pPr>
            <a:r>
              <a:rPr lang="en-US" sz="2600" b="1" i="0" dirty="0">
                <a:solidFill>
                  <a:srgbClr val="1F3864"/>
                </a:solidFill>
                <a:latin typeface="Calibri"/>
              </a:rPr>
              <a:t>A discrepancy worth reporting</a:t>
            </a:r>
          </a:p>
        </p:txBody>
      </p:sp>
      <p:sp>
        <p:nvSpPr>
          <p:cNvPr id="170" name="ul"/>
          <p:cNvSpPr txBox="1"/>
          <p:nvPr/>
        </p:nvSpPr>
        <p:spPr>
          <a:xfrm>
            <a:off x="731520" y="1400000"/>
            <a:ext cx="1600000" cy="40000"/>
          </a:xfrm>
          <a:prstGeom prst="rect">
            <a:avLst/>
          </a:prstGeom>
          <a:solidFill>
            <a:srgbClr val="C55A11"/>
          </a:solidFill>
          <a:ln>
            <a:noFill/>
          </a:ln>
        </p:spPr>
        <p:txBody>
          <a:bodyPr wrap="square" lIns="137160" tIns="91440" rIns="137160" bIns="91440" anchor="t">
            <a:normAutofit/>
          </a:bodyPr>
          <a:lstStyle/>
          <a:p>
            <a:endParaRPr lang="en-US"/>
          </a:p>
        </p:txBody>
      </p:sp>
      <p:sp>
        <p:nvSpPr>
          <p:cNvPr id="171" name="sh"/>
          <p:cNvSpPr txBox="1"/>
          <p:nvPr/>
        </p:nvSpPr>
        <p:spPr>
          <a:xfrm>
            <a:off x="731520" y="6358000"/>
            <a:ext cx="6437376" cy="300000"/>
          </a:xfrm>
          <a:prstGeom prst="rect">
            <a:avLst/>
          </a:prstGeom>
          <a:noFill/>
          <a:ln>
            <a:noFill/>
          </a:ln>
        </p:spPr>
        <p:txBody>
          <a:bodyPr wrap="square" lIns="0" tIns="0" rIns="0" bIns="0" anchor="t">
            <a:normAutofit/>
          </a:bodyPr>
          <a:lstStyle/>
          <a:p>
            <a:pPr marL="0" indent="0" algn="l">
              <a:buNone/>
            </a:pPr>
            <a:r>
              <a:rPr lang="en-US" sz="1000" b="0" i="0" dirty="0">
                <a:solidFill>
                  <a:srgbClr val="8FA3BF"/>
                </a:solidFill>
                <a:latin typeface="Calibri"/>
              </a:rPr>
              <a:t>H3 cycle-accurate memory simulator</a:t>
            </a:r>
          </a:p>
        </p:txBody>
      </p:sp>
      <p:sp>
        <p:nvSpPr>
          <p:cNvPr id="172" name="sh"/>
          <p:cNvSpPr txBox="1"/>
          <p:nvPr/>
        </p:nvSpPr>
        <p:spPr>
          <a:xfrm>
            <a:off x="10760480" y="6358000"/>
            <a:ext cx="700000" cy="300000"/>
          </a:xfrm>
          <a:prstGeom prst="rect">
            <a:avLst/>
          </a:prstGeom>
          <a:noFill/>
          <a:ln>
            <a:noFill/>
          </a:ln>
        </p:spPr>
        <p:txBody>
          <a:bodyPr wrap="square" lIns="0" tIns="0" rIns="0" bIns="0" anchor="t">
            <a:normAutofit/>
          </a:bodyPr>
          <a:lstStyle/>
          <a:p>
            <a:pPr marL="0" indent="0" algn="r">
              <a:buNone/>
            </a:pPr>
            <a:r>
              <a:rPr lang="en-US" sz="1100" b="1" i="0" dirty="0">
                <a:solidFill>
                  <a:srgbClr val="8FA3BF"/>
                </a:solidFill>
                <a:latin typeface="Calibri"/>
              </a:rPr>
              <a:t>15</a:t>
            </a:r>
          </a:p>
        </p:txBody>
      </p:sp>
      <p:sp>
        <p:nvSpPr>
          <p:cNvPr id="173" name="sh"/>
          <p:cNvSpPr txBox="1"/>
          <p:nvPr/>
        </p:nvSpPr>
        <p:spPr>
          <a:xfrm>
            <a:off x="731520" y="1560000"/>
            <a:ext cx="5214480" cy="340000"/>
          </a:xfrm>
          <a:prstGeom prst="rect">
            <a:avLst/>
          </a:prstGeom>
          <a:solidFill>
            <a:srgbClr val="1F3864"/>
          </a:solidFill>
          <a:ln>
            <a:noFill/>
          </a:ln>
        </p:spPr>
        <p:txBody>
          <a:bodyPr wrap="square" lIns="114300" tIns="60960" rIns="114300" bIns="60960" anchor="t">
            <a:normAutofit/>
          </a:bodyPr>
          <a:lstStyle/>
          <a:p>
            <a:pPr marL="0" indent="0" algn="l">
              <a:buNone/>
            </a:pPr>
            <a:r>
              <a:rPr lang="en-US" sz="1150" b="1" i="0" spc="200" dirty="0">
                <a:solidFill>
                  <a:srgbClr val="FFFFFF"/>
                </a:solidFill>
                <a:latin typeface="Calibri"/>
              </a:rPr>
              <a:t>WHAT THE MODEL USES</a:t>
            </a:r>
          </a:p>
        </p:txBody>
      </p:sp>
      <p:sp>
        <p:nvSpPr>
          <p:cNvPr id="174" name="sh"/>
          <p:cNvSpPr txBox="1"/>
          <p:nvPr/>
        </p:nvSpPr>
        <p:spPr>
          <a:xfrm>
            <a:off x="731520" y="1980000"/>
            <a:ext cx="5214480" cy="2800000"/>
          </a:xfrm>
          <a:prstGeom prst="rect">
            <a:avLst/>
          </a:prstGeom>
          <a:solidFill>
            <a:srgbClr val="F5F7FA"/>
          </a:solidFill>
          <a:ln>
            <a:noFill/>
          </a:ln>
        </p:spPr>
        <p:txBody>
          <a:bodyPr wrap="square" lIns="137160" tIns="91440" rIns="137160" bIns="91440" anchor="t">
            <a:normAutofit/>
          </a:bodyPr>
          <a:lstStyle/>
          <a:p>
            <a:pPr marL="228600" indent="-228600" algn="l">
              <a:spcBef>
                <a:spcPts val="440"/>
              </a:spcBef>
              <a:buClr>
                <a:srgbClr val="C55A11"/>
              </a:buClr>
              <a:buSzPct val="90000"/>
              <a:buFont typeface="Arial"/>
              <a:buChar char="■"/>
            </a:pPr>
            <a:r>
              <a:rPr lang="en-US" sz="1450" b="0" i="0" dirty="0">
                <a:solidFill>
                  <a:srgbClr val="1A1D21"/>
                </a:solidFill>
                <a:latin typeface="Calibri"/>
              </a:rPr>
              <a:t>Llama 3.1 405B officially uses grouped-query attention</a:t>
            </a:r>
          </a:p>
          <a:p>
            <a:pPr marL="457200" indent="-228600" algn="l">
              <a:spcBef>
                <a:spcPts val="320"/>
              </a:spcBef>
              <a:buClr>
                <a:srgbClr val="8FA3BF"/>
              </a:buClr>
              <a:buSzPct val="90000"/>
              <a:buFont typeface="Arial"/>
              <a:buChar char="–"/>
            </a:pPr>
            <a:r>
              <a:rPr lang="en-US" sz="1300" b="0" i="0" dirty="0">
                <a:solidFill>
                  <a:srgbClr val="5F6368"/>
                </a:solidFill>
                <a:latin typeface="Calibri"/>
              </a:rPr>
              <a:t>8 key-value heads</a:t>
            </a:r>
          </a:p>
          <a:p>
            <a:pPr marL="228600" indent="-228600" algn="l">
              <a:spcBef>
                <a:spcPts val="440"/>
              </a:spcBef>
              <a:buClr>
                <a:srgbClr val="C55A11"/>
              </a:buClr>
              <a:buSzPct val="90000"/>
              <a:buFont typeface="Arial"/>
              <a:buChar char="■"/>
            </a:pPr>
            <a:r>
              <a:rPr lang="en-US" sz="1450" b="0" i="0" dirty="0">
                <a:solidFill>
                  <a:srgbClr val="1A1D21"/>
                </a:solidFill>
                <a:latin typeface="Calibri"/>
              </a:rPr>
              <a:t>That gives a cache occupancy of about 2 percent</a:t>
            </a:r>
          </a:p>
          <a:p>
            <a:pPr marL="457200" indent="-228600" algn="l">
              <a:spcBef>
                <a:spcPts val="320"/>
              </a:spcBef>
              <a:buClr>
                <a:srgbClr val="8FA3BF"/>
              </a:buClr>
              <a:buSzPct val="90000"/>
              <a:buFont typeface="Arial"/>
              <a:buChar char="–"/>
            </a:pPr>
            <a:r>
              <a:rPr lang="en-US" sz="1300" b="0" i="0" dirty="0">
                <a:solidFill>
                  <a:srgbClr val="5F6368"/>
                </a:solidFill>
                <a:latin typeface="Calibri"/>
              </a:rPr>
              <a:t>Nowhere near the paper's 35 percent</a:t>
            </a:r>
          </a:p>
        </p:txBody>
      </p:sp>
      <p:sp>
        <p:nvSpPr>
          <p:cNvPr id="175" name="sh"/>
          <p:cNvSpPr txBox="1"/>
          <p:nvPr/>
        </p:nvSpPr>
        <p:spPr>
          <a:xfrm>
            <a:off x="6246000" y="1560000"/>
            <a:ext cx="5214480" cy="340000"/>
          </a:xfrm>
          <a:prstGeom prst="rect">
            <a:avLst/>
          </a:prstGeom>
          <a:solidFill>
            <a:srgbClr val="C55A11"/>
          </a:solidFill>
          <a:ln>
            <a:noFill/>
          </a:ln>
        </p:spPr>
        <p:txBody>
          <a:bodyPr wrap="square" lIns="114300" tIns="60960" rIns="114300" bIns="60960" anchor="t">
            <a:normAutofit/>
          </a:bodyPr>
          <a:lstStyle/>
          <a:p>
            <a:pPr marL="0" indent="0" algn="l">
              <a:buNone/>
            </a:pPr>
            <a:r>
              <a:rPr lang="en-US" sz="1150" b="1" i="0" spc="200" dirty="0">
                <a:solidFill>
                  <a:srgbClr val="FFFFFF"/>
                </a:solidFill>
                <a:latin typeface="Calibri"/>
              </a:rPr>
              <a:t>WHAT MATCHES THE PAPER</a:t>
            </a:r>
          </a:p>
        </p:txBody>
      </p:sp>
      <p:sp>
        <p:nvSpPr>
          <p:cNvPr id="176" name="sh"/>
          <p:cNvSpPr txBox="1"/>
          <p:nvPr/>
        </p:nvSpPr>
        <p:spPr>
          <a:xfrm>
            <a:off x="6246000" y="1980000"/>
            <a:ext cx="5214480" cy="2800000"/>
          </a:xfrm>
          <a:prstGeom prst="rect">
            <a:avLst/>
          </a:prstGeom>
          <a:solidFill>
            <a:srgbClr val="F5F7FA"/>
          </a:solidFill>
          <a:ln>
            <a:noFill/>
          </a:ln>
        </p:spPr>
        <p:txBody>
          <a:bodyPr wrap="square" lIns="137160" tIns="91440" rIns="137160" bIns="91440" anchor="t">
            <a:normAutofit/>
          </a:bodyPr>
          <a:lstStyle/>
          <a:p>
            <a:pPr marL="228600" indent="-228600" algn="l">
              <a:spcBef>
                <a:spcPts val="440"/>
              </a:spcBef>
              <a:buClr>
                <a:srgbClr val="C55A11"/>
              </a:buClr>
              <a:buSzPct val="90000"/>
              <a:buFont typeface="Arial"/>
              <a:buChar char="■"/>
            </a:pPr>
            <a:r>
              <a:rPr lang="en-US" sz="1450" b="0" i="0" dirty="0">
                <a:solidFill>
                  <a:srgbClr val="1A1D21"/>
                </a:solidFill>
                <a:latin typeface="Calibri"/>
              </a:rPr>
              <a:t>Full attention with 128 heads at FP16</a:t>
            </a:r>
          </a:p>
          <a:p>
            <a:pPr marL="457200" indent="-228600" algn="l">
              <a:spcBef>
                <a:spcPts val="320"/>
              </a:spcBef>
              <a:buClr>
                <a:srgbClr val="8FA3BF"/>
              </a:buClr>
              <a:buSzPct val="90000"/>
              <a:buFont typeface="Arial"/>
              <a:buChar char="–"/>
            </a:pPr>
            <a:r>
              <a:rPr lang="en-US" sz="1300" b="0" i="0" dirty="0">
                <a:solidFill>
                  <a:srgbClr val="5F6368"/>
                </a:solidFill>
                <a:latin typeface="Calibri"/>
              </a:rPr>
              <a:t>Gives exactly 35 and 84 percent</a:t>
            </a:r>
          </a:p>
          <a:p>
            <a:pPr marL="228600" indent="-228600" algn="l">
              <a:spcBef>
                <a:spcPts val="440"/>
              </a:spcBef>
              <a:buClr>
                <a:srgbClr val="C55A11"/>
              </a:buClr>
              <a:buSzPct val="90000"/>
              <a:buFont typeface="Arial"/>
              <a:buChar char="■"/>
            </a:pPr>
            <a:r>
              <a:rPr lang="en-US" sz="1450" b="0" i="0" dirty="0">
                <a:solidFill>
                  <a:srgbClr val="1A1D21"/>
                </a:solidFill>
                <a:latin typeface="Calibri"/>
              </a:rPr>
              <a:t>DECISION: default to the paper's values</a:t>
            </a:r>
          </a:p>
          <a:p>
            <a:pPr marL="457200" indent="-228600" algn="l">
              <a:spcBef>
                <a:spcPts val="320"/>
              </a:spcBef>
              <a:buClr>
                <a:srgbClr val="8FA3BF"/>
              </a:buClr>
              <a:buSzPct val="90000"/>
              <a:buFont typeface="Arial"/>
              <a:buChar char="–"/>
            </a:pPr>
            <a:r>
              <a:rPr lang="en-US" sz="1300" b="0" i="0" dirty="0">
                <a:solidFill>
                  <a:srgbClr val="5F6368"/>
                </a:solidFill>
                <a:latin typeface="Calibri"/>
              </a:rPr>
              <a:t>Switching to the official config is one line</a:t>
            </a:r>
          </a:p>
        </p:txBody>
      </p:sp>
      <p:sp>
        <p:nvSpPr>
          <p:cNvPr id="177" name="nb"/>
          <p:cNvSpPr txBox="1"/>
          <p:nvPr/>
        </p:nvSpPr>
        <p:spPr>
          <a:xfrm>
            <a:off x="731520" y="4980000"/>
            <a:ext cx="68580" cy="1150000"/>
          </a:xfrm>
          <a:prstGeom prst="rect">
            <a:avLst/>
          </a:prstGeom>
          <a:solidFill>
            <a:srgbClr val="C55A11"/>
          </a:solidFill>
          <a:ln>
            <a:noFill/>
          </a:ln>
        </p:spPr>
        <p:txBody>
          <a:bodyPr wrap="square" lIns="137160" tIns="91440" rIns="137160" bIns="91440" anchor="t">
            <a:normAutofit/>
          </a:bodyPr>
          <a:lstStyle/>
          <a:p>
            <a:endParaRPr lang="en-US"/>
          </a:p>
        </p:txBody>
      </p:sp>
      <p:sp>
        <p:nvSpPr>
          <p:cNvPr id="178" name="sh"/>
          <p:cNvSpPr txBox="1"/>
          <p:nvPr/>
        </p:nvSpPr>
        <p:spPr>
          <a:xfrm>
            <a:off x="800100" y="4980000"/>
            <a:ext cx="10660380" cy="1150000"/>
          </a:xfrm>
          <a:prstGeom prst="rect">
            <a:avLst/>
          </a:prstGeom>
          <a:solidFill>
            <a:srgbClr val="EAEFF6"/>
          </a:solidFill>
          <a:ln>
            <a:noFill/>
          </a:ln>
        </p:spPr>
        <p:txBody>
          <a:bodyPr wrap="square" lIns="137160" tIns="91440" rIns="137160" bIns="91440" anchor="t">
            <a:normAutofit/>
          </a:bodyPr>
          <a:lstStyle/>
          <a:p>
            <a:pPr marL="0" indent="0" algn="l">
              <a:buNone/>
            </a:pPr>
            <a:r>
              <a:rPr lang="en-US" sz="1000" b="1" i="0" spc="200" dirty="0">
                <a:solidFill>
                  <a:srgbClr val="C55A11"/>
                </a:solidFill>
                <a:latin typeface="Calibri"/>
              </a:rPr>
              <a:t>IN PLAIN WORDS</a:t>
            </a:r>
          </a:p>
          <a:p>
            <a:pPr marL="0" indent="0" algn="l">
              <a:spcBef>
                <a:spcPts val="250"/>
              </a:spcBef>
              <a:buNone/>
            </a:pPr>
            <a:r>
              <a:rPr lang="en-US" sz="1400" b="0" i="0" dirty="0">
                <a:solidFill>
                  <a:srgbClr val="1A1D21"/>
                </a:solidFill>
                <a:latin typeface="Calibri"/>
              </a:rPr>
              <a:t>This matters because with the official configuration the cache is 16 times smaller, and the case for a 3 TB flash tier weakens considerably. We could not resolve it from the paper, so we documented both rather than choosing silently.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bg"/>
          <p:cNvSpPr txBox="1"/>
          <p:nvPr/>
        </p:nvSpPr>
        <p:spPr>
          <a:xfrm>
            <a:off x="0" y="0"/>
            <a:ext cx="12192000" cy="6858000"/>
          </a:xfrm>
          <a:prstGeom prst="rect">
            <a:avLst/>
          </a:prstGeom>
          <a:solidFill>
            <a:srgbClr val="1F3864"/>
          </a:solidFill>
          <a:ln>
            <a:noFill/>
          </a:ln>
        </p:spPr>
        <p:txBody>
          <a:bodyPr wrap="square" lIns="137160" tIns="91440" rIns="137160" bIns="91440" anchor="t">
            <a:normAutofit/>
          </a:bodyPr>
          <a:lstStyle/>
          <a:p>
            <a:endParaRPr lang="en-US"/>
          </a:p>
        </p:txBody>
      </p:sp>
      <p:sp>
        <p:nvSpPr>
          <p:cNvPr id="180" name="sh"/>
          <p:cNvSpPr txBox="1"/>
          <p:nvPr/>
        </p:nvSpPr>
        <p:spPr>
          <a:xfrm>
            <a:off x="0" y="0"/>
            <a:ext cx="12192000" cy="137160"/>
          </a:xfrm>
          <a:prstGeom prst="rect">
            <a:avLst/>
          </a:prstGeom>
          <a:solidFill>
            <a:srgbClr val="C55A11"/>
          </a:solidFill>
          <a:ln>
            <a:noFill/>
          </a:ln>
        </p:spPr>
        <p:txBody>
          <a:bodyPr wrap="square" lIns="137160" tIns="91440" rIns="137160" bIns="91440" anchor="t">
            <a:normAutofit/>
          </a:bodyPr>
          <a:lstStyle/>
          <a:p>
            <a:endParaRPr lang="en-US"/>
          </a:p>
        </p:txBody>
      </p:sp>
      <p:sp>
        <p:nvSpPr>
          <p:cNvPr id="181" name="sh"/>
          <p:cNvSpPr txBox="1"/>
          <p:nvPr/>
        </p:nvSpPr>
        <p:spPr>
          <a:xfrm>
            <a:off x="731520" y="2100000"/>
            <a:ext cx="3000000" cy="1800000"/>
          </a:xfrm>
          <a:prstGeom prst="rect">
            <a:avLst/>
          </a:prstGeom>
          <a:noFill/>
          <a:ln>
            <a:noFill/>
          </a:ln>
        </p:spPr>
        <p:txBody>
          <a:bodyPr wrap="square" lIns="0" tIns="0" rIns="0" bIns="0" anchor="t">
            <a:normAutofit/>
          </a:bodyPr>
          <a:lstStyle/>
          <a:p>
            <a:pPr marL="0" indent="0" algn="l">
              <a:buNone/>
            </a:pPr>
            <a:r>
              <a:rPr lang="en-US" sz="12000" b="1" i="0" dirty="0">
                <a:solidFill>
                  <a:srgbClr val="2C4F80"/>
                </a:solidFill>
                <a:latin typeface="Calibri"/>
              </a:rPr>
              <a:t>04</a:t>
            </a:r>
          </a:p>
        </p:txBody>
      </p:sp>
      <p:sp>
        <p:nvSpPr>
          <p:cNvPr id="182" name="sh"/>
          <p:cNvSpPr txBox="1"/>
          <p:nvPr/>
        </p:nvSpPr>
        <p:spPr>
          <a:xfrm>
            <a:off x="2031520" y="2600000"/>
            <a:ext cx="9428960" cy="900000"/>
          </a:xfrm>
          <a:prstGeom prst="rect">
            <a:avLst/>
          </a:prstGeom>
          <a:noFill/>
          <a:ln>
            <a:noFill/>
          </a:ln>
        </p:spPr>
        <p:txBody>
          <a:bodyPr wrap="square" lIns="0" tIns="0" rIns="0" bIns="0" anchor="t">
            <a:normAutofit/>
          </a:bodyPr>
          <a:lstStyle/>
          <a:p>
            <a:pPr marL="0" indent="0" algn="l">
              <a:buNone/>
            </a:pPr>
            <a:r>
              <a:rPr lang="en-US" sz="3400" b="1" i="0" dirty="0">
                <a:solidFill>
                  <a:srgbClr val="FFFFFF"/>
                </a:solidFill>
                <a:latin typeface="Calibri"/>
              </a:rPr>
              <a:t>Testing and results</a:t>
            </a:r>
          </a:p>
        </p:txBody>
      </p:sp>
      <p:sp>
        <p:nvSpPr>
          <p:cNvPr id="183" name="sh"/>
          <p:cNvSpPr txBox="1"/>
          <p:nvPr/>
        </p:nvSpPr>
        <p:spPr>
          <a:xfrm>
            <a:off x="2031520" y="3600000"/>
            <a:ext cx="9428960" cy="600000"/>
          </a:xfrm>
          <a:prstGeom prst="rect">
            <a:avLst/>
          </a:prstGeom>
          <a:noFill/>
          <a:ln>
            <a:noFill/>
          </a:ln>
        </p:spPr>
        <p:txBody>
          <a:bodyPr wrap="square" lIns="0" tIns="0" rIns="0" bIns="0" anchor="t">
            <a:normAutofit/>
          </a:bodyPr>
          <a:lstStyle/>
          <a:p>
            <a:pPr marL="0" indent="0" algn="l">
              <a:buNone/>
            </a:pPr>
            <a:r>
              <a:rPr lang="en-US" sz="1500" b="0" i="0" dirty="0">
                <a:solidFill>
                  <a:srgbClr val="9DB2D4"/>
                </a:solidFill>
                <a:latin typeface="Calibri"/>
              </a:rPr>
              <a:t>What works, what does not, and what it cost</a:t>
            </a:r>
          </a:p>
        </p:txBody>
      </p:sp>
      <p:sp>
        <p:nvSpPr>
          <p:cNvPr id="184" name="sh"/>
          <p:cNvSpPr txBox="1"/>
          <p:nvPr/>
        </p:nvSpPr>
        <p:spPr>
          <a:xfrm>
            <a:off x="10760480" y="6358000"/>
            <a:ext cx="700000" cy="300000"/>
          </a:xfrm>
          <a:prstGeom prst="rect">
            <a:avLst/>
          </a:prstGeom>
          <a:noFill/>
          <a:ln>
            <a:noFill/>
          </a:ln>
        </p:spPr>
        <p:txBody>
          <a:bodyPr wrap="square" lIns="0" tIns="0" rIns="0" bIns="0" anchor="t">
            <a:normAutofit/>
          </a:bodyPr>
          <a:lstStyle/>
          <a:p>
            <a:pPr marL="0" indent="0" algn="r">
              <a:buNone/>
            </a:pPr>
            <a:r>
              <a:rPr lang="en-US" sz="1100" b="1" i="0" dirty="0">
                <a:solidFill>
                  <a:srgbClr val="5C7BA6"/>
                </a:solidFill>
                <a:latin typeface="Calibri"/>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rule"/>
          <p:cNvSpPr txBox="1"/>
          <p:nvPr/>
        </p:nvSpPr>
        <p:spPr>
          <a:xfrm>
            <a:off x="0" y="0"/>
            <a:ext cx="12192000" cy="68580"/>
          </a:xfrm>
          <a:prstGeom prst="rect">
            <a:avLst/>
          </a:prstGeom>
          <a:solidFill>
            <a:srgbClr val="C55A11"/>
          </a:solidFill>
          <a:ln>
            <a:noFill/>
          </a:ln>
        </p:spPr>
        <p:txBody>
          <a:bodyPr wrap="square" lIns="137160" tIns="91440" rIns="137160" bIns="91440" anchor="t">
            <a:normAutofit/>
          </a:bodyPr>
          <a:lstStyle/>
          <a:p>
            <a:endParaRPr lang="en-US"/>
          </a:p>
        </p:txBody>
      </p:sp>
      <p:sp>
        <p:nvSpPr>
          <p:cNvPr id="186" name="spine"/>
          <p:cNvSpPr txBox="1"/>
          <p:nvPr/>
        </p:nvSpPr>
        <p:spPr>
          <a:xfrm>
            <a:off x="0" y="68580"/>
            <a:ext cx="137160" cy="6789420"/>
          </a:xfrm>
          <a:prstGeom prst="rect">
            <a:avLst/>
          </a:prstGeom>
          <a:solidFill>
            <a:srgbClr val="1F3864"/>
          </a:solidFill>
          <a:ln>
            <a:noFill/>
          </a:ln>
        </p:spPr>
        <p:txBody>
          <a:bodyPr wrap="square" lIns="137160" tIns="91440" rIns="137160" bIns="91440" anchor="t">
            <a:normAutofit/>
          </a:bodyPr>
          <a:lstStyle/>
          <a:p>
            <a:endParaRPr lang="en-US"/>
          </a:p>
        </p:txBody>
      </p:sp>
      <p:sp>
        <p:nvSpPr>
          <p:cNvPr id="187" name="sh"/>
          <p:cNvSpPr txBox="1"/>
          <p:nvPr/>
        </p:nvSpPr>
        <p:spPr>
          <a:xfrm>
            <a:off x="731520" y="320040"/>
            <a:ext cx="10728960" cy="300000"/>
          </a:xfrm>
          <a:prstGeom prst="rect">
            <a:avLst/>
          </a:prstGeom>
          <a:noFill/>
          <a:ln>
            <a:noFill/>
          </a:ln>
        </p:spPr>
        <p:txBody>
          <a:bodyPr wrap="square" lIns="0" tIns="0" rIns="0" bIns="0" anchor="t">
            <a:normAutofit/>
          </a:bodyPr>
          <a:lstStyle/>
          <a:p>
            <a:pPr marL="0" indent="0" algn="l">
              <a:buNone/>
            </a:pPr>
            <a:r>
              <a:rPr lang="en-US" sz="1100" b="1" i="0" spc="300" dirty="0">
                <a:solidFill>
                  <a:srgbClr val="C55A11"/>
                </a:solidFill>
                <a:latin typeface="Calibri"/>
              </a:rPr>
              <a:t>TESTING</a:t>
            </a:r>
          </a:p>
        </p:txBody>
      </p:sp>
      <p:sp>
        <p:nvSpPr>
          <p:cNvPr id="188" name="sh"/>
          <p:cNvSpPr txBox="1"/>
          <p:nvPr/>
        </p:nvSpPr>
        <p:spPr>
          <a:xfrm>
            <a:off x="731520" y="620000"/>
            <a:ext cx="10728960" cy="780000"/>
          </a:xfrm>
          <a:prstGeom prst="rect">
            <a:avLst/>
          </a:prstGeom>
          <a:noFill/>
          <a:ln>
            <a:noFill/>
          </a:ln>
        </p:spPr>
        <p:txBody>
          <a:bodyPr wrap="square" lIns="0" tIns="0" rIns="0" bIns="0" anchor="t">
            <a:normAutofit/>
          </a:bodyPr>
          <a:lstStyle/>
          <a:p>
            <a:pPr marL="0" indent="0" algn="l">
              <a:buNone/>
            </a:pPr>
            <a:r>
              <a:rPr lang="en-US" sz="2600" b="1" i="0" dirty="0">
                <a:solidFill>
                  <a:srgbClr val="1F3864"/>
                </a:solidFill>
                <a:latin typeface="Calibri"/>
              </a:rPr>
              <a:t>How we tested it</a:t>
            </a:r>
          </a:p>
        </p:txBody>
      </p:sp>
      <p:sp>
        <p:nvSpPr>
          <p:cNvPr id="189" name="ul"/>
          <p:cNvSpPr txBox="1"/>
          <p:nvPr/>
        </p:nvSpPr>
        <p:spPr>
          <a:xfrm>
            <a:off x="731520" y="1400000"/>
            <a:ext cx="1600000" cy="40000"/>
          </a:xfrm>
          <a:prstGeom prst="rect">
            <a:avLst/>
          </a:prstGeom>
          <a:solidFill>
            <a:srgbClr val="C55A11"/>
          </a:solidFill>
          <a:ln>
            <a:noFill/>
          </a:ln>
        </p:spPr>
        <p:txBody>
          <a:bodyPr wrap="square" lIns="137160" tIns="91440" rIns="137160" bIns="91440" anchor="t">
            <a:normAutofit/>
          </a:bodyPr>
          <a:lstStyle/>
          <a:p>
            <a:endParaRPr lang="en-US"/>
          </a:p>
        </p:txBody>
      </p:sp>
      <p:sp>
        <p:nvSpPr>
          <p:cNvPr id="190" name="sh"/>
          <p:cNvSpPr txBox="1"/>
          <p:nvPr/>
        </p:nvSpPr>
        <p:spPr>
          <a:xfrm>
            <a:off x="731520" y="6358000"/>
            <a:ext cx="6437376" cy="300000"/>
          </a:xfrm>
          <a:prstGeom prst="rect">
            <a:avLst/>
          </a:prstGeom>
          <a:noFill/>
          <a:ln>
            <a:noFill/>
          </a:ln>
        </p:spPr>
        <p:txBody>
          <a:bodyPr wrap="square" lIns="0" tIns="0" rIns="0" bIns="0" anchor="t">
            <a:normAutofit/>
          </a:bodyPr>
          <a:lstStyle/>
          <a:p>
            <a:pPr marL="0" indent="0" algn="l">
              <a:buNone/>
            </a:pPr>
            <a:r>
              <a:rPr lang="en-US" sz="1000" b="0" i="0" dirty="0">
                <a:solidFill>
                  <a:srgbClr val="8FA3BF"/>
                </a:solidFill>
                <a:latin typeface="Calibri"/>
              </a:rPr>
              <a:t>H3 cycle-accurate memory simulator</a:t>
            </a:r>
          </a:p>
        </p:txBody>
      </p:sp>
      <p:sp>
        <p:nvSpPr>
          <p:cNvPr id="191" name="sh"/>
          <p:cNvSpPr txBox="1"/>
          <p:nvPr/>
        </p:nvSpPr>
        <p:spPr>
          <a:xfrm>
            <a:off x="10760480" y="6358000"/>
            <a:ext cx="700000" cy="300000"/>
          </a:xfrm>
          <a:prstGeom prst="rect">
            <a:avLst/>
          </a:prstGeom>
          <a:noFill/>
          <a:ln>
            <a:noFill/>
          </a:ln>
        </p:spPr>
        <p:txBody>
          <a:bodyPr wrap="square" lIns="0" tIns="0" rIns="0" bIns="0" anchor="t">
            <a:normAutofit/>
          </a:bodyPr>
          <a:lstStyle/>
          <a:p>
            <a:pPr marL="0" indent="0" algn="r">
              <a:buNone/>
            </a:pPr>
            <a:r>
              <a:rPr lang="en-US" sz="1100" b="1" i="0" dirty="0">
                <a:solidFill>
                  <a:srgbClr val="8FA3BF"/>
                </a:solidFill>
                <a:latin typeface="Calibri"/>
              </a:rPr>
              <a:t>17</a:t>
            </a:r>
          </a:p>
        </p:txBody>
      </p:sp>
      <p:sp>
        <p:nvSpPr>
          <p:cNvPr id="192" name="sh"/>
          <p:cNvSpPr txBox="1"/>
          <p:nvPr/>
        </p:nvSpPr>
        <p:spPr>
          <a:xfrm>
            <a:off x="731520" y="1560000"/>
            <a:ext cx="5214480" cy="340000"/>
          </a:xfrm>
          <a:prstGeom prst="rect">
            <a:avLst/>
          </a:prstGeom>
          <a:solidFill>
            <a:srgbClr val="1F3864"/>
          </a:solidFill>
          <a:ln>
            <a:noFill/>
          </a:ln>
        </p:spPr>
        <p:txBody>
          <a:bodyPr wrap="square" lIns="114300" tIns="60960" rIns="114300" bIns="60960" anchor="t">
            <a:normAutofit/>
          </a:bodyPr>
          <a:lstStyle/>
          <a:p>
            <a:pPr marL="0" indent="0" algn="l">
              <a:buNone/>
            </a:pPr>
            <a:r>
              <a:rPr lang="en-US" sz="1150" b="1" i="0" spc="200" dirty="0">
                <a:solidFill>
                  <a:srgbClr val="FFFFFF"/>
                </a:solidFill>
                <a:latin typeface="Calibri"/>
              </a:rPr>
              <a:t>APPROACH</a:t>
            </a:r>
          </a:p>
        </p:txBody>
      </p:sp>
      <p:sp>
        <p:nvSpPr>
          <p:cNvPr id="193" name="sh"/>
          <p:cNvSpPr txBox="1"/>
          <p:nvPr/>
        </p:nvSpPr>
        <p:spPr>
          <a:xfrm>
            <a:off x="731520" y="1980000"/>
            <a:ext cx="5214480" cy="2800000"/>
          </a:xfrm>
          <a:prstGeom prst="rect">
            <a:avLst/>
          </a:prstGeom>
          <a:solidFill>
            <a:srgbClr val="F5F7FA"/>
          </a:solidFill>
          <a:ln>
            <a:noFill/>
          </a:ln>
        </p:spPr>
        <p:txBody>
          <a:bodyPr wrap="square" lIns="137160" tIns="91440" rIns="137160" bIns="91440" anchor="t">
            <a:normAutofit/>
          </a:bodyPr>
          <a:lstStyle/>
          <a:p>
            <a:pPr marL="228600" indent="-228600" algn="l">
              <a:spcBef>
                <a:spcPts val="440"/>
              </a:spcBef>
              <a:buClr>
                <a:srgbClr val="C55A11"/>
              </a:buClr>
              <a:buSzPct val="90000"/>
              <a:buFont typeface="Arial"/>
              <a:buChar char="■"/>
            </a:pPr>
            <a:r>
              <a:rPr lang="en-US" sz="1450" b="0" i="0" dirty="0">
                <a:solidFill>
                  <a:srgbClr val="1A1D21"/>
                </a:solidFill>
                <a:latin typeface="Calibri"/>
              </a:rPr>
              <a:t>197 automated checks in 5 test programs</a:t>
            </a:r>
          </a:p>
          <a:p>
            <a:pPr marL="228600" indent="-228600" algn="l">
              <a:spcBef>
                <a:spcPts val="440"/>
              </a:spcBef>
              <a:buClr>
                <a:srgbClr val="C55A11"/>
              </a:buClr>
              <a:buSzPct val="90000"/>
              <a:buFont typeface="Arial"/>
              <a:buChar char="■"/>
            </a:pPr>
            <a:r>
              <a:rPr lang="en-US" sz="1450" b="0" i="0" dirty="0">
                <a:solidFill>
                  <a:srgbClr val="1A1D21"/>
                </a:solidFill>
                <a:latin typeface="Calibri"/>
              </a:rPr>
              <a:t>DECISION: H3 code depends on neither simulator</a:t>
            </a:r>
          </a:p>
          <a:p>
            <a:pPr marL="457200" indent="-228600" algn="l">
              <a:spcBef>
                <a:spcPts val="320"/>
              </a:spcBef>
              <a:buClr>
                <a:srgbClr val="8FA3BF"/>
              </a:buClr>
              <a:buSzPct val="90000"/>
              <a:buFont typeface="Arial"/>
              <a:buChar char="–"/>
            </a:pPr>
            <a:r>
              <a:rPr lang="en-US" sz="1300" b="0" i="0" dirty="0">
                <a:solidFill>
                  <a:srgbClr val="5F6368"/>
                </a:solidFill>
                <a:latin typeface="Calibri"/>
              </a:rPr>
              <a:t>So tests run in seconds, not after a 30 minute build</a:t>
            </a:r>
          </a:p>
          <a:p>
            <a:pPr marL="228600" indent="-228600" algn="l">
              <a:spcBef>
                <a:spcPts val="440"/>
              </a:spcBef>
              <a:buClr>
                <a:srgbClr val="C55A11"/>
              </a:buClr>
              <a:buSzPct val="90000"/>
              <a:buFont typeface="Arial"/>
              <a:buChar char="■"/>
            </a:pPr>
            <a:r>
              <a:rPr lang="en-US" sz="1450" b="0" i="0" dirty="0">
                <a:solidFill>
                  <a:srgbClr val="1A1D21"/>
                </a:solidFill>
                <a:latin typeface="Calibri"/>
              </a:rPr>
              <a:t>A trace checker validates input before the simulator sees it</a:t>
            </a:r>
          </a:p>
        </p:txBody>
      </p:sp>
      <p:sp>
        <p:nvSpPr>
          <p:cNvPr id="194" name="sh"/>
          <p:cNvSpPr txBox="1"/>
          <p:nvPr/>
        </p:nvSpPr>
        <p:spPr>
          <a:xfrm>
            <a:off x="6246000" y="1560000"/>
            <a:ext cx="5214480" cy="340000"/>
          </a:xfrm>
          <a:prstGeom prst="rect">
            <a:avLst/>
          </a:prstGeom>
          <a:solidFill>
            <a:srgbClr val="C55A11"/>
          </a:solidFill>
          <a:ln>
            <a:noFill/>
          </a:ln>
        </p:spPr>
        <p:txBody>
          <a:bodyPr wrap="square" lIns="114300" tIns="60960" rIns="114300" bIns="60960" anchor="t">
            <a:normAutofit/>
          </a:bodyPr>
          <a:lstStyle/>
          <a:p>
            <a:pPr marL="0" indent="0" algn="l">
              <a:buNone/>
            </a:pPr>
            <a:r>
              <a:rPr lang="en-US" sz="1150" b="1" i="0" spc="200" dirty="0">
                <a:solidFill>
                  <a:srgbClr val="FFFFFF"/>
                </a:solidFill>
                <a:latin typeface="Calibri"/>
              </a:rPr>
              <a:t>WHAT IS CHECKED</a:t>
            </a:r>
          </a:p>
        </p:txBody>
      </p:sp>
      <p:sp>
        <p:nvSpPr>
          <p:cNvPr id="195" name="sh"/>
          <p:cNvSpPr txBox="1"/>
          <p:nvPr/>
        </p:nvSpPr>
        <p:spPr>
          <a:xfrm>
            <a:off x="6246000" y="1980000"/>
            <a:ext cx="5214480" cy="2800000"/>
          </a:xfrm>
          <a:prstGeom prst="rect">
            <a:avLst/>
          </a:prstGeom>
          <a:solidFill>
            <a:srgbClr val="F5F7FA"/>
          </a:solidFill>
          <a:ln>
            <a:noFill/>
          </a:ln>
        </p:spPr>
        <p:txBody>
          <a:bodyPr wrap="square" lIns="137160" tIns="91440" rIns="137160" bIns="91440" anchor="t">
            <a:normAutofit/>
          </a:bodyPr>
          <a:lstStyle/>
          <a:p>
            <a:pPr marL="228600" indent="-228600" algn="l">
              <a:spcBef>
                <a:spcPts val="440"/>
              </a:spcBef>
              <a:buClr>
                <a:srgbClr val="C55A11"/>
              </a:buClr>
              <a:buSzPct val="90000"/>
              <a:buFont typeface="Arial"/>
              <a:buChar char="■"/>
            </a:pPr>
            <a:r>
              <a:rPr lang="en-US" sz="1450" b="0" i="0" dirty="0">
                <a:solidFill>
                  <a:srgbClr val="1A1D21"/>
                </a:solidFill>
                <a:latin typeface="Calibri"/>
              </a:rPr>
              <a:t>A buffer hit must generate NO flash traffic</a:t>
            </a:r>
          </a:p>
          <a:p>
            <a:pPr marL="228600" indent="-228600" algn="l">
              <a:spcBef>
                <a:spcPts val="440"/>
              </a:spcBef>
              <a:buClr>
                <a:srgbClr val="C55A11"/>
              </a:buClr>
              <a:buSzPct val="90000"/>
              <a:buFont typeface="Arial"/>
              <a:buChar char="■"/>
            </a:pPr>
            <a:r>
              <a:rPr lang="en-US" sz="1450" b="0" i="0" dirty="0">
                <a:solidFill>
                  <a:srgbClr val="1A1D21"/>
                </a:solidFill>
                <a:latin typeface="Calibri"/>
              </a:rPr>
              <a:t>Data in transit must never be reported as ready</a:t>
            </a:r>
          </a:p>
          <a:p>
            <a:pPr marL="228600" indent="-228600" algn="l">
              <a:spcBef>
                <a:spcPts val="440"/>
              </a:spcBef>
              <a:buClr>
                <a:srgbClr val="C55A11"/>
              </a:buClr>
              <a:buSzPct val="90000"/>
              <a:buFont typeface="Arial"/>
              <a:buChar char="■"/>
            </a:pPr>
            <a:r>
              <a:rPr lang="en-US" sz="1450" b="0" i="0" dirty="0">
                <a:solidFill>
                  <a:srgbClr val="1A1D21"/>
                </a:solidFill>
                <a:latin typeface="Calibri"/>
              </a:rPr>
              <a:t>Per-GPU settings must be divided across partitions</a:t>
            </a:r>
          </a:p>
          <a:p>
            <a:pPr marL="457200" indent="-228600" algn="l">
              <a:spcBef>
                <a:spcPts val="320"/>
              </a:spcBef>
              <a:buClr>
                <a:srgbClr val="8FA3BF"/>
              </a:buClr>
              <a:buSzPct val="90000"/>
              <a:buFont typeface="Arial"/>
              <a:buChar char="–"/>
            </a:pPr>
            <a:r>
              <a:rPr lang="en-US" sz="1300" b="0" i="0" dirty="0">
                <a:solidFill>
                  <a:srgbClr val="5F6368"/>
                </a:solidFill>
                <a:latin typeface="Calibri"/>
              </a:rPr>
              <a:t>Several tests exist because they caught a real bug</a:t>
            </a:r>
          </a:p>
        </p:txBody>
      </p:sp>
      <p:sp>
        <p:nvSpPr>
          <p:cNvPr id="196" name="nb"/>
          <p:cNvSpPr txBox="1"/>
          <p:nvPr/>
        </p:nvSpPr>
        <p:spPr>
          <a:xfrm>
            <a:off x="731520" y="4980000"/>
            <a:ext cx="68580" cy="1150000"/>
          </a:xfrm>
          <a:prstGeom prst="rect">
            <a:avLst/>
          </a:prstGeom>
          <a:solidFill>
            <a:srgbClr val="C55A11"/>
          </a:solidFill>
          <a:ln>
            <a:noFill/>
          </a:ln>
        </p:spPr>
        <p:txBody>
          <a:bodyPr wrap="square" lIns="137160" tIns="91440" rIns="137160" bIns="91440" anchor="t">
            <a:normAutofit/>
          </a:bodyPr>
          <a:lstStyle/>
          <a:p>
            <a:endParaRPr lang="en-US"/>
          </a:p>
        </p:txBody>
      </p:sp>
      <p:sp>
        <p:nvSpPr>
          <p:cNvPr id="197" name="sh"/>
          <p:cNvSpPr txBox="1"/>
          <p:nvPr/>
        </p:nvSpPr>
        <p:spPr>
          <a:xfrm>
            <a:off x="800100" y="4980000"/>
            <a:ext cx="10660380" cy="1150000"/>
          </a:xfrm>
          <a:prstGeom prst="rect">
            <a:avLst/>
          </a:prstGeom>
          <a:solidFill>
            <a:srgbClr val="EAEFF6"/>
          </a:solidFill>
          <a:ln>
            <a:noFill/>
          </a:ln>
        </p:spPr>
        <p:txBody>
          <a:bodyPr wrap="square" lIns="137160" tIns="91440" rIns="137160" bIns="91440" anchor="t">
            <a:normAutofit/>
          </a:bodyPr>
          <a:lstStyle/>
          <a:p>
            <a:pPr marL="0" indent="0" algn="l">
              <a:buNone/>
            </a:pPr>
            <a:r>
              <a:rPr lang="en-US" sz="1000" b="1" i="0" spc="200" dirty="0">
                <a:solidFill>
                  <a:srgbClr val="C55A11"/>
                </a:solidFill>
                <a:latin typeface="Calibri"/>
              </a:rPr>
              <a:t>IN PLAIN WORDS</a:t>
            </a:r>
          </a:p>
          <a:p>
            <a:pPr marL="0" indent="0" algn="l">
              <a:spcBef>
                <a:spcPts val="250"/>
              </a:spcBef>
              <a:buNone/>
            </a:pPr>
            <a:r>
              <a:rPr lang="en-US" sz="1400" b="0" i="0" dirty="0">
                <a:solidFill>
                  <a:srgbClr val="1A1D21"/>
                </a:solidFill>
                <a:latin typeface="Calibri"/>
              </a:rPr>
              <a:t>Keeping our components independent of the large simulators means a mistake shows up in seconds rather than after a long build. Each test that guards a past bug is named for the problem it prevents.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rule"/>
          <p:cNvSpPr txBox="1"/>
          <p:nvPr/>
        </p:nvSpPr>
        <p:spPr>
          <a:xfrm>
            <a:off x="0" y="0"/>
            <a:ext cx="12192000" cy="68580"/>
          </a:xfrm>
          <a:prstGeom prst="rect">
            <a:avLst/>
          </a:prstGeom>
          <a:solidFill>
            <a:srgbClr val="C55A11"/>
          </a:solidFill>
          <a:ln>
            <a:noFill/>
          </a:ln>
        </p:spPr>
        <p:txBody>
          <a:bodyPr wrap="square" lIns="137160" tIns="91440" rIns="137160" bIns="91440" anchor="t">
            <a:normAutofit/>
          </a:bodyPr>
          <a:lstStyle/>
          <a:p>
            <a:endParaRPr lang="en-US"/>
          </a:p>
        </p:txBody>
      </p:sp>
      <p:sp>
        <p:nvSpPr>
          <p:cNvPr id="199" name="spine"/>
          <p:cNvSpPr txBox="1"/>
          <p:nvPr/>
        </p:nvSpPr>
        <p:spPr>
          <a:xfrm>
            <a:off x="0" y="68580"/>
            <a:ext cx="137160" cy="6789420"/>
          </a:xfrm>
          <a:prstGeom prst="rect">
            <a:avLst/>
          </a:prstGeom>
          <a:solidFill>
            <a:srgbClr val="1F3864"/>
          </a:solidFill>
          <a:ln>
            <a:noFill/>
          </a:ln>
        </p:spPr>
        <p:txBody>
          <a:bodyPr wrap="square" lIns="137160" tIns="91440" rIns="137160" bIns="91440" anchor="t">
            <a:normAutofit/>
          </a:bodyPr>
          <a:lstStyle/>
          <a:p>
            <a:endParaRPr lang="en-US"/>
          </a:p>
        </p:txBody>
      </p:sp>
      <p:sp>
        <p:nvSpPr>
          <p:cNvPr id="200" name="sh"/>
          <p:cNvSpPr txBox="1"/>
          <p:nvPr/>
        </p:nvSpPr>
        <p:spPr>
          <a:xfrm>
            <a:off x="731520" y="320040"/>
            <a:ext cx="10728960" cy="300000"/>
          </a:xfrm>
          <a:prstGeom prst="rect">
            <a:avLst/>
          </a:prstGeom>
          <a:noFill/>
          <a:ln>
            <a:noFill/>
          </a:ln>
        </p:spPr>
        <p:txBody>
          <a:bodyPr wrap="square" lIns="0" tIns="0" rIns="0" bIns="0" anchor="t">
            <a:normAutofit/>
          </a:bodyPr>
          <a:lstStyle/>
          <a:p>
            <a:pPr marL="0" indent="0" algn="l">
              <a:buNone/>
            </a:pPr>
            <a:r>
              <a:rPr lang="en-US" sz="1100" b="1" i="0" spc="300" dirty="0">
                <a:solidFill>
                  <a:srgbClr val="C55A11"/>
                </a:solidFill>
                <a:latin typeface="Calibri"/>
              </a:rPr>
              <a:t>RESULTS</a:t>
            </a:r>
          </a:p>
        </p:txBody>
      </p:sp>
      <p:sp>
        <p:nvSpPr>
          <p:cNvPr id="201" name="sh"/>
          <p:cNvSpPr txBox="1"/>
          <p:nvPr/>
        </p:nvSpPr>
        <p:spPr>
          <a:xfrm>
            <a:off x="731520" y="620000"/>
            <a:ext cx="10728960" cy="780000"/>
          </a:xfrm>
          <a:prstGeom prst="rect">
            <a:avLst/>
          </a:prstGeom>
          <a:noFill/>
          <a:ln>
            <a:noFill/>
          </a:ln>
        </p:spPr>
        <p:txBody>
          <a:bodyPr wrap="square" lIns="0" tIns="0" rIns="0" bIns="0" anchor="t">
            <a:normAutofit/>
          </a:bodyPr>
          <a:lstStyle/>
          <a:p>
            <a:pPr marL="0" indent="0" algn="l">
              <a:buNone/>
            </a:pPr>
            <a:r>
              <a:rPr lang="en-US" sz="2600" b="1" i="0" dirty="0">
                <a:solidFill>
                  <a:srgbClr val="1F3864"/>
                </a:solidFill>
                <a:latin typeface="Calibri"/>
              </a:rPr>
              <a:t>Bugs the detailed model exposed</a:t>
            </a:r>
          </a:p>
        </p:txBody>
      </p:sp>
      <p:sp>
        <p:nvSpPr>
          <p:cNvPr id="202" name="ul"/>
          <p:cNvSpPr txBox="1"/>
          <p:nvPr/>
        </p:nvSpPr>
        <p:spPr>
          <a:xfrm>
            <a:off x="731520" y="1400000"/>
            <a:ext cx="1600000" cy="40000"/>
          </a:xfrm>
          <a:prstGeom prst="rect">
            <a:avLst/>
          </a:prstGeom>
          <a:solidFill>
            <a:srgbClr val="C55A11"/>
          </a:solidFill>
          <a:ln>
            <a:noFill/>
          </a:ln>
        </p:spPr>
        <p:txBody>
          <a:bodyPr wrap="square" lIns="137160" tIns="91440" rIns="137160" bIns="91440" anchor="t">
            <a:normAutofit/>
          </a:bodyPr>
          <a:lstStyle/>
          <a:p>
            <a:endParaRPr lang="en-US"/>
          </a:p>
        </p:txBody>
      </p:sp>
      <p:sp>
        <p:nvSpPr>
          <p:cNvPr id="203" name="sh"/>
          <p:cNvSpPr txBox="1"/>
          <p:nvPr/>
        </p:nvSpPr>
        <p:spPr>
          <a:xfrm>
            <a:off x="731520" y="6358000"/>
            <a:ext cx="6437376" cy="300000"/>
          </a:xfrm>
          <a:prstGeom prst="rect">
            <a:avLst/>
          </a:prstGeom>
          <a:noFill/>
          <a:ln>
            <a:noFill/>
          </a:ln>
        </p:spPr>
        <p:txBody>
          <a:bodyPr wrap="square" lIns="0" tIns="0" rIns="0" bIns="0" anchor="t">
            <a:normAutofit/>
          </a:bodyPr>
          <a:lstStyle/>
          <a:p>
            <a:pPr marL="0" indent="0" algn="l">
              <a:buNone/>
            </a:pPr>
            <a:r>
              <a:rPr lang="en-US" sz="1000" b="0" i="0" dirty="0">
                <a:solidFill>
                  <a:srgbClr val="8FA3BF"/>
                </a:solidFill>
                <a:latin typeface="Calibri"/>
              </a:rPr>
              <a:t>H3 cycle-accurate memory simulator</a:t>
            </a:r>
          </a:p>
        </p:txBody>
      </p:sp>
      <p:sp>
        <p:nvSpPr>
          <p:cNvPr id="204" name="sh"/>
          <p:cNvSpPr txBox="1"/>
          <p:nvPr/>
        </p:nvSpPr>
        <p:spPr>
          <a:xfrm>
            <a:off x="10760480" y="6358000"/>
            <a:ext cx="700000" cy="300000"/>
          </a:xfrm>
          <a:prstGeom prst="rect">
            <a:avLst/>
          </a:prstGeom>
          <a:noFill/>
          <a:ln>
            <a:noFill/>
          </a:ln>
        </p:spPr>
        <p:txBody>
          <a:bodyPr wrap="square" lIns="0" tIns="0" rIns="0" bIns="0" anchor="t">
            <a:normAutofit/>
          </a:bodyPr>
          <a:lstStyle/>
          <a:p>
            <a:pPr marL="0" indent="0" algn="r">
              <a:buNone/>
            </a:pPr>
            <a:r>
              <a:rPr lang="en-US" sz="1100" b="1" i="0" dirty="0">
                <a:solidFill>
                  <a:srgbClr val="8FA3BF"/>
                </a:solidFill>
                <a:latin typeface="Calibri"/>
              </a:rPr>
              <a:t>18</a:t>
            </a:r>
          </a:p>
        </p:txBody>
      </p:sp>
      <p:sp>
        <p:nvSpPr>
          <p:cNvPr id="205" name="sh"/>
          <p:cNvSpPr txBox="1"/>
          <p:nvPr/>
        </p:nvSpPr>
        <p:spPr>
          <a:xfrm>
            <a:off x="731520" y="1600000"/>
            <a:ext cx="3429653" cy="1700000"/>
          </a:xfrm>
          <a:prstGeom prst="roundRect">
            <a:avLst>
              <a:gd name="adj" fmla="val 8000"/>
            </a:avLst>
          </a:prstGeom>
          <a:solidFill>
            <a:srgbClr val="F5F7FA"/>
          </a:solidFill>
          <a:ln>
            <a:noFill/>
          </a:ln>
        </p:spPr>
        <p:txBody>
          <a:bodyPr wrap="square" lIns="160020" tIns="137160" rIns="160020" bIns="137160" anchor="t">
            <a:normAutofit/>
          </a:bodyPr>
          <a:lstStyle/>
          <a:p>
            <a:pPr marL="0" indent="0" algn="l">
              <a:buNone/>
            </a:pPr>
            <a:r>
              <a:rPr lang="en-US" sz="3600" b="1" i="0" dirty="0">
                <a:solidFill>
                  <a:srgbClr val="8E1600"/>
                </a:solidFill>
                <a:latin typeface="Calibri"/>
              </a:rPr>
              <a:t>26x</a:t>
            </a:r>
          </a:p>
          <a:p>
            <a:pPr marL="0" indent="0" algn="l">
              <a:spcBef>
                <a:spcPts val="200"/>
              </a:spcBef>
              <a:buNone/>
            </a:pPr>
            <a:r>
              <a:rPr lang="en-US" sz="1250" b="1" i="0" dirty="0">
                <a:solidFill>
                  <a:srgbClr val="1A1D21"/>
                </a:solidFill>
                <a:latin typeface="Calibri"/>
              </a:rPr>
              <a:t>flash traffic overstated</a:t>
            </a:r>
          </a:p>
          <a:p>
            <a:pPr marL="0" indent="0" algn="l">
              <a:spcBef>
                <a:spcPts val="120"/>
              </a:spcBef>
              <a:buNone/>
            </a:pPr>
            <a:r>
              <a:rPr lang="en-US" sz="1050" b="0" i="0" dirty="0">
                <a:solidFill>
                  <a:srgbClr val="5F6368"/>
                </a:solidFill>
                <a:latin typeface="Calibri"/>
              </a:rPr>
              <a:t>requests sent before the buffer was asked</a:t>
            </a:r>
          </a:p>
        </p:txBody>
      </p:sp>
      <p:sp>
        <p:nvSpPr>
          <p:cNvPr id="206" name="sh"/>
          <p:cNvSpPr txBox="1"/>
          <p:nvPr/>
        </p:nvSpPr>
        <p:spPr>
          <a:xfrm>
            <a:off x="731520" y="1600000"/>
            <a:ext cx="3429653" cy="60000"/>
          </a:xfrm>
          <a:prstGeom prst="rect">
            <a:avLst/>
          </a:prstGeom>
          <a:solidFill>
            <a:srgbClr val="8E1600"/>
          </a:solidFill>
          <a:ln>
            <a:noFill/>
          </a:ln>
        </p:spPr>
        <p:txBody>
          <a:bodyPr wrap="square" lIns="137160" tIns="91440" rIns="137160" bIns="91440" anchor="t">
            <a:normAutofit/>
          </a:bodyPr>
          <a:lstStyle/>
          <a:p>
            <a:endParaRPr lang="en-US"/>
          </a:p>
        </p:txBody>
      </p:sp>
      <p:sp>
        <p:nvSpPr>
          <p:cNvPr id="207" name="sh"/>
          <p:cNvSpPr txBox="1"/>
          <p:nvPr/>
        </p:nvSpPr>
        <p:spPr>
          <a:xfrm>
            <a:off x="4381173" y="1600000"/>
            <a:ext cx="3429653" cy="1700000"/>
          </a:xfrm>
          <a:prstGeom prst="roundRect">
            <a:avLst>
              <a:gd name="adj" fmla="val 8000"/>
            </a:avLst>
          </a:prstGeom>
          <a:solidFill>
            <a:srgbClr val="F5F7FA"/>
          </a:solidFill>
          <a:ln>
            <a:noFill/>
          </a:ln>
        </p:spPr>
        <p:txBody>
          <a:bodyPr wrap="square" lIns="160020" tIns="137160" rIns="160020" bIns="137160" anchor="t">
            <a:normAutofit/>
          </a:bodyPr>
          <a:lstStyle/>
          <a:p>
            <a:pPr marL="0" indent="0" algn="l">
              <a:buNone/>
            </a:pPr>
            <a:r>
              <a:rPr lang="en-US" sz="3600" b="1" i="0" dirty="0">
                <a:solidFill>
                  <a:srgbClr val="8E1600"/>
                </a:solidFill>
                <a:latin typeface="Calibri"/>
              </a:rPr>
              <a:t>4,273</a:t>
            </a:r>
          </a:p>
          <a:p>
            <a:pPr marL="0" indent="0" algn="l">
              <a:spcBef>
                <a:spcPts val="200"/>
              </a:spcBef>
              <a:buNone/>
            </a:pPr>
            <a:r>
              <a:rPr lang="en-US" sz="1250" b="1" i="0" dirty="0">
                <a:solidFill>
                  <a:srgbClr val="1A1D21"/>
                </a:solidFill>
                <a:latin typeface="Calibri"/>
              </a:rPr>
              <a:t>false buffer hits</a:t>
            </a:r>
          </a:p>
          <a:p>
            <a:pPr marL="0" indent="0" algn="l">
              <a:spcBef>
                <a:spcPts val="120"/>
              </a:spcBef>
              <a:buNone/>
            </a:pPr>
            <a:r>
              <a:rPr lang="en-US" sz="1050" b="0" i="0" dirty="0">
                <a:solidFill>
                  <a:srgbClr val="5F6368"/>
                </a:solidFill>
                <a:latin typeface="Calibri"/>
              </a:rPr>
              <a:t>data in transit marked as arrived</a:t>
            </a:r>
          </a:p>
        </p:txBody>
      </p:sp>
      <p:sp>
        <p:nvSpPr>
          <p:cNvPr id="208" name="sh"/>
          <p:cNvSpPr txBox="1"/>
          <p:nvPr/>
        </p:nvSpPr>
        <p:spPr>
          <a:xfrm>
            <a:off x="4381173" y="1600000"/>
            <a:ext cx="3429653" cy="60000"/>
          </a:xfrm>
          <a:prstGeom prst="rect">
            <a:avLst/>
          </a:prstGeom>
          <a:solidFill>
            <a:srgbClr val="8E1600"/>
          </a:solidFill>
          <a:ln>
            <a:noFill/>
          </a:ln>
        </p:spPr>
        <p:txBody>
          <a:bodyPr wrap="square" lIns="137160" tIns="91440" rIns="137160" bIns="91440" anchor="t">
            <a:normAutofit/>
          </a:bodyPr>
          <a:lstStyle/>
          <a:p>
            <a:endParaRPr lang="en-US"/>
          </a:p>
        </p:txBody>
      </p:sp>
      <p:sp>
        <p:nvSpPr>
          <p:cNvPr id="209" name="sh"/>
          <p:cNvSpPr txBox="1"/>
          <p:nvPr/>
        </p:nvSpPr>
        <p:spPr>
          <a:xfrm>
            <a:off x="8030826" y="1600000"/>
            <a:ext cx="3429653" cy="1700000"/>
          </a:xfrm>
          <a:prstGeom prst="roundRect">
            <a:avLst>
              <a:gd name="adj" fmla="val 8000"/>
            </a:avLst>
          </a:prstGeom>
          <a:solidFill>
            <a:srgbClr val="F5F7FA"/>
          </a:solidFill>
          <a:ln>
            <a:noFill/>
          </a:ln>
        </p:spPr>
        <p:txBody>
          <a:bodyPr wrap="square" lIns="160020" tIns="137160" rIns="160020" bIns="137160" anchor="t">
            <a:normAutofit/>
          </a:bodyPr>
          <a:lstStyle/>
          <a:p>
            <a:pPr marL="0" indent="0" algn="l">
              <a:buNone/>
            </a:pPr>
            <a:r>
              <a:rPr lang="en-US" sz="3600" b="1" i="0" dirty="0">
                <a:solidFill>
                  <a:srgbClr val="8E1600"/>
                </a:solidFill>
                <a:latin typeface="Calibri"/>
              </a:rPr>
              <a:t>40x</a:t>
            </a:r>
          </a:p>
          <a:p>
            <a:pPr marL="0" indent="0" algn="l">
              <a:spcBef>
                <a:spcPts val="200"/>
              </a:spcBef>
              <a:buNone/>
            </a:pPr>
            <a:r>
              <a:rPr lang="en-US" sz="1250" b="1" i="0" dirty="0">
                <a:solidFill>
                  <a:srgbClr val="1A1D21"/>
                </a:solidFill>
                <a:latin typeface="Calibri"/>
              </a:rPr>
              <a:t>GPU speed overstated</a:t>
            </a:r>
          </a:p>
          <a:p>
            <a:pPr marL="0" indent="0" algn="l">
              <a:spcBef>
                <a:spcPts val="120"/>
              </a:spcBef>
              <a:buNone/>
            </a:pPr>
            <a:r>
              <a:rPr lang="en-US" sz="1050" b="0" i="0" dirty="0">
                <a:solidFill>
                  <a:srgbClr val="5F6368"/>
                </a:solidFill>
                <a:latin typeface="Calibri"/>
              </a:rPr>
              <a:t>per-GPU settings applied per partition</a:t>
            </a:r>
          </a:p>
        </p:txBody>
      </p:sp>
      <p:sp>
        <p:nvSpPr>
          <p:cNvPr id="210" name="sh"/>
          <p:cNvSpPr txBox="1"/>
          <p:nvPr/>
        </p:nvSpPr>
        <p:spPr>
          <a:xfrm>
            <a:off x="8030826" y="1600000"/>
            <a:ext cx="3429653" cy="60000"/>
          </a:xfrm>
          <a:prstGeom prst="rect">
            <a:avLst/>
          </a:prstGeom>
          <a:solidFill>
            <a:srgbClr val="8E1600"/>
          </a:solidFill>
          <a:ln>
            <a:noFill/>
          </a:ln>
        </p:spPr>
        <p:txBody>
          <a:bodyPr wrap="square" lIns="137160" tIns="91440" rIns="137160" bIns="91440" anchor="t">
            <a:normAutofit/>
          </a:bodyPr>
          <a:lstStyle/>
          <a:p>
            <a:endParaRPr lang="en-US"/>
          </a:p>
        </p:txBody>
      </p:sp>
      <p:sp>
        <p:nvSpPr>
          <p:cNvPr id="211" name="sh"/>
          <p:cNvSpPr txBox="1"/>
          <p:nvPr/>
        </p:nvSpPr>
        <p:spPr>
          <a:xfrm>
            <a:off x="731520" y="3520000"/>
            <a:ext cx="10728960" cy="1300000"/>
          </a:xfrm>
          <a:prstGeom prst="rect">
            <a:avLst/>
          </a:prstGeom>
          <a:noFill/>
          <a:ln>
            <a:noFill/>
          </a:ln>
        </p:spPr>
        <p:txBody>
          <a:bodyPr wrap="square" lIns="0" tIns="0" rIns="0" bIns="0" anchor="t">
            <a:normAutofit/>
          </a:bodyPr>
          <a:lstStyle/>
          <a:p>
            <a:pPr marL="457200" indent="-228600" algn="l">
              <a:spcBef>
                <a:spcPts val="380"/>
              </a:spcBef>
              <a:buClr>
                <a:srgbClr val="8FA3BF"/>
              </a:buClr>
              <a:buSzPct val="90000"/>
              <a:buFont typeface="Arial"/>
              <a:buChar char="–"/>
            </a:pPr>
            <a:r>
              <a:rPr lang="en-US" sz="1300" b="0" i="0" dirty="0">
                <a:solidFill>
                  <a:srgbClr val="5F6368"/>
                </a:solidFill>
                <a:latin typeface="Calibri"/>
              </a:rPr>
              <a:t>All three were invisible to the fast model, which happily returned a plausible number. The detailed model refused, and threw an error instead.</a:t>
            </a:r>
          </a:p>
          <a:p>
            <a:pPr marL="457200" indent="-228600" algn="l">
              <a:spcBef>
                <a:spcPts val="380"/>
              </a:spcBef>
              <a:buClr>
                <a:srgbClr val="8FA3BF"/>
              </a:buClr>
              <a:buSzPct val="90000"/>
              <a:buFont typeface="Arial"/>
              <a:buChar char="–"/>
            </a:pPr>
            <a:r>
              <a:rPr lang="en-US" sz="1300" b="0" i="0" dirty="0">
                <a:solidFill>
                  <a:srgbClr val="5F6368"/>
                </a:solidFill>
                <a:latin typeface="Calibri"/>
              </a:rPr>
              <a:t>All three are fixed, and each now has a test that prevents it returning.</a:t>
            </a:r>
          </a:p>
        </p:txBody>
      </p:sp>
      <p:sp>
        <p:nvSpPr>
          <p:cNvPr id="212" name="nb"/>
          <p:cNvSpPr txBox="1"/>
          <p:nvPr/>
        </p:nvSpPr>
        <p:spPr>
          <a:xfrm>
            <a:off x="731520" y="4980000"/>
            <a:ext cx="68580" cy="1150000"/>
          </a:xfrm>
          <a:prstGeom prst="rect">
            <a:avLst/>
          </a:prstGeom>
          <a:solidFill>
            <a:srgbClr val="C55A11"/>
          </a:solidFill>
          <a:ln>
            <a:noFill/>
          </a:ln>
        </p:spPr>
        <p:txBody>
          <a:bodyPr wrap="square" lIns="137160" tIns="91440" rIns="137160" bIns="91440" anchor="t">
            <a:normAutofit/>
          </a:bodyPr>
          <a:lstStyle/>
          <a:p>
            <a:endParaRPr lang="en-US"/>
          </a:p>
        </p:txBody>
      </p:sp>
      <p:sp>
        <p:nvSpPr>
          <p:cNvPr id="213" name="sh"/>
          <p:cNvSpPr txBox="1"/>
          <p:nvPr/>
        </p:nvSpPr>
        <p:spPr>
          <a:xfrm>
            <a:off x="800100" y="4980000"/>
            <a:ext cx="10660380" cy="1150000"/>
          </a:xfrm>
          <a:prstGeom prst="rect">
            <a:avLst/>
          </a:prstGeom>
          <a:solidFill>
            <a:srgbClr val="EAEFF6"/>
          </a:solidFill>
          <a:ln>
            <a:noFill/>
          </a:ln>
        </p:spPr>
        <p:txBody>
          <a:bodyPr wrap="square" lIns="137160" tIns="91440" rIns="137160" bIns="91440" anchor="t">
            <a:normAutofit/>
          </a:bodyPr>
          <a:lstStyle/>
          <a:p>
            <a:pPr marL="0" indent="0" algn="l">
              <a:buNone/>
            </a:pPr>
            <a:r>
              <a:rPr lang="en-US" sz="1000" b="1" i="0" spc="200" dirty="0">
                <a:solidFill>
                  <a:srgbClr val="C55A11"/>
                </a:solidFill>
                <a:latin typeface="Calibri"/>
              </a:rPr>
              <a:t>IN PLAIN WORDS</a:t>
            </a:r>
          </a:p>
          <a:p>
            <a:pPr marL="0" indent="0" algn="l">
              <a:spcBef>
                <a:spcPts val="250"/>
              </a:spcBef>
              <a:buNone/>
            </a:pPr>
            <a:r>
              <a:rPr lang="en-US" sz="1400" b="0" i="0" dirty="0">
                <a:solidFill>
                  <a:srgbClr val="1A1D21"/>
                </a:solidFill>
                <a:latin typeface="Calibri"/>
              </a:rPr>
              <a:t>This is the strongest argument for building the cycle-accurate version at all. Two models that disagree are how you discover that one of them is wrong.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rule"/>
          <p:cNvSpPr txBox="1"/>
          <p:nvPr/>
        </p:nvSpPr>
        <p:spPr>
          <a:xfrm>
            <a:off x="0" y="0"/>
            <a:ext cx="12192000" cy="68580"/>
          </a:xfrm>
          <a:prstGeom prst="rect">
            <a:avLst/>
          </a:prstGeom>
          <a:solidFill>
            <a:srgbClr val="C55A11"/>
          </a:solidFill>
          <a:ln>
            <a:noFill/>
          </a:ln>
        </p:spPr>
        <p:txBody>
          <a:bodyPr wrap="square" lIns="137160" tIns="91440" rIns="137160" bIns="91440" anchor="t">
            <a:normAutofit/>
          </a:bodyPr>
          <a:lstStyle/>
          <a:p>
            <a:endParaRPr lang="en-US"/>
          </a:p>
        </p:txBody>
      </p:sp>
      <p:sp>
        <p:nvSpPr>
          <p:cNvPr id="215" name="spine"/>
          <p:cNvSpPr txBox="1"/>
          <p:nvPr/>
        </p:nvSpPr>
        <p:spPr>
          <a:xfrm>
            <a:off x="0" y="68580"/>
            <a:ext cx="137160" cy="6789420"/>
          </a:xfrm>
          <a:prstGeom prst="rect">
            <a:avLst/>
          </a:prstGeom>
          <a:solidFill>
            <a:srgbClr val="1F3864"/>
          </a:solidFill>
          <a:ln>
            <a:noFill/>
          </a:ln>
        </p:spPr>
        <p:txBody>
          <a:bodyPr wrap="square" lIns="137160" tIns="91440" rIns="137160" bIns="91440" anchor="t">
            <a:normAutofit/>
          </a:bodyPr>
          <a:lstStyle/>
          <a:p>
            <a:endParaRPr lang="en-US"/>
          </a:p>
        </p:txBody>
      </p:sp>
      <p:sp>
        <p:nvSpPr>
          <p:cNvPr id="216" name="sh"/>
          <p:cNvSpPr txBox="1"/>
          <p:nvPr/>
        </p:nvSpPr>
        <p:spPr>
          <a:xfrm>
            <a:off x="731520" y="320040"/>
            <a:ext cx="10728960" cy="300000"/>
          </a:xfrm>
          <a:prstGeom prst="rect">
            <a:avLst/>
          </a:prstGeom>
          <a:noFill/>
          <a:ln>
            <a:noFill/>
          </a:ln>
        </p:spPr>
        <p:txBody>
          <a:bodyPr wrap="square" lIns="0" tIns="0" rIns="0" bIns="0" anchor="t">
            <a:normAutofit/>
          </a:bodyPr>
          <a:lstStyle/>
          <a:p>
            <a:pPr marL="0" indent="0" algn="l">
              <a:buNone/>
            </a:pPr>
            <a:r>
              <a:rPr lang="en-US" sz="1100" b="1" i="0" spc="300" dirty="0">
                <a:solidFill>
                  <a:srgbClr val="C55A11"/>
                </a:solidFill>
                <a:latin typeface="Calibri"/>
              </a:rPr>
              <a:t>RESULTS</a:t>
            </a:r>
          </a:p>
        </p:txBody>
      </p:sp>
      <p:sp>
        <p:nvSpPr>
          <p:cNvPr id="217" name="sh"/>
          <p:cNvSpPr txBox="1"/>
          <p:nvPr/>
        </p:nvSpPr>
        <p:spPr>
          <a:xfrm>
            <a:off x="731520" y="620000"/>
            <a:ext cx="10728960" cy="780000"/>
          </a:xfrm>
          <a:prstGeom prst="rect">
            <a:avLst/>
          </a:prstGeom>
          <a:noFill/>
          <a:ln>
            <a:noFill/>
          </a:ln>
        </p:spPr>
        <p:txBody>
          <a:bodyPr wrap="square" lIns="0" tIns="0" rIns="0" bIns="0" anchor="t">
            <a:normAutofit/>
          </a:bodyPr>
          <a:lstStyle/>
          <a:p>
            <a:pPr marL="0" indent="0" algn="l">
              <a:buNone/>
            </a:pPr>
            <a:r>
              <a:rPr lang="en-US" sz="2600" b="1" i="0" dirty="0">
                <a:solidFill>
                  <a:srgbClr val="1F3864"/>
                </a:solidFill>
                <a:latin typeface="Calibri"/>
              </a:rPr>
              <a:t>What the simulator measures today</a:t>
            </a:r>
          </a:p>
        </p:txBody>
      </p:sp>
      <p:sp>
        <p:nvSpPr>
          <p:cNvPr id="218" name="ul"/>
          <p:cNvSpPr txBox="1"/>
          <p:nvPr/>
        </p:nvSpPr>
        <p:spPr>
          <a:xfrm>
            <a:off x="731520" y="1400000"/>
            <a:ext cx="1600000" cy="40000"/>
          </a:xfrm>
          <a:prstGeom prst="rect">
            <a:avLst/>
          </a:prstGeom>
          <a:solidFill>
            <a:srgbClr val="C55A11"/>
          </a:solidFill>
          <a:ln>
            <a:noFill/>
          </a:ln>
        </p:spPr>
        <p:txBody>
          <a:bodyPr wrap="square" lIns="137160" tIns="91440" rIns="137160" bIns="91440" anchor="t">
            <a:normAutofit/>
          </a:bodyPr>
          <a:lstStyle/>
          <a:p>
            <a:endParaRPr lang="en-US"/>
          </a:p>
        </p:txBody>
      </p:sp>
      <p:sp>
        <p:nvSpPr>
          <p:cNvPr id="219" name="sh"/>
          <p:cNvSpPr txBox="1"/>
          <p:nvPr/>
        </p:nvSpPr>
        <p:spPr>
          <a:xfrm>
            <a:off x="731520" y="6358000"/>
            <a:ext cx="6437376" cy="300000"/>
          </a:xfrm>
          <a:prstGeom prst="rect">
            <a:avLst/>
          </a:prstGeom>
          <a:noFill/>
          <a:ln>
            <a:noFill/>
          </a:ln>
        </p:spPr>
        <p:txBody>
          <a:bodyPr wrap="square" lIns="0" tIns="0" rIns="0" bIns="0" anchor="t">
            <a:normAutofit/>
          </a:bodyPr>
          <a:lstStyle/>
          <a:p>
            <a:pPr marL="0" indent="0" algn="l">
              <a:buNone/>
            </a:pPr>
            <a:r>
              <a:rPr lang="en-US" sz="1000" b="0" i="0" dirty="0">
                <a:solidFill>
                  <a:srgbClr val="8FA3BF"/>
                </a:solidFill>
                <a:latin typeface="Calibri"/>
              </a:rPr>
              <a:t>H3 cycle-accurate memory simulator</a:t>
            </a:r>
          </a:p>
        </p:txBody>
      </p:sp>
      <p:sp>
        <p:nvSpPr>
          <p:cNvPr id="220" name="sh"/>
          <p:cNvSpPr txBox="1"/>
          <p:nvPr/>
        </p:nvSpPr>
        <p:spPr>
          <a:xfrm>
            <a:off x="10760480" y="6358000"/>
            <a:ext cx="700000" cy="300000"/>
          </a:xfrm>
          <a:prstGeom prst="rect">
            <a:avLst/>
          </a:prstGeom>
          <a:noFill/>
          <a:ln>
            <a:noFill/>
          </a:ln>
        </p:spPr>
        <p:txBody>
          <a:bodyPr wrap="square" lIns="0" tIns="0" rIns="0" bIns="0" anchor="t">
            <a:normAutofit/>
          </a:bodyPr>
          <a:lstStyle/>
          <a:p>
            <a:pPr marL="0" indent="0" algn="r">
              <a:buNone/>
            </a:pPr>
            <a:r>
              <a:rPr lang="en-US" sz="1100" b="1" i="0" dirty="0">
                <a:solidFill>
                  <a:srgbClr val="8FA3BF"/>
                </a:solidFill>
                <a:latin typeface="Calibri"/>
              </a:rPr>
              <a:t>19</a:t>
            </a:r>
          </a:p>
        </p:txBody>
      </p:sp>
      <p:sp>
        <p:nvSpPr>
          <p:cNvPr id="221" name="sh"/>
          <p:cNvSpPr txBox="1"/>
          <p:nvPr/>
        </p:nvSpPr>
        <p:spPr>
          <a:xfrm>
            <a:off x="731520" y="1600000"/>
            <a:ext cx="2517240" cy="1700000"/>
          </a:xfrm>
          <a:prstGeom prst="roundRect">
            <a:avLst>
              <a:gd name="adj" fmla="val 8000"/>
            </a:avLst>
          </a:prstGeom>
          <a:solidFill>
            <a:srgbClr val="F5F7FA"/>
          </a:solidFill>
          <a:ln>
            <a:noFill/>
          </a:ln>
        </p:spPr>
        <p:txBody>
          <a:bodyPr wrap="square" lIns="160020" tIns="137160" rIns="160020" bIns="137160" anchor="t">
            <a:normAutofit/>
          </a:bodyPr>
          <a:lstStyle/>
          <a:p>
            <a:pPr marL="0" indent="0" algn="l">
              <a:buNone/>
            </a:pPr>
            <a:r>
              <a:rPr lang="en-US" sz="3600" b="1" i="0" dirty="0">
                <a:solidFill>
                  <a:srgbClr val="2E7D32"/>
                </a:solidFill>
                <a:latin typeface="Calibri"/>
              </a:rPr>
              <a:t>3x</a:t>
            </a:r>
          </a:p>
          <a:p>
            <a:pPr marL="0" indent="0" algn="l">
              <a:spcBef>
                <a:spcPts val="200"/>
              </a:spcBef>
              <a:buNone/>
            </a:pPr>
            <a:r>
              <a:rPr lang="en-US" sz="1250" b="1" i="0" dirty="0">
                <a:solidFill>
                  <a:srgbClr val="1A1D21"/>
                </a:solidFill>
                <a:latin typeface="Calibri"/>
              </a:rPr>
              <a:t>more work done</a:t>
            </a:r>
          </a:p>
          <a:p>
            <a:pPr marL="0" indent="0" algn="l">
              <a:spcBef>
                <a:spcPts val="120"/>
              </a:spcBef>
              <a:buNone/>
            </a:pPr>
            <a:r>
              <a:rPr lang="en-US" sz="1050" b="0" i="0" dirty="0">
                <a:solidFill>
                  <a:srgbClr val="5F6368"/>
                </a:solidFill>
                <a:latin typeface="Calibri"/>
              </a:rPr>
              <a:t>buffer on versus off</a:t>
            </a:r>
          </a:p>
        </p:txBody>
      </p:sp>
      <p:sp>
        <p:nvSpPr>
          <p:cNvPr id="222" name="sh"/>
          <p:cNvSpPr txBox="1"/>
          <p:nvPr/>
        </p:nvSpPr>
        <p:spPr>
          <a:xfrm>
            <a:off x="731520" y="1600000"/>
            <a:ext cx="2517240" cy="60000"/>
          </a:xfrm>
          <a:prstGeom prst="rect">
            <a:avLst/>
          </a:prstGeom>
          <a:solidFill>
            <a:srgbClr val="2E7D32"/>
          </a:solidFill>
          <a:ln>
            <a:noFill/>
          </a:ln>
        </p:spPr>
        <p:txBody>
          <a:bodyPr wrap="square" lIns="137160" tIns="91440" rIns="137160" bIns="91440" anchor="t">
            <a:normAutofit/>
          </a:bodyPr>
          <a:lstStyle/>
          <a:p>
            <a:endParaRPr lang="en-US"/>
          </a:p>
        </p:txBody>
      </p:sp>
      <p:sp>
        <p:nvSpPr>
          <p:cNvPr id="223" name="sh"/>
          <p:cNvSpPr txBox="1"/>
          <p:nvPr/>
        </p:nvSpPr>
        <p:spPr>
          <a:xfrm>
            <a:off x="3468760" y="1600000"/>
            <a:ext cx="2517240" cy="1700000"/>
          </a:xfrm>
          <a:prstGeom prst="roundRect">
            <a:avLst>
              <a:gd name="adj" fmla="val 8000"/>
            </a:avLst>
          </a:prstGeom>
          <a:solidFill>
            <a:srgbClr val="F5F7FA"/>
          </a:solidFill>
          <a:ln>
            <a:noFill/>
          </a:ln>
        </p:spPr>
        <p:txBody>
          <a:bodyPr wrap="square" lIns="160020" tIns="137160" rIns="160020" bIns="137160" anchor="t">
            <a:normAutofit/>
          </a:bodyPr>
          <a:lstStyle/>
          <a:p>
            <a:pPr marL="0" indent="0" algn="l">
              <a:buNone/>
            </a:pPr>
            <a:r>
              <a:rPr lang="en-US" sz="3600" b="1" i="0" dirty="0">
                <a:solidFill>
                  <a:srgbClr val="1F3864"/>
                </a:solidFill>
                <a:latin typeface="Calibri"/>
              </a:rPr>
              <a:t>0.74</a:t>
            </a:r>
          </a:p>
          <a:p>
            <a:pPr marL="0" indent="0" algn="l">
              <a:spcBef>
                <a:spcPts val="200"/>
              </a:spcBef>
              <a:buNone/>
            </a:pPr>
            <a:r>
              <a:rPr lang="en-US" sz="1250" b="1" i="0" dirty="0">
                <a:solidFill>
                  <a:srgbClr val="1A1D21"/>
                </a:solidFill>
                <a:latin typeface="Calibri"/>
              </a:rPr>
              <a:t>buffer hit rate</a:t>
            </a:r>
          </a:p>
          <a:p>
            <a:pPr marL="0" indent="0" algn="l">
              <a:spcBef>
                <a:spcPts val="120"/>
              </a:spcBef>
              <a:buNone/>
            </a:pPr>
            <a:r>
              <a:rPr lang="en-US" sz="1050" b="0" i="0" dirty="0">
                <a:solidFill>
                  <a:srgbClr val="5F6368"/>
                </a:solidFill>
                <a:latin typeface="Calibri"/>
              </a:rPr>
              <a:t>measured, not assumed</a:t>
            </a:r>
          </a:p>
        </p:txBody>
      </p:sp>
      <p:sp>
        <p:nvSpPr>
          <p:cNvPr id="224" name="sh"/>
          <p:cNvSpPr txBox="1"/>
          <p:nvPr/>
        </p:nvSpPr>
        <p:spPr>
          <a:xfrm>
            <a:off x="3468760" y="1600000"/>
            <a:ext cx="2517240" cy="60000"/>
          </a:xfrm>
          <a:prstGeom prst="rect">
            <a:avLst/>
          </a:prstGeom>
          <a:solidFill>
            <a:srgbClr val="1F3864"/>
          </a:solidFill>
          <a:ln>
            <a:noFill/>
          </a:ln>
        </p:spPr>
        <p:txBody>
          <a:bodyPr wrap="square" lIns="137160" tIns="91440" rIns="137160" bIns="91440" anchor="t">
            <a:normAutofit/>
          </a:bodyPr>
          <a:lstStyle/>
          <a:p>
            <a:endParaRPr lang="en-US"/>
          </a:p>
        </p:txBody>
      </p:sp>
      <p:sp>
        <p:nvSpPr>
          <p:cNvPr id="225" name="sh"/>
          <p:cNvSpPr txBox="1"/>
          <p:nvPr/>
        </p:nvSpPr>
        <p:spPr>
          <a:xfrm>
            <a:off x="6206000" y="1600000"/>
            <a:ext cx="2517240" cy="1700000"/>
          </a:xfrm>
          <a:prstGeom prst="roundRect">
            <a:avLst>
              <a:gd name="adj" fmla="val 8000"/>
            </a:avLst>
          </a:prstGeom>
          <a:solidFill>
            <a:srgbClr val="F5F7FA"/>
          </a:solidFill>
          <a:ln>
            <a:noFill/>
          </a:ln>
        </p:spPr>
        <p:txBody>
          <a:bodyPr wrap="square" lIns="160020" tIns="137160" rIns="160020" bIns="137160" anchor="t">
            <a:normAutofit/>
          </a:bodyPr>
          <a:lstStyle/>
          <a:p>
            <a:pPr marL="0" indent="0" algn="l">
              <a:buNone/>
            </a:pPr>
            <a:r>
              <a:rPr lang="en-US" sz="3600" b="1" i="0" dirty="0">
                <a:solidFill>
                  <a:srgbClr val="2E5C8A"/>
                </a:solidFill>
                <a:latin typeface="Calibri"/>
              </a:rPr>
              <a:t>6,074 ns</a:t>
            </a:r>
          </a:p>
          <a:p>
            <a:pPr marL="0" indent="0" algn="l">
              <a:spcBef>
                <a:spcPts val="200"/>
              </a:spcBef>
              <a:buNone/>
            </a:pPr>
            <a:r>
              <a:rPr lang="en-US" sz="1250" b="1" i="0" dirty="0">
                <a:solidFill>
                  <a:srgbClr val="1A1D21"/>
                </a:solidFill>
                <a:latin typeface="Calibri"/>
              </a:rPr>
              <a:t>average latency</a:t>
            </a:r>
          </a:p>
          <a:p>
            <a:pPr marL="0" indent="0" algn="l">
              <a:spcBef>
                <a:spcPts val="120"/>
              </a:spcBef>
              <a:buNone/>
            </a:pPr>
            <a:r>
              <a:rPr lang="en-US" sz="1050" b="0" i="0" dirty="0">
                <a:solidFill>
                  <a:srgbClr val="5F6368"/>
                </a:solidFill>
                <a:latin typeface="Calibri"/>
              </a:rPr>
              <a:t>matches prediction</a:t>
            </a:r>
          </a:p>
        </p:txBody>
      </p:sp>
      <p:sp>
        <p:nvSpPr>
          <p:cNvPr id="226" name="sh"/>
          <p:cNvSpPr txBox="1"/>
          <p:nvPr/>
        </p:nvSpPr>
        <p:spPr>
          <a:xfrm>
            <a:off x="6206000" y="1600000"/>
            <a:ext cx="2517240" cy="60000"/>
          </a:xfrm>
          <a:prstGeom prst="rect">
            <a:avLst/>
          </a:prstGeom>
          <a:solidFill>
            <a:srgbClr val="2E5C8A"/>
          </a:solidFill>
          <a:ln>
            <a:noFill/>
          </a:ln>
        </p:spPr>
        <p:txBody>
          <a:bodyPr wrap="square" lIns="137160" tIns="91440" rIns="137160" bIns="91440" anchor="t">
            <a:normAutofit/>
          </a:bodyPr>
          <a:lstStyle/>
          <a:p>
            <a:endParaRPr lang="en-US"/>
          </a:p>
        </p:txBody>
      </p:sp>
      <p:sp>
        <p:nvSpPr>
          <p:cNvPr id="227" name="sh"/>
          <p:cNvSpPr txBox="1"/>
          <p:nvPr/>
        </p:nvSpPr>
        <p:spPr>
          <a:xfrm>
            <a:off x="8943240" y="1600000"/>
            <a:ext cx="2517240" cy="1700000"/>
          </a:xfrm>
          <a:prstGeom prst="roundRect">
            <a:avLst>
              <a:gd name="adj" fmla="val 8000"/>
            </a:avLst>
          </a:prstGeom>
          <a:solidFill>
            <a:srgbClr val="F5F7FA"/>
          </a:solidFill>
          <a:ln>
            <a:noFill/>
          </a:ln>
        </p:spPr>
        <p:txBody>
          <a:bodyPr wrap="square" lIns="160020" tIns="137160" rIns="160020" bIns="137160" anchor="t">
            <a:normAutofit/>
          </a:bodyPr>
          <a:lstStyle/>
          <a:p>
            <a:pPr marL="0" indent="0" algn="l">
              <a:buNone/>
            </a:pPr>
            <a:r>
              <a:rPr lang="en-US" sz="3600" b="1" i="0" dirty="0">
                <a:solidFill>
                  <a:srgbClr val="2E7D32"/>
                </a:solidFill>
                <a:latin typeface="Calibri"/>
              </a:rPr>
              <a:t>0</a:t>
            </a:r>
          </a:p>
          <a:p>
            <a:pPr marL="0" indent="0" algn="l">
              <a:spcBef>
                <a:spcPts val="200"/>
              </a:spcBef>
              <a:buNone/>
            </a:pPr>
            <a:r>
              <a:rPr lang="en-US" sz="1250" b="1" i="0" dirty="0">
                <a:solidFill>
                  <a:srgbClr val="1A1D21"/>
                </a:solidFill>
                <a:latin typeface="Calibri"/>
              </a:rPr>
              <a:t>correctness errors</a:t>
            </a:r>
          </a:p>
          <a:p>
            <a:pPr marL="0" indent="0" algn="l">
              <a:spcBef>
                <a:spcPts val="120"/>
              </a:spcBef>
              <a:buNone/>
            </a:pPr>
            <a:r>
              <a:rPr lang="en-US" sz="1050" b="0" i="0" dirty="0">
                <a:solidFill>
                  <a:srgbClr val="5F6368"/>
                </a:solidFill>
                <a:latin typeface="Calibri"/>
              </a:rPr>
              <a:t>all three counters clean</a:t>
            </a:r>
          </a:p>
        </p:txBody>
      </p:sp>
      <p:sp>
        <p:nvSpPr>
          <p:cNvPr id="228" name="sh"/>
          <p:cNvSpPr txBox="1"/>
          <p:nvPr/>
        </p:nvSpPr>
        <p:spPr>
          <a:xfrm>
            <a:off x="8943240" y="1600000"/>
            <a:ext cx="2517240" cy="60000"/>
          </a:xfrm>
          <a:prstGeom prst="rect">
            <a:avLst/>
          </a:prstGeom>
          <a:solidFill>
            <a:srgbClr val="2E7D32"/>
          </a:solidFill>
          <a:ln>
            <a:noFill/>
          </a:ln>
        </p:spPr>
        <p:txBody>
          <a:bodyPr wrap="square" lIns="137160" tIns="91440" rIns="137160" bIns="91440" anchor="t">
            <a:normAutofit/>
          </a:bodyPr>
          <a:lstStyle/>
          <a:p>
            <a:endParaRPr lang="en-US"/>
          </a:p>
        </p:txBody>
      </p:sp>
      <p:sp>
        <p:nvSpPr>
          <p:cNvPr id="229" name="sh"/>
          <p:cNvSpPr txBox="1"/>
          <p:nvPr/>
        </p:nvSpPr>
        <p:spPr>
          <a:xfrm>
            <a:off x="731520" y="3520000"/>
            <a:ext cx="10728960" cy="1300000"/>
          </a:xfrm>
          <a:prstGeom prst="rect">
            <a:avLst/>
          </a:prstGeom>
          <a:noFill/>
          <a:ln>
            <a:noFill/>
          </a:ln>
        </p:spPr>
        <p:txBody>
          <a:bodyPr wrap="square" lIns="0" tIns="0" rIns="0" bIns="0" anchor="t">
            <a:normAutofit/>
          </a:bodyPr>
          <a:lstStyle/>
          <a:p>
            <a:pPr marL="457200" indent="-228600" algn="l">
              <a:spcBef>
                <a:spcPts val="380"/>
              </a:spcBef>
              <a:buClr>
                <a:srgbClr val="8FA3BF"/>
              </a:buClr>
              <a:buSzPct val="90000"/>
              <a:buFont typeface="Arial"/>
              <a:buChar char="–"/>
            </a:pPr>
            <a:r>
              <a:rPr lang="en-US" sz="1300" b="0" i="0" dirty="0">
                <a:solidFill>
                  <a:srgbClr val="5F6368"/>
                </a:solidFill>
                <a:latin typeface="Calibri"/>
              </a:rPr>
              <a:t>Same trace, same settings, the only difference is the buffer being switched on.</a:t>
            </a:r>
          </a:p>
          <a:p>
            <a:pPr marL="457200" indent="-228600" algn="l">
              <a:spcBef>
                <a:spcPts val="380"/>
              </a:spcBef>
              <a:buClr>
                <a:srgbClr val="8FA3BF"/>
              </a:buClr>
              <a:buSzPct val="90000"/>
              <a:buFont typeface="Arial"/>
              <a:buChar char="–"/>
            </a:pPr>
            <a:r>
              <a:rPr lang="en-US" sz="1300" b="0" i="0" dirty="0">
                <a:solidFill>
                  <a:srgbClr val="5F6368"/>
                </a:solidFill>
                <a:latin typeface="Calibri"/>
              </a:rPr>
              <a:t>Predicted latency from hit rate was 5,829 ns against 6,074 ns measured, so hits, misses and timing now tell one consistent story.</a:t>
            </a:r>
          </a:p>
        </p:txBody>
      </p:sp>
      <p:sp>
        <p:nvSpPr>
          <p:cNvPr id="230" name="nb"/>
          <p:cNvSpPr txBox="1"/>
          <p:nvPr/>
        </p:nvSpPr>
        <p:spPr>
          <a:xfrm>
            <a:off x="731520" y="4980000"/>
            <a:ext cx="68580" cy="1150000"/>
          </a:xfrm>
          <a:prstGeom prst="rect">
            <a:avLst/>
          </a:prstGeom>
          <a:solidFill>
            <a:srgbClr val="C55A11"/>
          </a:solidFill>
          <a:ln>
            <a:noFill/>
          </a:ln>
        </p:spPr>
        <p:txBody>
          <a:bodyPr wrap="square" lIns="137160" tIns="91440" rIns="137160" bIns="91440" anchor="t">
            <a:normAutofit/>
          </a:bodyPr>
          <a:lstStyle/>
          <a:p>
            <a:endParaRPr lang="en-US"/>
          </a:p>
        </p:txBody>
      </p:sp>
      <p:sp>
        <p:nvSpPr>
          <p:cNvPr id="231" name="sh"/>
          <p:cNvSpPr txBox="1"/>
          <p:nvPr/>
        </p:nvSpPr>
        <p:spPr>
          <a:xfrm>
            <a:off x="800100" y="4980000"/>
            <a:ext cx="10660380" cy="1150000"/>
          </a:xfrm>
          <a:prstGeom prst="rect">
            <a:avLst/>
          </a:prstGeom>
          <a:solidFill>
            <a:srgbClr val="EAEFF6"/>
          </a:solidFill>
          <a:ln>
            <a:noFill/>
          </a:ln>
        </p:spPr>
        <p:txBody>
          <a:bodyPr wrap="square" lIns="137160" tIns="91440" rIns="137160" bIns="91440" anchor="t">
            <a:normAutofit/>
          </a:bodyPr>
          <a:lstStyle/>
          <a:p>
            <a:pPr marL="0" indent="0" algn="l">
              <a:buNone/>
            </a:pPr>
            <a:r>
              <a:rPr lang="en-US" sz="1000" b="1" i="0" spc="200" dirty="0">
                <a:solidFill>
                  <a:srgbClr val="C55A11"/>
                </a:solidFill>
                <a:latin typeface="Calibri"/>
              </a:rPr>
              <a:t>IN PLAIN WORDS</a:t>
            </a:r>
          </a:p>
          <a:p>
            <a:pPr marL="0" indent="0" algn="l">
              <a:spcBef>
                <a:spcPts val="250"/>
              </a:spcBef>
              <a:buNone/>
            </a:pPr>
            <a:r>
              <a:rPr lang="en-US" sz="1400" b="0" i="0" dirty="0">
                <a:solidFill>
                  <a:srgbClr val="1A1D21"/>
                </a:solidFill>
                <a:latin typeface="Calibri"/>
              </a:rPr>
              <a:t>The 3x figure is measured rather than assumed. Both sides of that comparison are identical apart from the buffer, which is what makes it a fair test.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 name="rule"/>
          <p:cNvSpPr txBox="1"/>
          <p:nvPr/>
        </p:nvSpPr>
        <p:spPr>
          <a:xfrm>
            <a:off x="0" y="0"/>
            <a:ext cx="12192000" cy="68580"/>
          </a:xfrm>
          <a:prstGeom prst="rect">
            <a:avLst/>
          </a:prstGeom>
          <a:solidFill>
            <a:srgbClr val="C55A11"/>
          </a:solidFill>
          <a:ln>
            <a:noFill/>
          </a:ln>
        </p:spPr>
        <p:txBody>
          <a:bodyPr wrap="square" lIns="137160" tIns="91440" rIns="137160" bIns="91440" anchor="t">
            <a:normAutofit/>
          </a:bodyPr>
          <a:lstStyle/>
          <a:p>
            <a:endParaRPr lang="en-US"/>
          </a:p>
        </p:txBody>
      </p:sp>
      <p:sp>
        <p:nvSpPr>
          <p:cNvPr id="233" name="spine"/>
          <p:cNvSpPr txBox="1"/>
          <p:nvPr/>
        </p:nvSpPr>
        <p:spPr>
          <a:xfrm>
            <a:off x="0" y="68580"/>
            <a:ext cx="137160" cy="6789420"/>
          </a:xfrm>
          <a:prstGeom prst="rect">
            <a:avLst/>
          </a:prstGeom>
          <a:solidFill>
            <a:srgbClr val="1F3864"/>
          </a:solidFill>
          <a:ln>
            <a:noFill/>
          </a:ln>
        </p:spPr>
        <p:txBody>
          <a:bodyPr wrap="square" lIns="137160" tIns="91440" rIns="137160" bIns="91440" anchor="t">
            <a:normAutofit/>
          </a:bodyPr>
          <a:lstStyle/>
          <a:p>
            <a:endParaRPr lang="en-US"/>
          </a:p>
        </p:txBody>
      </p:sp>
      <p:sp>
        <p:nvSpPr>
          <p:cNvPr id="234" name="sh"/>
          <p:cNvSpPr txBox="1"/>
          <p:nvPr/>
        </p:nvSpPr>
        <p:spPr>
          <a:xfrm>
            <a:off x="731520" y="320040"/>
            <a:ext cx="10728960" cy="300000"/>
          </a:xfrm>
          <a:prstGeom prst="rect">
            <a:avLst/>
          </a:prstGeom>
          <a:noFill/>
          <a:ln>
            <a:noFill/>
          </a:ln>
        </p:spPr>
        <p:txBody>
          <a:bodyPr wrap="square" lIns="0" tIns="0" rIns="0" bIns="0" anchor="t">
            <a:normAutofit/>
          </a:bodyPr>
          <a:lstStyle/>
          <a:p>
            <a:pPr marL="0" indent="0" algn="l">
              <a:buNone/>
            </a:pPr>
            <a:r>
              <a:rPr lang="en-US" sz="1100" b="1" i="0" spc="300" dirty="0">
                <a:solidFill>
                  <a:srgbClr val="C55A11"/>
                </a:solidFill>
                <a:latin typeface="Calibri"/>
              </a:rPr>
              <a:t>STATUS</a:t>
            </a:r>
          </a:p>
        </p:txBody>
      </p:sp>
      <p:sp>
        <p:nvSpPr>
          <p:cNvPr id="235" name="sh"/>
          <p:cNvSpPr txBox="1"/>
          <p:nvPr/>
        </p:nvSpPr>
        <p:spPr>
          <a:xfrm>
            <a:off x="731520" y="620000"/>
            <a:ext cx="10728960" cy="780000"/>
          </a:xfrm>
          <a:prstGeom prst="rect">
            <a:avLst/>
          </a:prstGeom>
          <a:noFill/>
          <a:ln>
            <a:noFill/>
          </a:ln>
        </p:spPr>
        <p:txBody>
          <a:bodyPr wrap="square" lIns="0" tIns="0" rIns="0" bIns="0" anchor="t">
            <a:normAutofit/>
          </a:bodyPr>
          <a:lstStyle/>
          <a:p>
            <a:pPr marL="0" indent="0" algn="l">
              <a:buNone/>
            </a:pPr>
            <a:r>
              <a:rPr lang="en-US" sz="2600" b="1" i="0" dirty="0">
                <a:solidFill>
                  <a:srgbClr val="1F3864"/>
                </a:solidFill>
                <a:latin typeface="Calibri"/>
              </a:rPr>
              <a:t>Where the project stands</a:t>
            </a:r>
          </a:p>
        </p:txBody>
      </p:sp>
      <p:sp>
        <p:nvSpPr>
          <p:cNvPr id="236" name="ul"/>
          <p:cNvSpPr txBox="1"/>
          <p:nvPr/>
        </p:nvSpPr>
        <p:spPr>
          <a:xfrm>
            <a:off x="731520" y="1400000"/>
            <a:ext cx="1600000" cy="40000"/>
          </a:xfrm>
          <a:prstGeom prst="rect">
            <a:avLst/>
          </a:prstGeom>
          <a:solidFill>
            <a:srgbClr val="C55A11"/>
          </a:solidFill>
          <a:ln>
            <a:noFill/>
          </a:ln>
        </p:spPr>
        <p:txBody>
          <a:bodyPr wrap="square" lIns="137160" tIns="91440" rIns="137160" bIns="91440" anchor="t">
            <a:normAutofit/>
          </a:bodyPr>
          <a:lstStyle/>
          <a:p>
            <a:endParaRPr lang="en-US"/>
          </a:p>
        </p:txBody>
      </p:sp>
      <p:sp>
        <p:nvSpPr>
          <p:cNvPr id="237" name="sh"/>
          <p:cNvSpPr txBox="1"/>
          <p:nvPr/>
        </p:nvSpPr>
        <p:spPr>
          <a:xfrm>
            <a:off x="731520" y="6358000"/>
            <a:ext cx="6437376" cy="300000"/>
          </a:xfrm>
          <a:prstGeom prst="rect">
            <a:avLst/>
          </a:prstGeom>
          <a:noFill/>
          <a:ln>
            <a:noFill/>
          </a:ln>
        </p:spPr>
        <p:txBody>
          <a:bodyPr wrap="square" lIns="0" tIns="0" rIns="0" bIns="0" anchor="t">
            <a:normAutofit/>
          </a:bodyPr>
          <a:lstStyle/>
          <a:p>
            <a:pPr marL="0" indent="0" algn="l">
              <a:buNone/>
            </a:pPr>
            <a:r>
              <a:rPr lang="en-US" sz="1000" b="0" i="0" dirty="0">
                <a:solidFill>
                  <a:srgbClr val="8FA3BF"/>
                </a:solidFill>
                <a:latin typeface="Calibri"/>
              </a:rPr>
              <a:t>H3 cycle-accurate memory simulator</a:t>
            </a:r>
          </a:p>
        </p:txBody>
      </p:sp>
      <p:sp>
        <p:nvSpPr>
          <p:cNvPr id="238" name="sh"/>
          <p:cNvSpPr txBox="1"/>
          <p:nvPr/>
        </p:nvSpPr>
        <p:spPr>
          <a:xfrm>
            <a:off x="10760480" y="6358000"/>
            <a:ext cx="700000" cy="300000"/>
          </a:xfrm>
          <a:prstGeom prst="rect">
            <a:avLst/>
          </a:prstGeom>
          <a:noFill/>
          <a:ln>
            <a:noFill/>
          </a:ln>
        </p:spPr>
        <p:txBody>
          <a:bodyPr wrap="square" lIns="0" tIns="0" rIns="0" bIns="0" anchor="t">
            <a:normAutofit/>
          </a:bodyPr>
          <a:lstStyle/>
          <a:p>
            <a:pPr marL="0" indent="0" algn="r">
              <a:buNone/>
            </a:pPr>
            <a:r>
              <a:rPr lang="en-US" sz="1100" b="1" i="0" dirty="0">
                <a:solidFill>
                  <a:srgbClr val="8FA3BF"/>
                </a:solidFill>
                <a:latin typeface="Calibri"/>
              </a:rPr>
              <a:t>20</a:t>
            </a:r>
          </a:p>
        </p:txBody>
      </p:sp>
      <p:sp>
        <p:nvSpPr>
          <p:cNvPr id="239" name="sh"/>
          <p:cNvSpPr txBox="1"/>
          <p:nvPr/>
        </p:nvSpPr>
        <p:spPr>
          <a:xfrm>
            <a:off x="731520" y="1580000"/>
            <a:ext cx="1500000" cy="300000"/>
          </a:xfrm>
          <a:prstGeom prst="roundRect">
            <a:avLst>
              <a:gd name="adj" fmla="val 22000"/>
            </a:avLst>
          </a:prstGeom>
          <a:solidFill>
            <a:srgbClr val="2E7D32"/>
          </a:solidFill>
          <a:ln>
            <a:noFill/>
          </a:ln>
        </p:spPr>
        <p:txBody>
          <a:bodyPr wrap="square" lIns="45720" tIns="27432" rIns="45720" bIns="27432" anchor="ctr">
            <a:normAutofit/>
          </a:bodyPr>
          <a:lstStyle/>
          <a:p>
            <a:pPr marL="0" indent="0" algn="ctr">
              <a:buNone/>
            </a:pPr>
            <a:r>
              <a:rPr lang="en-US" sz="1000" b="1" i="0" spc="150" dirty="0">
                <a:solidFill>
                  <a:srgbClr val="FFFFFF"/>
                </a:solidFill>
                <a:latin typeface="Calibri"/>
              </a:rPr>
              <a:t>WORKING</a:t>
            </a:r>
          </a:p>
        </p:txBody>
      </p:sp>
      <p:sp>
        <p:nvSpPr>
          <p:cNvPr id="240" name="sh"/>
          <p:cNvSpPr txBox="1"/>
          <p:nvPr/>
        </p:nvSpPr>
        <p:spPr>
          <a:xfrm>
            <a:off x="2381520" y="1550000"/>
            <a:ext cx="9078960" cy="380000"/>
          </a:xfrm>
          <a:prstGeom prst="rect">
            <a:avLst/>
          </a:prstGeom>
          <a:noFill/>
          <a:ln>
            <a:noFill/>
          </a:ln>
        </p:spPr>
        <p:txBody>
          <a:bodyPr wrap="square" lIns="0" tIns="0" rIns="0" bIns="0" anchor="t">
            <a:normAutofit/>
          </a:bodyPr>
          <a:lstStyle/>
          <a:p>
            <a:pPr marL="0" indent="0" algn="l">
              <a:buNone/>
            </a:pPr>
            <a:r>
              <a:rPr lang="en-US" sz="1450" b="1" i="0" dirty="0">
                <a:solidFill>
                  <a:srgbClr val="1A1D21"/>
                </a:solidFill>
                <a:latin typeface="Calibri"/>
              </a:rPr>
              <a:t>Full pipeline runs end to end</a:t>
            </a:r>
          </a:p>
          <a:p>
            <a:pPr marL="0" indent="0" algn="l">
              <a:spcBef>
                <a:spcPts val="80"/>
              </a:spcBef>
              <a:buNone/>
            </a:pPr>
            <a:r>
              <a:rPr lang="en-US" sz="1200" b="0" i="0" dirty="0">
                <a:solidFill>
                  <a:srgbClr val="5F6368"/>
                </a:solidFill>
                <a:latin typeface="Calibri"/>
              </a:rPr>
              <a:t>200,000 cycles, clean exit, both memory models working</a:t>
            </a:r>
          </a:p>
        </p:txBody>
      </p:sp>
      <p:sp>
        <p:nvSpPr>
          <p:cNvPr id="241" name="sh"/>
          <p:cNvSpPr txBox="1"/>
          <p:nvPr/>
        </p:nvSpPr>
        <p:spPr>
          <a:xfrm>
            <a:off x="731520" y="2240000"/>
            <a:ext cx="1500000" cy="300000"/>
          </a:xfrm>
          <a:prstGeom prst="roundRect">
            <a:avLst>
              <a:gd name="adj" fmla="val 22000"/>
            </a:avLst>
          </a:prstGeom>
          <a:solidFill>
            <a:srgbClr val="2E7D32"/>
          </a:solidFill>
          <a:ln>
            <a:noFill/>
          </a:ln>
        </p:spPr>
        <p:txBody>
          <a:bodyPr wrap="square" lIns="45720" tIns="27432" rIns="45720" bIns="27432" anchor="ctr">
            <a:normAutofit/>
          </a:bodyPr>
          <a:lstStyle/>
          <a:p>
            <a:pPr marL="0" indent="0" algn="ctr">
              <a:buNone/>
            </a:pPr>
            <a:r>
              <a:rPr lang="en-US" sz="1000" b="1" i="0" spc="150" dirty="0">
                <a:solidFill>
                  <a:srgbClr val="FFFFFF"/>
                </a:solidFill>
                <a:latin typeface="Calibri"/>
              </a:rPr>
              <a:t>WORKING</a:t>
            </a:r>
          </a:p>
        </p:txBody>
      </p:sp>
      <p:sp>
        <p:nvSpPr>
          <p:cNvPr id="242" name="sh"/>
          <p:cNvSpPr txBox="1"/>
          <p:nvPr/>
        </p:nvSpPr>
        <p:spPr>
          <a:xfrm>
            <a:off x="2381520" y="2210000"/>
            <a:ext cx="9078960" cy="380000"/>
          </a:xfrm>
          <a:prstGeom prst="rect">
            <a:avLst/>
          </a:prstGeom>
          <a:noFill/>
          <a:ln>
            <a:noFill/>
          </a:ln>
        </p:spPr>
        <p:txBody>
          <a:bodyPr wrap="square" lIns="0" tIns="0" rIns="0" bIns="0" anchor="t">
            <a:normAutofit/>
          </a:bodyPr>
          <a:lstStyle/>
          <a:p>
            <a:pPr marL="0" indent="0" algn="l">
              <a:buNone/>
            </a:pPr>
            <a:r>
              <a:rPr lang="en-US" sz="1450" b="1" i="0" dirty="0">
                <a:solidFill>
                  <a:srgbClr val="1A1D21"/>
                </a:solidFill>
                <a:latin typeface="Calibri"/>
              </a:rPr>
              <a:t>Flash model, router, buffer, scheduler</a:t>
            </a:r>
          </a:p>
          <a:p>
            <a:pPr marL="0" indent="0" algn="l">
              <a:spcBef>
                <a:spcPts val="80"/>
              </a:spcBef>
              <a:buNone/>
            </a:pPr>
            <a:r>
              <a:rPr lang="en-US" sz="1200" b="0" i="0" dirty="0">
                <a:solidFill>
                  <a:srgbClr val="5F6368"/>
                </a:solidFill>
                <a:latin typeface="Calibri"/>
              </a:rPr>
              <a:t>All four components built, tested and integrated</a:t>
            </a:r>
          </a:p>
        </p:txBody>
      </p:sp>
      <p:sp>
        <p:nvSpPr>
          <p:cNvPr id="243" name="sh"/>
          <p:cNvSpPr txBox="1"/>
          <p:nvPr/>
        </p:nvSpPr>
        <p:spPr>
          <a:xfrm>
            <a:off x="731520" y="2900000"/>
            <a:ext cx="1500000" cy="300000"/>
          </a:xfrm>
          <a:prstGeom prst="roundRect">
            <a:avLst>
              <a:gd name="adj" fmla="val 22000"/>
            </a:avLst>
          </a:prstGeom>
          <a:solidFill>
            <a:srgbClr val="2E7D32"/>
          </a:solidFill>
          <a:ln>
            <a:noFill/>
          </a:ln>
        </p:spPr>
        <p:txBody>
          <a:bodyPr wrap="square" lIns="45720" tIns="27432" rIns="45720" bIns="27432" anchor="ctr">
            <a:normAutofit/>
          </a:bodyPr>
          <a:lstStyle/>
          <a:p>
            <a:pPr marL="0" indent="0" algn="ctr">
              <a:buNone/>
            </a:pPr>
            <a:r>
              <a:rPr lang="en-US" sz="1000" b="1" i="0" spc="150" dirty="0">
                <a:solidFill>
                  <a:srgbClr val="FFFFFF"/>
                </a:solidFill>
                <a:latin typeface="Calibri"/>
              </a:rPr>
              <a:t>WORKING</a:t>
            </a:r>
          </a:p>
        </p:txBody>
      </p:sp>
      <p:sp>
        <p:nvSpPr>
          <p:cNvPr id="244" name="sh"/>
          <p:cNvSpPr txBox="1"/>
          <p:nvPr/>
        </p:nvSpPr>
        <p:spPr>
          <a:xfrm>
            <a:off x="2381520" y="2870000"/>
            <a:ext cx="9078960" cy="380000"/>
          </a:xfrm>
          <a:prstGeom prst="rect">
            <a:avLst/>
          </a:prstGeom>
          <a:noFill/>
          <a:ln>
            <a:noFill/>
          </a:ln>
        </p:spPr>
        <p:txBody>
          <a:bodyPr wrap="square" lIns="0" tIns="0" rIns="0" bIns="0" anchor="t">
            <a:normAutofit/>
          </a:bodyPr>
          <a:lstStyle/>
          <a:p>
            <a:pPr marL="0" indent="0" algn="l">
              <a:buNone/>
            </a:pPr>
            <a:r>
              <a:rPr lang="en-US" sz="1450" b="1" i="0" dirty="0">
                <a:solidFill>
                  <a:srgbClr val="1A1D21"/>
                </a:solidFill>
                <a:latin typeface="Calibri"/>
              </a:rPr>
              <a:t>Published to GitHub with both simulators as submodules</a:t>
            </a:r>
          </a:p>
          <a:p>
            <a:pPr marL="0" indent="0" algn="l">
              <a:spcBef>
                <a:spcPts val="80"/>
              </a:spcBef>
              <a:buNone/>
            </a:pPr>
            <a:r>
              <a:rPr lang="en-US" sz="1200" b="0" i="0" dirty="0">
                <a:solidFill>
                  <a:srgbClr val="5F6368"/>
                </a:solidFill>
                <a:latin typeface="Calibri"/>
              </a:rPr>
              <a:t>Reproducible on another machine with one clone command</a:t>
            </a:r>
          </a:p>
        </p:txBody>
      </p:sp>
      <p:sp>
        <p:nvSpPr>
          <p:cNvPr id="245" name="sh"/>
          <p:cNvSpPr txBox="1"/>
          <p:nvPr/>
        </p:nvSpPr>
        <p:spPr>
          <a:xfrm>
            <a:off x="731520" y="3560000"/>
            <a:ext cx="1500000" cy="300000"/>
          </a:xfrm>
          <a:prstGeom prst="roundRect">
            <a:avLst>
              <a:gd name="adj" fmla="val 22000"/>
            </a:avLst>
          </a:prstGeom>
          <a:solidFill>
            <a:srgbClr val="B26A00"/>
          </a:solidFill>
          <a:ln>
            <a:noFill/>
          </a:ln>
        </p:spPr>
        <p:txBody>
          <a:bodyPr wrap="square" lIns="45720" tIns="27432" rIns="45720" bIns="27432" anchor="ctr">
            <a:normAutofit/>
          </a:bodyPr>
          <a:lstStyle/>
          <a:p>
            <a:pPr marL="0" indent="0" algn="ctr">
              <a:buNone/>
            </a:pPr>
            <a:r>
              <a:rPr lang="en-US" sz="1000" b="1" i="0" spc="150" dirty="0">
                <a:solidFill>
                  <a:srgbClr val="FFFFFF"/>
                </a:solidFill>
                <a:latin typeface="Calibri"/>
              </a:rPr>
              <a:t>PARTIAL</a:t>
            </a:r>
          </a:p>
        </p:txBody>
      </p:sp>
      <p:sp>
        <p:nvSpPr>
          <p:cNvPr id="246" name="sh"/>
          <p:cNvSpPr txBox="1"/>
          <p:nvPr/>
        </p:nvSpPr>
        <p:spPr>
          <a:xfrm>
            <a:off x="2381520" y="3530000"/>
            <a:ext cx="9078960" cy="380000"/>
          </a:xfrm>
          <a:prstGeom prst="rect">
            <a:avLst/>
          </a:prstGeom>
          <a:noFill/>
          <a:ln>
            <a:noFill/>
          </a:ln>
        </p:spPr>
        <p:txBody>
          <a:bodyPr wrap="square" lIns="0" tIns="0" rIns="0" bIns="0" anchor="t">
            <a:normAutofit/>
          </a:bodyPr>
          <a:lstStyle/>
          <a:p>
            <a:pPr marL="0" indent="0" algn="l">
              <a:buNone/>
            </a:pPr>
            <a:r>
              <a:rPr lang="en-US" sz="1450" b="1" i="0" dirty="0">
                <a:solidFill>
                  <a:srgbClr val="1A1D21"/>
                </a:solidFill>
                <a:latin typeface="Calibri"/>
              </a:rPr>
              <a:t>Power modelling</a:t>
            </a:r>
          </a:p>
          <a:p>
            <a:pPr marL="0" indent="0" algn="l">
              <a:spcBef>
                <a:spcPts val="80"/>
              </a:spcBef>
              <a:buNone/>
            </a:pPr>
            <a:r>
              <a:rPr lang="en-US" sz="1200" b="0" i="0" dirty="0">
                <a:solidFill>
                  <a:srgbClr val="5F6368"/>
                </a:solidFill>
                <a:latin typeface="Calibri"/>
              </a:rPr>
              <a:t>First-order only; command-level counts not yet wired through</a:t>
            </a:r>
          </a:p>
        </p:txBody>
      </p:sp>
      <p:sp>
        <p:nvSpPr>
          <p:cNvPr id="247" name="sh"/>
          <p:cNvSpPr txBox="1"/>
          <p:nvPr/>
        </p:nvSpPr>
        <p:spPr>
          <a:xfrm>
            <a:off x="731520" y="4220000"/>
            <a:ext cx="1500000" cy="300000"/>
          </a:xfrm>
          <a:prstGeom prst="roundRect">
            <a:avLst>
              <a:gd name="adj" fmla="val 22000"/>
            </a:avLst>
          </a:prstGeom>
          <a:solidFill>
            <a:srgbClr val="5F6368"/>
          </a:solidFill>
          <a:ln>
            <a:noFill/>
          </a:ln>
        </p:spPr>
        <p:txBody>
          <a:bodyPr wrap="square" lIns="45720" tIns="27432" rIns="45720" bIns="27432" anchor="ctr">
            <a:normAutofit/>
          </a:bodyPr>
          <a:lstStyle/>
          <a:p>
            <a:pPr marL="0" indent="0" algn="ctr">
              <a:buNone/>
            </a:pPr>
            <a:r>
              <a:rPr lang="en-US" sz="1000" b="1" i="0" spc="150" dirty="0">
                <a:solidFill>
                  <a:srgbClr val="FFFFFF"/>
                </a:solidFill>
                <a:latin typeface="Calibri"/>
              </a:rPr>
              <a:t>PLANNED</a:t>
            </a:r>
          </a:p>
        </p:txBody>
      </p:sp>
      <p:sp>
        <p:nvSpPr>
          <p:cNvPr id="248" name="sh"/>
          <p:cNvSpPr txBox="1"/>
          <p:nvPr/>
        </p:nvSpPr>
        <p:spPr>
          <a:xfrm>
            <a:off x="2381520" y="4190000"/>
            <a:ext cx="9078960" cy="380000"/>
          </a:xfrm>
          <a:prstGeom prst="rect">
            <a:avLst/>
          </a:prstGeom>
          <a:noFill/>
          <a:ln>
            <a:noFill/>
          </a:ln>
        </p:spPr>
        <p:txBody>
          <a:bodyPr wrap="square" lIns="0" tIns="0" rIns="0" bIns="0" anchor="t">
            <a:normAutofit/>
          </a:bodyPr>
          <a:lstStyle/>
          <a:p>
            <a:pPr marL="0" indent="0" algn="l">
              <a:buNone/>
            </a:pPr>
            <a:r>
              <a:rPr lang="en-US" sz="1450" b="1" i="0" dirty="0">
                <a:solidFill>
                  <a:srgbClr val="1A1D21"/>
                </a:solidFill>
                <a:latin typeface="Calibri"/>
              </a:rPr>
              <a:t>Real Llama traces</a:t>
            </a:r>
          </a:p>
          <a:p>
            <a:pPr marL="0" indent="0" algn="l">
              <a:spcBef>
                <a:spcPts val="80"/>
              </a:spcBef>
              <a:buNone/>
            </a:pPr>
            <a:r>
              <a:rPr lang="en-US" sz="1200" b="0" i="0" dirty="0">
                <a:solidFill>
                  <a:srgbClr val="5F6368"/>
                </a:solidFill>
                <a:latin typeface="Calibri"/>
              </a:rPr>
              <a:t>Needs a machine with NVIDIA A100 or H100 GPUs</a:t>
            </a:r>
          </a:p>
        </p:txBody>
      </p:sp>
      <p:sp>
        <p:nvSpPr>
          <p:cNvPr id="249" name="sh"/>
          <p:cNvSpPr txBox="1"/>
          <p:nvPr/>
        </p:nvSpPr>
        <p:spPr>
          <a:xfrm>
            <a:off x="731520" y="4880000"/>
            <a:ext cx="1500000" cy="300000"/>
          </a:xfrm>
          <a:prstGeom prst="roundRect">
            <a:avLst>
              <a:gd name="adj" fmla="val 22000"/>
            </a:avLst>
          </a:prstGeom>
          <a:solidFill>
            <a:srgbClr val="8E1600"/>
          </a:solidFill>
          <a:ln>
            <a:noFill/>
          </a:ln>
        </p:spPr>
        <p:txBody>
          <a:bodyPr wrap="square" lIns="45720" tIns="27432" rIns="45720" bIns="27432" anchor="ctr">
            <a:normAutofit/>
          </a:bodyPr>
          <a:lstStyle/>
          <a:p>
            <a:pPr marL="0" indent="0" algn="ctr">
              <a:buNone/>
            </a:pPr>
            <a:r>
              <a:rPr lang="en-US" sz="1000" b="1" i="0" spc="150" dirty="0">
                <a:solidFill>
                  <a:srgbClr val="FFFFFF"/>
                </a:solidFill>
                <a:latin typeface="Calibri"/>
              </a:rPr>
              <a:t>NOT DONE</a:t>
            </a:r>
          </a:p>
        </p:txBody>
      </p:sp>
      <p:sp>
        <p:nvSpPr>
          <p:cNvPr id="250" name="sh"/>
          <p:cNvSpPr txBox="1"/>
          <p:nvPr/>
        </p:nvSpPr>
        <p:spPr>
          <a:xfrm>
            <a:off x="2381520" y="4850000"/>
            <a:ext cx="9078960" cy="380000"/>
          </a:xfrm>
          <a:prstGeom prst="rect">
            <a:avLst/>
          </a:prstGeom>
          <a:noFill/>
          <a:ln>
            <a:noFill/>
          </a:ln>
        </p:spPr>
        <p:txBody>
          <a:bodyPr wrap="square" lIns="0" tIns="0" rIns="0" bIns="0" anchor="t">
            <a:normAutofit/>
          </a:bodyPr>
          <a:lstStyle/>
          <a:p>
            <a:pPr marL="0" indent="0" algn="l">
              <a:buNone/>
            </a:pPr>
            <a:r>
              <a:rPr lang="en-US" sz="1450" b="1" i="0" dirty="0">
                <a:solidFill>
                  <a:srgbClr val="1A1D21"/>
                </a:solidFill>
                <a:latin typeface="Calibri"/>
              </a:rPr>
              <a:t>The paper's 2.69x throughput-per-watt figure</a:t>
            </a:r>
          </a:p>
          <a:p>
            <a:pPr marL="0" indent="0" algn="l">
              <a:spcBef>
                <a:spcPts val="80"/>
              </a:spcBef>
              <a:buNone/>
            </a:pPr>
            <a:r>
              <a:rPr lang="en-US" sz="1200" b="0" i="0" dirty="0">
                <a:solidFill>
                  <a:srgbClr val="5F6368"/>
                </a:solidFill>
                <a:latin typeface="Calibri"/>
              </a:rPr>
              <a:t>Would need the analytical model, which we chose not to build</a:t>
            </a:r>
          </a:p>
        </p:txBody>
      </p:sp>
      <p:sp>
        <p:nvSpPr>
          <p:cNvPr id="251" name="nb"/>
          <p:cNvSpPr txBox="1"/>
          <p:nvPr/>
        </p:nvSpPr>
        <p:spPr>
          <a:xfrm>
            <a:off x="731520" y="4980000"/>
            <a:ext cx="68580" cy="1150000"/>
          </a:xfrm>
          <a:prstGeom prst="rect">
            <a:avLst/>
          </a:prstGeom>
          <a:solidFill>
            <a:srgbClr val="C55A11"/>
          </a:solidFill>
          <a:ln>
            <a:noFill/>
          </a:ln>
        </p:spPr>
        <p:txBody>
          <a:bodyPr wrap="square" lIns="137160" tIns="91440" rIns="137160" bIns="91440" anchor="t">
            <a:normAutofit/>
          </a:bodyPr>
          <a:lstStyle/>
          <a:p>
            <a:endParaRPr lang="en-US"/>
          </a:p>
        </p:txBody>
      </p:sp>
      <p:sp>
        <p:nvSpPr>
          <p:cNvPr id="252" name="sh"/>
          <p:cNvSpPr txBox="1"/>
          <p:nvPr/>
        </p:nvSpPr>
        <p:spPr>
          <a:xfrm>
            <a:off x="800100" y="4980000"/>
            <a:ext cx="10660380" cy="1150000"/>
          </a:xfrm>
          <a:prstGeom prst="rect">
            <a:avLst/>
          </a:prstGeom>
          <a:solidFill>
            <a:srgbClr val="EAEFF6"/>
          </a:solidFill>
          <a:ln>
            <a:noFill/>
          </a:ln>
        </p:spPr>
        <p:txBody>
          <a:bodyPr wrap="square" lIns="137160" tIns="91440" rIns="137160" bIns="91440" anchor="t">
            <a:normAutofit/>
          </a:bodyPr>
          <a:lstStyle/>
          <a:p>
            <a:pPr marL="0" indent="0" algn="l">
              <a:buNone/>
            </a:pPr>
            <a:r>
              <a:rPr lang="en-US" sz="1000" b="1" i="0" spc="200" dirty="0">
                <a:solidFill>
                  <a:srgbClr val="C55A11"/>
                </a:solidFill>
                <a:latin typeface="Calibri"/>
              </a:rPr>
              <a:t>IN PLAIN WORDS</a:t>
            </a:r>
          </a:p>
          <a:p>
            <a:pPr marL="0" indent="0" algn="l">
              <a:spcBef>
                <a:spcPts val="250"/>
              </a:spcBef>
              <a:buNone/>
            </a:pPr>
            <a:r>
              <a:rPr lang="en-US" sz="1400" b="0" i="0" dirty="0">
                <a:solidFill>
                  <a:srgbClr val="1A1D21"/>
                </a:solidFill>
                <a:latin typeface="Calibri"/>
              </a:rPr>
              <a:t>The simulator is built and validated. Being correct and being complete are two different things, and only the first is true today.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 name="rule"/>
          <p:cNvSpPr txBox="1"/>
          <p:nvPr/>
        </p:nvSpPr>
        <p:spPr>
          <a:xfrm>
            <a:off x="0" y="0"/>
            <a:ext cx="12192000" cy="68580"/>
          </a:xfrm>
          <a:prstGeom prst="rect">
            <a:avLst/>
          </a:prstGeom>
          <a:solidFill>
            <a:srgbClr val="C55A11"/>
          </a:solidFill>
          <a:ln>
            <a:noFill/>
          </a:ln>
        </p:spPr>
        <p:txBody>
          <a:bodyPr wrap="square" lIns="137160" tIns="91440" rIns="137160" bIns="91440" anchor="t">
            <a:normAutofit/>
          </a:bodyPr>
          <a:lstStyle/>
          <a:p>
            <a:endParaRPr lang="en-US"/>
          </a:p>
        </p:txBody>
      </p:sp>
      <p:sp>
        <p:nvSpPr>
          <p:cNvPr id="254" name="spine"/>
          <p:cNvSpPr txBox="1"/>
          <p:nvPr/>
        </p:nvSpPr>
        <p:spPr>
          <a:xfrm>
            <a:off x="0" y="68580"/>
            <a:ext cx="137160" cy="6789420"/>
          </a:xfrm>
          <a:prstGeom prst="rect">
            <a:avLst/>
          </a:prstGeom>
          <a:solidFill>
            <a:srgbClr val="1F3864"/>
          </a:solidFill>
          <a:ln>
            <a:noFill/>
          </a:ln>
        </p:spPr>
        <p:txBody>
          <a:bodyPr wrap="square" lIns="137160" tIns="91440" rIns="137160" bIns="91440" anchor="t">
            <a:normAutofit/>
          </a:bodyPr>
          <a:lstStyle/>
          <a:p>
            <a:endParaRPr lang="en-US"/>
          </a:p>
        </p:txBody>
      </p:sp>
      <p:sp>
        <p:nvSpPr>
          <p:cNvPr id="255" name="sh"/>
          <p:cNvSpPr txBox="1"/>
          <p:nvPr/>
        </p:nvSpPr>
        <p:spPr>
          <a:xfrm>
            <a:off x="731520" y="320040"/>
            <a:ext cx="10728960" cy="300000"/>
          </a:xfrm>
          <a:prstGeom prst="rect">
            <a:avLst/>
          </a:prstGeom>
          <a:noFill/>
          <a:ln>
            <a:noFill/>
          </a:ln>
        </p:spPr>
        <p:txBody>
          <a:bodyPr wrap="square" lIns="0" tIns="0" rIns="0" bIns="0" anchor="t">
            <a:normAutofit/>
          </a:bodyPr>
          <a:lstStyle/>
          <a:p>
            <a:pPr marL="0" indent="0" algn="l">
              <a:buNone/>
            </a:pPr>
            <a:r>
              <a:rPr lang="en-US" sz="1100" b="1" i="0" spc="300" dirty="0">
                <a:solidFill>
                  <a:srgbClr val="C55A11"/>
                </a:solidFill>
                <a:latin typeface="Calibri"/>
              </a:rPr>
              <a:t>LIMITS</a:t>
            </a:r>
          </a:p>
        </p:txBody>
      </p:sp>
      <p:sp>
        <p:nvSpPr>
          <p:cNvPr id="256" name="sh"/>
          <p:cNvSpPr txBox="1"/>
          <p:nvPr/>
        </p:nvSpPr>
        <p:spPr>
          <a:xfrm>
            <a:off x="731520" y="620000"/>
            <a:ext cx="10728960" cy="780000"/>
          </a:xfrm>
          <a:prstGeom prst="rect">
            <a:avLst/>
          </a:prstGeom>
          <a:noFill/>
          <a:ln>
            <a:noFill/>
          </a:ln>
        </p:spPr>
        <p:txBody>
          <a:bodyPr wrap="square" lIns="0" tIns="0" rIns="0" bIns="0" anchor="t">
            <a:normAutofit/>
          </a:bodyPr>
          <a:lstStyle/>
          <a:p>
            <a:pPr marL="0" indent="0" algn="l">
              <a:buNone/>
            </a:pPr>
            <a:r>
              <a:rPr lang="en-US" sz="2600" b="1" i="0" dirty="0">
                <a:solidFill>
                  <a:srgbClr val="1F3864"/>
                </a:solidFill>
                <a:latin typeface="Calibri"/>
              </a:rPr>
              <a:t>Honest limits of the current results</a:t>
            </a:r>
          </a:p>
        </p:txBody>
      </p:sp>
      <p:sp>
        <p:nvSpPr>
          <p:cNvPr id="257" name="ul"/>
          <p:cNvSpPr txBox="1"/>
          <p:nvPr/>
        </p:nvSpPr>
        <p:spPr>
          <a:xfrm>
            <a:off x="731520" y="1400000"/>
            <a:ext cx="1600000" cy="40000"/>
          </a:xfrm>
          <a:prstGeom prst="rect">
            <a:avLst/>
          </a:prstGeom>
          <a:solidFill>
            <a:srgbClr val="C55A11"/>
          </a:solidFill>
          <a:ln>
            <a:noFill/>
          </a:ln>
        </p:spPr>
        <p:txBody>
          <a:bodyPr wrap="square" lIns="137160" tIns="91440" rIns="137160" bIns="91440" anchor="t">
            <a:normAutofit/>
          </a:bodyPr>
          <a:lstStyle/>
          <a:p>
            <a:endParaRPr lang="en-US"/>
          </a:p>
        </p:txBody>
      </p:sp>
      <p:sp>
        <p:nvSpPr>
          <p:cNvPr id="258" name="sh"/>
          <p:cNvSpPr txBox="1"/>
          <p:nvPr/>
        </p:nvSpPr>
        <p:spPr>
          <a:xfrm>
            <a:off x="731520" y="6358000"/>
            <a:ext cx="6437376" cy="300000"/>
          </a:xfrm>
          <a:prstGeom prst="rect">
            <a:avLst/>
          </a:prstGeom>
          <a:noFill/>
          <a:ln>
            <a:noFill/>
          </a:ln>
        </p:spPr>
        <p:txBody>
          <a:bodyPr wrap="square" lIns="0" tIns="0" rIns="0" bIns="0" anchor="t">
            <a:normAutofit/>
          </a:bodyPr>
          <a:lstStyle/>
          <a:p>
            <a:pPr marL="0" indent="0" algn="l">
              <a:buNone/>
            </a:pPr>
            <a:r>
              <a:rPr lang="en-US" sz="1000" b="0" i="0" dirty="0">
                <a:solidFill>
                  <a:srgbClr val="8FA3BF"/>
                </a:solidFill>
                <a:latin typeface="Calibri"/>
              </a:rPr>
              <a:t>H3 cycle-accurate memory simulator</a:t>
            </a:r>
          </a:p>
        </p:txBody>
      </p:sp>
      <p:sp>
        <p:nvSpPr>
          <p:cNvPr id="259" name="sh"/>
          <p:cNvSpPr txBox="1"/>
          <p:nvPr/>
        </p:nvSpPr>
        <p:spPr>
          <a:xfrm>
            <a:off x="10760480" y="6358000"/>
            <a:ext cx="700000" cy="300000"/>
          </a:xfrm>
          <a:prstGeom prst="rect">
            <a:avLst/>
          </a:prstGeom>
          <a:noFill/>
          <a:ln>
            <a:noFill/>
          </a:ln>
        </p:spPr>
        <p:txBody>
          <a:bodyPr wrap="square" lIns="0" tIns="0" rIns="0" bIns="0" anchor="t">
            <a:normAutofit/>
          </a:bodyPr>
          <a:lstStyle/>
          <a:p>
            <a:pPr marL="0" indent="0" algn="r">
              <a:buNone/>
            </a:pPr>
            <a:r>
              <a:rPr lang="en-US" sz="1100" b="1" i="0" dirty="0">
                <a:solidFill>
                  <a:srgbClr val="8FA3BF"/>
                </a:solidFill>
                <a:latin typeface="Calibri"/>
              </a:rPr>
              <a:t>21</a:t>
            </a:r>
          </a:p>
        </p:txBody>
      </p:sp>
      <p:sp>
        <p:nvSpPr>
          <p:cNvPr id="260" name="sh"/>
          <p:cNvSpPr txBox="1"/>
          <p:nvPr/>
        </p:nvSpPr>
        <p:spPr>
          <a:xfrm>
            <a:off x="731520" y="1560000"/>
            <a:ext cx="10728960" cy="3200000"/>
          </a:xfrm>
          <a:prstGeom prst="rect">
            <a:avLst/>
          </a:prstGeom>
          <a:noFill/>
          <a:ln>
            <a:noFill/>
          </a:ln>
        </p:spPr>
        <p:txBody>
          <a:bodyPr wrap="square" lIns="0" tIns="0" rIns="0" bIns="0" anchor="t">
            <a:normAutofit/>
          </a:bodyPr>
          <a:lstStyle/>
          <a:p>
            <a:pPr marL="228600" indent="-228600" algn="l">
              <a:spcBef>
                <a:spcPts val="520"/>
              </a:spcBef>
              <a:buClr>
                <a:srgbClr val="C55A11"/>
              </a:buClr>
              <a:buSzPct val="90000"/>
              <a:buFont typeface="Arial"/>
              <a:buChar char="■"/>
            </a:pPr>
            <a:r>
              <a:rPr lang="en-US" sz="1550" b="0" i="0" dirty="0">
                <a:solidFill>
                  <a:srgbClr val="1A1D21"/>
                </a:solidFill>
                <a:latin typeface="Calibri"/>
              </a:rPr>
              <a:t>The test workload is a stand-in, not a real LLM trace</a:t>
            </a:r>
          </a:p>
          <a:p>
            <a:pPr marL="457200" indent="-228600" algn="l">
              <a:spcBef>
                <a:spcPts val="380"/>
              </a:spcBef>
              <a:buClr>
                <a:srgbClr val="8FA3BF"/>
              </a:buClr>
              <a:buSzPct val="90000"/>
              <a:buFont typeface="Arial"/>
              <a:buChar char="–"/>
            </a:pPr>
            <a:r>
              <a:rPr lang="en-US" sz="1400" b="0" i="0" dirty="0">
                <a:solidFill>
                  <a:srgbClr val="5F6368"/>
                </a:solidFill>
                <a:latin typeface="Calibri"/>
              </a:rPr>
              <a:t>It has no computation between memory accesses, which is the worst case</a:t>
            </a:r>
          </a:p>
          <a:p>
            <a:pPr marL="228600" indent="-228600" algn="l">
              <a:spcBef>
                <a:spcPts val="520"/>
              </a:spcBef>
              <a:buClr>
                <a:srgbClr val="C55A11"/>
              </a:buClr>
              <a:buSzPct val="90000"/>
              <a:buFont typeface="Arial"/>
              <a:buChar char="■"/>
            </a:pPr>
            <a:r>
              <a:rPr lang="en-US" sz="1550" b="0" i="0" dirty="0">
                <a:solidFill>
                  <a:srgbClr val="1A1D21"/>
                </a:solidFill>
                <a:latin typeface="Calibri"/>
              </a:rPr>
              <a:t>The run is too short to reach steady state</a:t>
            </a:r>
          </a:p>
          <a:p>
            <a:pPr marL="457200" indent="-228600" algn="l">
              <a:spcBef>
                <a:spcPts val="380"/>
              </a:spcBef>
              <a:buClr>
                <a:srgbClr val="8FA3BF"/>
              </a:buClr>
              <a:buSzPct val="90000"/>
              <a:buFont typeface="Arial"/>
              <a:buChar char="–"/>
            </a:pPr>
            <a:r>
              <a:rPr lang="en-US" sz="1400" b="0" i="0" dirty="0">
                <a:solidFill>
                  <a:srgbClr val="5F6368"/>
                </a:solidFill>
                <a:latin typeface="Calibri"/>
              </a:rPr>
              <a:t>64 microseconds of simulated time is about three buffer refills</a:t>
            </a:r>
          </a:p>
          <a:p>
            <a:pPr marL="228600" indent="-228600" algn="l">
              <a:spcBef>
                <a:spcPts val="520"/>
              </a:spcBef>
              <a:buClr>
                <a:srgbClr val="C55A11"/>
              </a:buClr>
              <a:buSzPct val="90000"/>
              <a:buFont typeface="Arial"/>
              <a:buChar char="■"/>
            </a:pPr>
            <a:r>
              <a:rPr lang="en-US" sz="1550" b="0" i="0" dirty="0">
                <a:solidFill>
                  <a:srgbClr val="1A1D21"/>
                </a:solidFill>
                <a:latin typeface="Calibri"/>
              </a:rPr>
              <a:t>The HBM-only comparison currently assumes a GPU with 3 TB of HBM</a:t>
            </a:r>
          </a:p>
          <a:p>
            <a:pPr marL="457200" indent="-228600" algn="l">
              <a:spcBef>
                <a:spcPts val="380"/>
              </a:spcBef>
              <a:buClr>
                <a:srgbClr val="8FA3BF"/>
              </a:buClr>
              <a:buSzPct val="90000"/>
              <a:buFont typeface="Arial"/>
              <a:buChar char="–"/>
            </a:pPr>
            <a:r>
              <a:rPr lang="en-US" sz="1400" b="0" i="0" dirty="0">
                <a:solidFill>
                  <a:srgbClr val="5F6368"/>
                </a:solidFill>
                <a:latin typeface="Calibri"/>
              </a:rPr>
              <a:t>No such GPU exists; the paper compares at equal GPU count instead</a:t>
            </a:r>
          </a:p>
          <a:p>
            <a:pPr marL="228600" indent="-228600" algn="l">
              <a:spcBef>
                <a:spcPts val="520"/>
              </a:spcBef>
              <a:buClr>
                <a:srgbClr val="C55A11"/>
              </a:buClr>
              <a:buSzPct val="90000"/>
              <a:buFont typeface="Arial"/>
              <a:buChar char="■"/>
            </a:pPr>
            <a:r>
              <a:rPr lang="en-US" sz="1550" b="0" i="0" dirty="0">
                <a:solidFill>
                  <a:srgbClr val="1A1D21"/>
                </a:solidFill>
                <a:latin typeface="Calibri"/>
              </a:rPr>
              <a:t>These limits are written into the project README, not hidden</a:t>
            </a:r>
          </a:p>
        </p:txBody>
      </p:sp>
      <p:sp>
        <p:nvSpPr>
          <p:cNvPr id="261" name="nb"/>
          <p:cNvSpPr txBox="1"/>
          <p:nvPr/>
        </p:nvSpPr>
        <p:spPr>
          <a:xfrm>
            <a:off x="731520" y="4980000"/>
            <a:ext cx="68580" cy="1150000"/>
          </a:xfrm>
          <a:prstGeom prst="rect">
            <a:avLst/>
          </a:prstGeom>
          <a:solidFill>
            <a:srgbClr val="C55A11"/>
          </a:solidFill>
          <a:ln>
            <a:noFill/>
          </a:ln>
        </p:spPr>
        <p:txBody>
          <a:bodyPr wrap="square" lIns="137160" tIns="91440" rIns="137160" bIns="91440" anchor="t">
            <a:normAutofit/>
          </a:bodyPr>
          <a:lstStyle/>
          <a:p>
            <a:endParaRPr lang="en-US"/>
          </a:p>
        </p:txBody>
      </p:sp>
      <p:sp>
        <p:nvSpPr>
          <p:cNvPr id="262" name="sh"/>
          <p:cNvSpPr txBox="1"/>
          <p:nvPr/>
        </p:nvSpPr>
        <p:spPr>
          <a:xfrm>
            <a:off x="800100" y="4980000"/>
            <a:ext cx="10660380" cy="1150000"/>
          </a:xfrm>
          <a:prstGeom prst="rect">
            <a:avLst/>
          </a:prstGeom>
          <a:solidFill>
            <a:srgbClr val="EAEFF6"/>
          </a:solidFill>
          <a:ln>
            <a:noFill/>
          </a:ln>
        </p:spPr>
        <p:txBody>
          <a:bodyPr wrap="square" lIns="137160" tIns="91440" rIns="137160" bIns="91440" anchor="t">
            <a:normAutofit/>
          </a:bodyPr>
          <a:lstStyle/>
          <a:p>
            <a:pPr marL="0" indent="0" algn="l">
              <a:buNone/>
            </a:pPr>
            <a:r>
              <a:rPr lang="en-US" sz="1000" b="1" i="0" spc="200" dirty="0">
                <a:solidFill>
                  <a:srgbClr val="C55A11"/>
                </a:solidFill>
                <a:latin typeface="Calibri"/>
              </a:rPr>
              <a:t>IN PLAIN WORDS</a:t>
            </a:r>
          </a:p>
          <a:p>
            <a:pPr marL="0" indent="0" algn="l">
              <a:spcBef>
                <a:spcPts val="250"/>
              </a:spcBef>
              <a:buNone/>
            </a:pPr>
            <a:r>
              <a:rPr lang="en-US" sz="1400" b="0" i="0" dirty="0">
                <a:solidFill>
                  <a:srgbClr val="1A1D21"/>
                </a:solidFill>
                <a:latin typeface="Calibri"/>
              </a:rPr>
              <a:t>We would rather state clearly what the setup cannot yet support than quote a number it cannot justify. Each limit has a known fix, listed in the next steps.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 name="rule"/>
          <p:cNvSpPr txBox="1"/>
          <p:nvPr/>
        </p:nvSpPr>
        <p:spPr>
          <a:xfrm>
            <a:off x="0" y="0"/>
            <a:ext cx="12192000" cy="68580"/>
          </a:xfrm>
          <a:prstGeom prst="rect">
            <a:avLst/>
          </a:prstGeom>
          <a:solidFill>
            <a:srgbClr val="C55A11"/>
          </a:solidFill>
          <a:ln>
            <a:noFill/>
          </a:ln>
        </p:spPr>
        <p:txBody>
          <a:bodyPr wrap="square" lIns="137160" tIns="91440" rIns="137160" bIns="91440" anchor="t">
            <a:normAutofit/>
          </a:bodyPr>
          <a:lstStyle/>
          <a:p>
            <a:endParaRPr lang="en-US"/>
          </a:p>
        </p:txBody>
      </p:sp>
      <p:sp>
        <p:nvSpPr>
          <p:cNvPr id="264" name="spine"/>
          <p:cNvSpPr txBox="1"/>
          <p:nvPr/>
        </p:nvSpPr>
        <p:spPr>
          <a:xfrm>
            <a:off x="0" y="68580"/>
            <a:ext cx="137160" cy="6789420"/>
          </a:xfrm>
          <a:prstGeom prst="rect">
            <a:avLst/>
          </a:prstGeom>
          <a:solidFill>
            <a:srgbClr val="1F3864"/>
          </a:solidFill>
          <a:ln>
            <a:noFill/>
          </a:ln>
        </p:spPr>
        <p:txBody>
          <a:bodyPr wrap="square" lIns="137160" tIns="91440" rIns="137160" bIns="91440" anchor="t">
            <a:normAutofit/>
          </a:bodyPr>
          <a:lstStyle/>
          <a:p>
            <a:endParaRPr lang="en-US"/>
          </a:p>
        </p:txBody>
      </p:sp>
      <p:sp>
        <p:nvSpPr>
          <p:cNvPr id="265" name="sh"/>
          <p:cNvSpPr txBox="1"/>
          <p:nvPr/>
        </p:nvSpPr>
        <p:spPr>
          <a:xfrm>
            <a:off x="731520" y="320040"/>
            <a:ext cx="10728960" cy="300000"/>
          </a:xfrm>
          <a:prstGeom prst="rect">
            <a:avLst/>
          </a:prstGeom>
          <a:noFill/>
          <a:ln>
            <a:noFill/>
          </a:ln>
        </p:spPr>
        <p:txBody>
          <a:bodyPr wrap="square" lIns="0" tIns="0" rIns="0" bIns="0" anchor="t">
            <a:normAutofit/>
          </a:bodyPr>
          <a:lstStyle/>
          <a:p>
            <a:pPr marL="0" indent="0" algn="l">
              <a:buNone/>
            </a:pPr>
            <a:r>
              <a:rPr lang="en-US" sz="1100" b="1" i="0" spc="300" dirty="0">
                <a:solidFill>
                  <a:srgbClr val="C55A11"/>
                </a:solidFill>
                <a:latin typeface="Calibri"/>
              </a:rPr>
              <a:t>VALUE</a:t>
            </a:r>
          </a:p>
        </p:txBody>
      </p:sp>
      <p:sp>
        <p:nvSpPr>
          <p:cNvPr id="266" name="sh"/>
          <p:cNvSpPr txBox="1"/>
          <p:nvPr/>
        </p:nvSpPr>
        <p:spPr>
          <a:xfrm>
            <a:off x="731520" y="620000"/>
            <a:ext cx="10728960" cy="780000"/>
          </a:xfrm>
          <a:prstGeom prst="rect">
            <a:avLst/>
          </a:prstGeom>
          <a:noFill/>
          <a:ln>
            <a:noFill/>
          </a:ln>
        </p:spPr>
        <p:txBody>
          <a:bodyPr wrap="square" lIns="0" tIns="0" rIns="0" bIns="0" anchor="t">
            <a:normAutofit/>
          </a:bodyPr>
          <a:lstStyle/>
          <a:p>
            <a:pPr marL="0" indent="0" algn="l">
              <a:buNone/>
            </a:pPr>
            <a:r>
              <a:rPr lang="en-US" sz="2600" b="1" i="0" dirty="0">
                <a:solidFill>
                  <a:srgbClr val="1F3864"/>
                </a:solidFill>
                <a:latin typeface="Calibri"/>
              </a:rPr>
              <a:t>What this simulator adds</a:t>
            </a:r>
          </a:p>
        </p:txBody>
      </p:sp>
      <p:sp>
        <p:nvSpPr>
          <p:cNvPr id="267" name="ul"/>
          <p:cNvSpPr txBox="1"/>
          <p:nvPr/>
        </p:nvSpPr>
        <p:spPr>
          <a:xfrm>
            <a:off x="731520" y="1400000"/>
            <a:ext cx="1600000" cy="40000"/>
          </a:xfrm>
          <a:prstGeom prst="rect">
            <a:avLst/>
          </a:prstGeom>
          <a:solidFill>
            <a:srgbClr val="C55A11"/>
          </a:solidFill>
          <a:ln>
            <a:noFill/>
          </a:ln>
        </p:spPr>
        <p:txBody>
          <a:bodyPr wrap="square" lIns="137160" tIns="91440" rIns="137160" bIns="91440" anchor="t">
            <a:normAutofit/>
          </a:bodyPr>
          <a:lstStyle/>
          <a:p>
            <a:endParaRPr lang="en-US"/>
          </a:p>
        </p:txBody>
      </p:sp>
      <p:sp>
        <p:nvSpPr>
          <p:cNvPr id="268" name="sh"/>
          <p:cNvSpPr txBox="1"/>
          <p:nvPr/>
        </p:nvSpPr>
        <p:spPr>
          <a:xfrm>
            <a:off x="731520" y="6358000"/>
            <a:ext cx="6437376" cy="300000"/>
          </a:xfrm>
          <a:prstGeom prst="rect">
            <a:avLst/>
          </a:prstGeom>
          <a:noFill/>
          <a:ln>
            <a:noFill/>
          </a:ln>
        </p:spPr>
        <p:txBody>
          <a:bodyPr wrap="square" lIns="0" tIns="0" rIns="0" bIns="0" anchor="t">
            <a:normAutofit/>
          </a:bodyPr>
          <a:lstStyle/>
          <a:p>
            <a:pPr marL="0" indent="0" algn="l">
              <a:buNone/>
            </a:pPr>
            <a:r>
              <a:rPr lang="en-US" sz="1000" b="0" i="0" dirty="0">
                <a:solidFill>
                  <a:srgbClr val="8FA3BF"/>
                </a:solidFill>
                <a:latin typeface="Calibri"/>
              </a:rPr>
              <a:t>H3 cycle-accurate memory simulator</a:t>
            </a:r>
          </a:p>
        </p:txBody>
      </p:sp>
      <p:sp>
        <p:nvSpPr>
          <p:cNvPr id="269" name="sh"/>
          <p:cNvSpPr txBox="1"/>
          <p:nvPr/>
        </p:nvSpPr>
        <p:spPr>
          <a:xfrm>
            <a:off x="10760480" y="6358000"/>
            <a:ext cx="700000" cy="300000"/>
          </a:xfrm>
          <a:prstGeom prst="rect">
            <a:avLst/>
          </a:prstGeom>
          <a:noFill/>
          <a:ln>
            <a:noFill/>
          </a:ln>
        </p:spPr>
        <p:txBody>
          <a:bodyPr wrap="square" lIns="0" tIns="0" rIns="0" bIns="0" anchor="t">
            <a:normAutofit/>
          </a:bodyPr>
          <a:lstStyle/>
          <a:p>
            <a:pPr marL="0" indent="0" algn="r">
              <a:buNone/>
            </a:pPr>
            <a:r>
              <a:rPr lang="en-US" sz="1100" b="1" i="0" dirty="0">
                <a:solidFill>
                  <a:srgbClr val="8FA3BF"/>
                </a:solidFill>
                <a:latin typeface="Calibri"/>
              </a:rPr>
              <a:t>22</a:t>
            </a:r>
          </a:p>
        </p:txBody>
      </p:sp>
      <p:sp>
        <p:nvSpPr>
          <p:cNvPr id="270" name="sh"/>
          <p:cNvSpPr txBox="1"/>
          <p:nvPr/>
        </p:nvSpPr>
        <p:spPr>
          <a:xfrm>
            <a:off x="731520" y="1560000"/>
            <a:ext cx="5214480" cy="340000"/>
          </a:xfrm>
          <a:prstGeom prst="rect">
            <a:avLst/>
          </a:prstGeom>
          <a:solidFill>
            <a:srgbClr val="1F3864"/>
          </a:solidFill>
          <a:ln>
            <a:noFill/>
          </a:ln>
        </p:spPr>
        <p:txBody>
          <a:bodyPr wrap="square" lIns="114300" tIns="60960" rIns="114300" bIns="60960" anchor="t">
            <a:normAutofit/>
          </a:bodyPr>
          <a:lstStyle/>
          <a:p>
            <a:pPr marL="0" indent="0" algn="l">
              <a:buNone/>
            </a:pPr>
            <a:r>
              <a:rPr lang="en-US" sz="1150" b="1" i="0" spc="200" dirty="0">
                <a:solidFill>
                  <a:srgbClr val="FFFFFF"/>
                </a:solidFill>
                <a:latin typeface="Calibri"/>
              </a:rPr>
              <a:t>THE PAPER ESTABLISHES</a:t>
            </a:r>
          </a:p>
        </p:txBody>
      </p:sp>
      <p:sp>
        <p:nvSpPr>
          <p:cNvPr id="271" name="sh"/>
          <p:cNvSpPr txBox="1"/>
          <p:nvPr/>
        </p:nvSpPr>
        <p:spPr>
          <a:xfrm>
            <a:off x="731520" y="1980000"/>
            <a:ext cx="5214480" cy="2800000"/>
          </a:xfrm>
          <a:prstGeom prst="rect">
            <a:avLst/>
          </a:prstGeom>
          <a:solidFill>
            <a:srgbClr val="F5F7FA"/>
          </a:solidFill>
          <a:ln>
            <a:noFill/>
          </a:ln>
        </p:spPr>
        <p:txBody>
          <a:bodyPr wrap="square" lIns="137160" tIns="91440" rIns="137160" bIns="91440" anchor="t">
            <a:normAutofit/>
          </a:bodyPr>
          <a:lstStyle/>
          <a:p>
            <a:pPr marL="228600" indent="-228600" algn="l">
              <a:spcBef>
                <a:spcPts val="440"/>
              </a:spcBef>
              <a:buClr>
                <a:srgbClr val="C55A11"/>
              </a:buClr>
              <a:buSzPct val="90000"/>
              <a:buFont typeface="Arial"/>
              <a:buChar char="■"/>
            </a:pPr>
            <a:r>
              <a:rPr lang="en-US" sz="1450" b="0" i="0" dirty="0">
                <a:solidFill>
                  <a:srgbClr val="1A1D21"/>
                </a:solidFill>
                <a:latin typeface="Calibri"/>
              </a:rPr>
              <a:t>That H3 is worth building</a:t>
            </a:r>
          </a:p>
          <a:p>
            <a:pPr marL="228600" indent="-228600" algn="l">
              <a:spcBef>
                <a:spcPts val="440"/>
              </a:spcBef>
              <a:buClr>
                <a:srgbClr val="C55A11"/>
              </a:buClr>
              <a:buSzPct val="90000"/>
              <a:buFont typeface="Arial"/>
              <a:buChar char="■"/>
            </a:pPr>
            <a:r>
              <a:rPr lang="en-US" sz="1450" b="0" i="0" dirty="0">
                <a:solidFill>
                  <a:srgbClr val="1A1D21"/>
                </a:solidFill>
                <a:latin typeface="Calibri"/>
              </a:rPr>
              <a:t>Sizes the buffer with an equation</a:t>
            </a:r>
          </a:p>
          <a:p>
            <a:pPr marL="457200" indent="-228600" algn="l">
              <a:spcBef>
                <a:spcPts val="320"/>
              </a:spcBef>
              <a:buClr>
                <a:srgbClr val="8FA3BF"/>
              </a:buClr>
              <a:buSzPct val="90000"/>
              <a:buFont typeface="Arial"/>
              <a:buChar char="–"/>
            </a:pPr>
            <a:r>
              <a:rPr lang="en-US" sz="1300" b="0" i="0" dirty="0">
                <a:solidFill>
                  <a:srgbClr val="5F6368"/>
                </a:solidFill>
                <a:latin typeface="Calibri"/>
              </a:rPr>
              <a:t>And assumes it works from there</a:t>
            </a:r>
          </a:p>
        </p:txBody>
      </p:sp>
      <p:sp>
        <p:nvSpPr>
          <p:cNvPr id="272" name="sh"/>
          <p:cNvSpPr txBox="1"/>
          <p:nvPr/>
        </p:nvSpPr>
        <p:spPr>
          <a:xfrm>
            <a:off x="6246000" y="1560000"/>
            <a:ext cx="5214480" cy="340000"/>
          </a:xfrm>
          <a:prstGeom prst="rect">
            <a:avLst/>
          </a:prstGeom>
          <a:solidFill>
            <a:srgbClr val="C55A11"/>
          </a:solidFill>
          <a:ln>
            <a:noFill/>
          </a:ln>
        </p:spPr>
        <p:txBody>
          <a:bodyPr wrap="square" lIns="114300" tIns="60960" rIns="114300" bIns="60960" anchor="t">
            <a:normAutofit/>
          </a:bodyPr>
          <a:lstStyle/>
          <a:p>
            <a:pPr marL="0" indent="0" algn="l">
              <a:buNone/>
            </a:pPr>
            <a:r>
              <a:rPr lang="en-US" sz="1150" b="1" i="0" spc="200" dirty="0">
                <a:solidFill>
                  <a:srgbClr val="FFFFFF"/>
                </a:solidFill>
                <a:latin typeface="Calibri"/>
              </a:rPr>
              <a:t>OURS CAN EXAMINE</a:t>
            </a:r>
          </a:p>
        </p:txBody>
      </p:sp>
      <p:sp>
        <p:nvSpPr>
          <p:cNvPr id="273" name="sh"/>
          <p:cNvSpPr txBox="1"/>
          <p:nvPr/>
        </p:nvSpPr>
        <p:spPr>
          <a:xfrm>
            <a:off x="6246000" y="1980000"/>
            <a:ext cx="5214480" cy="2800000"/>
          </a:xfrm>
          <a:prstGeom prst="rect">
            <a:avLst/>
          </a:prstGeom>
          <a:solidFill>
            <a:srgbClr val="F5F7FA"/>
          </a:solidFill>
          <a:ln>
            <a:noFill/>
          </a:ln>
        </p:spPr>
        <p:txBody>
          <a:bodyPr wrap="square" lIns="137160" tIns="91440" rIns="137160" bIns="91440" anchor="t">
            <a:normAutofit/>
          </a:bodyPr>
          <a:lstStyle/>
          <a:p>
            <a:pPr marL="228600" indent="-228600" algn="l">
              <a:spcBef>
                <a:spcPts val="440"/>
              </a:spcBef>
              <a:buClr>
                <a:srgbClr val="C55A11"/>
              </a:buClr>
              <a:buSzPct val="90000"/>
              <a:buFont typeface="Arial"/>
              <a:buChar char="■"/>
            </a:pPr>
            <a:r>
              <a:rPr lang="en-US" sz="1450" b="0" i="0" dirty="0">
                <a:solidFill>
                  <a:srgbClr val="1A1D21"/>
                </a:solidFill>
                <a:latin typeface="Calibri"/>
              </a:rPr>
              <a:t>Whether the buffer really hides the delay</a:t>
            </a:r>
          </a:p>
          <a:p>
            <a:pPr marL="457200" indent="-228600" algn="l">
              <a:spcBef>
                <a:spcPts val="320"/>
              </a:spcBef>
              <a:buClr>
                <a:srgbClr val="8FA3BF"/>
              </a:buClr>
              <a:buSzPct val="90000"/>
              <a:buFont typeface="Arial"/>
              <a:buChar char="–"/>
            </a:pPr>
            <a:r>
              <a:rPr lang="en-US" sz="1300" b="0" i="0" dirty="0">
                <a:solidFill>
                  <a:srgbClr val="5F6368"/>
                </a:solidFill>
                <a:latin typeface="Calibri"/>
              </a:rPr>
              <a:t>Hit rate, stall length, late prefetches</a:t>
            </a:r>
          </a:p>
          <a:p>
            <a:pPr marL="228600" indent="-228600" algn="l">
              <a:spcBef>
                <a:spcPts val="440"/>
              </a:spcBef>
              <a:buClr>
                <a:srgbClr val="C55A11"/>
              </a:buClr>
              <a:buSzPct val="90000"/>
              <a:buFont typeface="Arial"/>
              <a:buChar char="■"/>
            </a:pPr>
            <a:r>
              <a:rPr lang="en-US" sz="1450" b="0" i="0" dirty="0">
                <a:solidFill>
                  <a:srgbClr val="1A1D21"/>
                </a:solidFill>
                <a:latin typeface="Calibri"/>
              </a:rPr>
              <a:t>How sensitive the design is to flash latency</a:t>
            </a:r>
          </a:p>
          <a:p>
            <a:pPr marL="228600" indent="-228600" algn="l">
              <a:spcBef>
                <a:spcPts val="440"/>
              </a:spcBef>
              <a:buClr>
                <a:srgbClr val="C55A11"/>
              </a:buClr>
              <a:buSzPct val="90000"/>
              <a:buFont typeface="Arial"/>
              <a:buChar char="■"/>
            </a:pPr>
            <a:r>
              <a:rPr lang="en-US" sz="1450" b="0" i="0" dirty="0">
                <a:solidFill>
                  <a:srgbClr val="1A1D21"/>
                </a:solidFill>
                <a:latin typeface="Calibri"/>
              </a:rPr>
              <a:t>Where the cliff is with too few flash planes</a:t>
            </a:r>
          </a:p>
          <a:p>
            <a:pPr marL="228600" indent="-228600" algn="l">
              <a:spcBef>
                <a:spcPts val="440"/>
              </a:spcBef>
              <a:buClr>
                <a:srgbClr val="C55A11"/>
              </a:buClr>
              <a:buSzPct val="90000"/>
              <a:buFont typeface="Arial"/>
              <a:buChar char="■"/>
            </a:pPr>
            <a:r>
              <a:rPr lang="en-US" sz="1450" b="0" i="0" dirty="0">
                <a:solidFill>
                  <a:srgbClr val="1A1D21"/>
                </a:solidFill>
                <a:latin typeface="Calibri"/>
              </a:rPr>
              <a:t>Whether prefetch and demand reads fight for banks</a:t>
            </a:r>
          </a:p>
        </p:txBody>
      </p:sp>
      <p:sp>
        <p:nvSpPr>
          <p:cNvPr id="274" name="nb"/>
          <p:cNvSpPr txBox="1"/>
          <p:nvPr/>
        </p:nvSpPr>
        <p:spPr>
          <a:xfrm>
            <a:off x="731520" y="4980000"/>
            <a:ext cx="68580" cy="1150000"/>
          </a:xfrm>
          <a:prstGeom prst="rect">
            <a:avLst/>
          </a:prstGeom>
          <a:solidFill>
            <a:srgbClr val="C55A11"/>
          </a:solidFill>
          <a:ln>
            <a:noFill/>
          </a:ln>
        </p:spPr>
        <p:txBody>
          <a:bodyPr wrap="square" lIns="137160" tIns="91440" rIns="137160" bIns="91440" anchor="t">
            <a:normAutofit/>
          </a:bodyPr>
          <a:lstStyle/>
          <a:p>
            <a:endParaRPr lang="en-US"/>
          </a:p>
        </p:txBody>
      </p:sp>
      <p:sp>
        <p:nvSpPr>
          <p:cNvPr id="275" name="sh"/>
          <p:cNvSpPr txBox="1"/>
          <p:nvPr/>
        </p:nvSpPr>
        <p:spPr>
          <a:xfrm>
            <a:off x="800100" y="4980000"/>
            <a:ext cx="10660380" cy="1150000"/>
          </a:xfrm>
          <a:prstGeom prst="rect">
            <a:avLst/>
          </a:prstGeom>
          <a:solidFill>
            <a:srgbClr val="EAEFF6"/>
          </a:solidFill>
          <a:ln>
            <a:noFill/>
          </a:ln>
        </p:spPr>
        <p:txBody>
          <a:bodyPr wrap="square" lIns="137160" tIns="91440" rIns="137160" bIns="91440" anchor="t">
            <a:normAutofit/>
          </a:bodyPr>
          <a:lstStyle/>
          <a:p>
            <a:pPr marL="0" indent="0" algn="l">
              <a:buNone/>
            </a:pPr>
            <a:r>
              <a:rPr lang="en-US" sz="1000" b="1" i="0" spc="200" dirty="0">
                <a:solidFill>
                  <a:srgbClr val="C55A11"/>
                </a:solidFill>
                <a:latin typeface="Calibri"/>
              </a:rPr>
              <a:t>IN PLAIN WORDS</a:t>
            </a:r>
          </a:p>
          <a:p>
            <a:pPr marL="0" indent="0" algn="l">
              <a:spcBef>
                <a:spcPts val="250"/>
              </a:spcBef>
              <a:buNone/>
            </a:pPr>
            <a:r>
              <a:rPr lang="en-US" sz="1400" b="0" i="0" dirty="0">
                <a:solidFill>
                  <a:srgbClr val="1A1D21"/>
                </a:solidFill>
                <a:latin typeface="Calibri"/>
              </a:rPr>
              <a:t>This is where the contribution lies. The paper argues H3 should work. This simulator can test whether the mechanism that makes it work behaves as expected under realistic conditions.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rule"/>
          <p:cNvSpPr txBox="1"/>
          <p:nvPr/>
        </p:nvSpPr>
        <p:spPr>
          <a:xfrm>
            <a:off x="0" y="0"/>
            <a:ext cx="12192000" cy="68580"/>
          </a:xfrm>
          <a:prstGeom prst="rect">
            <a:avLst/>
          </a:prstGeom>
          <a:solidFill>
            <a:srgbClr val="C55A11"/>
          </a:solidFill>
          <a:ln>
            <a:noFill/>
          </a:ln>
        </p:spPr>
        <p:txBody>
          <a:bodyPr wrap="square" lIns="137160" tIns="91440" rIns="137160" bIns="91440" anchor="t">
            <a:normAutofit/>
          </a:bodyPr>
          <a:lstStyle/>
          <a:p>
            <a:endParaRPr lang="en-US"/>
          </a:p>
        </p:txBody>
      </p:sp>
      <p:sp>
        <p:nvSpPr>
          <p:cNvPr id="277" name="spine"/>
          <p:cNvSpPr txBox="1"/>
          <p:nvPr/>
        </p:nvSpPr>
        <p:spPr>
          <a:xfrm>
            <a:off x="0" y="68580"/>
            <a:ext cx="137160" cy="6789420"/>
          </a:xfrm>
          <a:prstGeom prst="rect">
            <a:avLst/>
          </a:prstGeom>
          <a:solidFill>
            <a:srgbClr val="1F3864"/>
          </a:solidFill>
          <a:ln>
            <a:noFill/>
          </a:ln>
        </p:spPr>
        <p:txBody>
          <a:bodyPr wrap="square" lIns="137160" tIns="91440" rIns="137160" bIns="91440" anchor="t">
            <a:normAutofit/>
          </a:bodyPr>
          <a:lstStyle/>
          <a:p>
            <a:endParaRPr lang="en-US"/>
          </a:p>
        </p:txBody>
      </p:sp>
      <p:sp>
        <p:nvSpPr>
          <p:cNvPr id="278" name="sh"/>
          <p:cNvSpPr txBox="1"/>
          <p:nvPr/>
        </p:nvSpPr>
        <p:spPr>
          <a:xfrm>
            <a:off x="731520" y="320040"/>
            <a:ext cx="10728960" cy="300000"/>
          </a:xfrm>
          <a:prstGeom prst="rect">
            <a:avLst/>
          </a:prstGeom>
          <a:noFill/>
          <a:ln>
            <a:noFill/>
          </a:ln>
        </p:spPr>
        <p:txBody>
          <a:bodyPr wrap="square" lIns="0" tIns="0" rIns="0" bIns="0" anchor="t">
            <a:normAutofit/>
          </a:bodyPr>
          <a:lstStyle/>
          <a:p>
            <a:pPr marL="0" indent="0" algn="l">
              <a:buNone/>
            </a:pPr>
            <a:r>
              <a:rPr lang="en-US" sz="1100" b="1" i="0" spc="300" dirty="0">
                <a:solidFill>
                  <a:srgbClr val="C55A11"/>
                </a:solidFill>
                <a:latin typeface="Calibri"/>
              </a:rPr>
              <a:t>NEXT</a:t>
            </a:r>
          </a:p>
        </p:txBody>
      </p:sp>
      <p:sp>
        <p:nvSpPr>
          <p:cNvPr id="279" name="sh"/>
          <p:cNvSpPr txBox="1"/>
          <p:nvPr/>
        </p:nvSpPr>
        <p:spPr>
          <a:xfrm>
            <a:off x="731520" y="620000"/>
            <a:ext cx="10728960" cy="780000"/>
          </a:xfrm>
          <a:prstGeom prst="rect">
            <a:avLst/>
          </a:prstGeom>
          <a:noFill/>
          <a:ln>
            <a:noFill/>
          </a:ln>
        </p:spPr>
        <p:txBody>
          <a:bodyPr wrap="square" lIns="0" tIns="0" rIns="0" bIns="0" anchor="t">
            <a:normAutofit/>
          </a:bodyPr>
          <a:lstStyle/>
          <a:p>
            <a:pPr marL="0" indent="0" algn="l">
              <a:buNone/>
            </a:pPr>
            <a:r>
              <a:rPr lang="en-US" sz="2600" b="1" i="0" dirty="0">
                <a:solidFill>
                  <a:srgbClr val="1F3864"/>
                </a:solidFill>
                <a:latin typeface="Calibri"/>
              </a:rPr>
              <a:t>Suggested next steps</a:t>
            </a:r>
          </a:p>
        </p:txBody>
      </p:sp>
      <p:sp>
        <p:nvSpPr>
          <p:cNvPr id="280" name="ul"/>
          <p:cNvSpPr txBox="1"/>
          <p:nvPr/>
        </p:nvSpPr>
        <p:spPr>
          <a:xfrm>
            <a:off x="731520" y="1400000"/>
            <a:ext cx="1600000" cy="40000"/>
          </a:xfrm>
          <a:prstGeom prst="rect">
            <a:avLst/>
          </a:prstGeom>
          <a:solidFill>
            <a:srgbClr val="C55A11"/>
          </a:solidFill>
          <a:ln>
            <a:noFill/>
          </a:ln>
        </p:spPr>
        <p:txBody>
          <a:bodyPr wrap="square" lIns="137160" tIns="91440" rIns="137160" bIns="91440" anchor="t">
            <a:normAutofit/>
          </a:bodyPr>
          <a:lstStyle/>
          <a:p>
            <a:endParaRPr lang="en-US"/>
          </a:p>
        </p:txBody>
      </p:sp>
      <p:sp>
        <p:nvSpPr>
          <p:cNvPr id="281" name="sh"/>
          <p:cNvSpPr txBox="1"/>
          <p:nvPr/>
        </p:nvSpPr>
        <p:spPr>
          <a:xfrm>
            <a:off x="731520" y="6358000"/>
            <a:ext cx="6437376" cy="300000"/>
          </a:xfrm>
          <a:prstGeom prst="rect">
            <a:avLst/>
          </a:prstGeom>
          <a:noFill/>
          <a:ln>
            <a:noFill/>
          </a:ln>
        </p:spPr>
        <p:txBody>
          <a:bodyPr wrap="square" lIns="0" tIns="0" rIns="0" bIns="0" anchor="t">
            <a:normAutofit/>
          </a:bodyPr>
          <a:lstStyle/>
          <a:p>
            <a:pPr marL="0" indent="0" algn="l">
              <a:buNone/>
            </a:pPr>
            <a:r>
              <a:rPr lang="en-US" sz="1000" b="0" i="0" dirty="0">
                <a:solidFill>
                  <a:srgbClr val="8FA3BF"/>
                </a:solidFill>
                <a:latin typeface="Calibri"/>
              </a:rPr>
              <a:t>H3 cycle-accurate memory simulator</a:t>
            </a:r>
          </a:p>
        </p:txBody>
      </p:sp>
      <p:sp>
        <p:nvSpPr>
          <p:cNvPr id="282" name="sh"/>
          <p:cNvSpPr txBox="1"/>
          <p:nvPr/>
        </p:nvSpPr>
        <p:spPr>
          <a:xfrm>
            <a:off x="10760480" y="6358000"/>
            <a:ext cx="700000" cy="300000"/>
          </a:xfrm>
          <a:prstGeom prst="rect">
            <a:avLst/>
          </a:prstGeom>
          <a:noFill/>
          <a:ln>
            <a:noFill/>
          </a:ln>
        </p:spPr>
        <p:txBody>
          <a:bodyPr wrap="square" lIns="0" tIns="0" rIns="0" bIns="0" anchor="t">
            <a:normAutofit/>
          </a:bodyPr>
          <a:lstStyle/>
          <a:p>
            <a:pPr marL="0" indent="0" algn="r">
              <a:buNone/>
            </a:pPr>
            <a:r>
              <a:rPr lang="en-US" sz="1100" b="1" i="0" dirty="0">
                <a:solidFill>
                  <a:srgbClr val="8FA3BF"/>
                </a:solidFill>
                <a:latin typeface="Calibri"/>
              </a:rPr>
              <a:t>23</a:t>
            </a:r>
          </a:p>
        </p:txBody>
      </p:sp>
      <p:sp>
        <p:nvSpPr>
          <p:cNvPr id="283" name="sh"/>
          <p:cNvSpPr txBox="1"/>
          <p:nvPr/>
        </p:nvSpPr>
        <p:spPr>
          <a:xfrm>
            <a:off x="731520" y="1560000"/>
            <a:ext cx="10728960" cy="3200000"/>
          </a:xfrm>
          <a:prstGeom prst="rect">
            <a:avLst/>
          </a:prstGeom>
          <a:noFill/>
          <a:ln>
            <a:noFill/>
          </a:ln>
        </p:spPr>
        <p:txBody>
          <a:bodyPr wrap="square" lIns="0" tIns="0" rIns="0" bIns="0" anchor="t">
            <a:normAutofit/>
          </a:bodyPr>
          <a:lstStyle/>
          <a:p>
            <a:pPr marL="228600" indent="-228600" algn="l">
              <a:spcBef>
                <a:spcPts val="520"/>
              </a:spcBef>
              <a:buClr>
                <a:srgbClr val="C55A11"/>
              </a:buClr>
              <a:buSzPct val="90000"/>
              <a:buFont typeface="Arial"/>
              <a:buChar char="■"/>
            </a:pPr>
            <a:r>
              <a:rPr lang="en-US" sz="1550" b="0" i="0" dirty="0">
                <a:solidFill>
                  <a:srgbClr val="1A1D21"/>
                </a:solidFill>
                <a:latin typeface="Calibri"/>
              </a:rPr>
              <a:t>1. Fix the comparison point before generating any traces</a:t>
            </a:r>
          </a:p>
          <a:p>
            <a:pPr marL="457200" indent="-228600" algn="l">
              <a:spcBef>
                <a:spcPts val="380"/>
              </a:spcBef>
              <a:buClr>
                <a:srgbClr val="8FA3BF"/>
              </a:buClr>
              <a:buSzPct val="90000"/>
              <a:buFont typeface="Arial"/>
              <a:buChar char="–"/>
            </a:pPr>
            <a:r>
              <a:rPr lang="en-US" sz="1400" b="0" i="0" dirty="0">
                <a:solidFill>
                  <a:srgbClr val="5F6368"/>
                </a:solidFill>
                <a:latin typeface="Calibri"/>
              </a:rPr>
              <a:t>The paper compares at equal GPU count, where H3 allows a 2.6x larger batch</a:t>
            </a:r>
          </a:p>
          <a:p>
            <a:pPr marL="457200" indent="-228600" algn="l">
              <a:spcBef>
                <a:spcPts val="380"/>
              </a:spcBef>
              <a:buClr>
                <a:srgbClr val="8FA3BF"/>
              </a:buClr>
              <a:buSzPct val="90000"/>
              <a:buFont typeface="Arial"/>
              <a:buChar char="–"/>
            </a:pPr>
            <a:r>
              <a:rPr lang="en-US" sz="1400" b="0" i="0" dirty="0">
                <a:solidFill>
                  <a:srgbClr val="5F6368"/>
                </a:solidFill>
                <a:latin typeface="Calibri"/>
              </a:rPr>
              <a:t>This costs nothing and decides which traces are worth generating</a:t>
            </a:r>
          </a:p>
          <a:p>
            <a:pPr marL="228600" indent="-228600" algn="l">
              <a:spcBef>
                <a:spcPts val="520"/>
              </a:spcBef>
              <a:buClr>
                <a:srgbClr val="C55A11"/>
              </a:buClr>
              <a:buSzPct val="90000"/>
              <a:buFont typeface="Arial"/>
              <a:buChar char="■"/>
            </a:pPr>
            <a:r>
              <a:rPr lang="en-US" sz="1550" b="0" i="0" dirty="0">
                <a:solidFill>
                  <a:srgbClr val="1A1D21"/>
                </a:solidFill>
                <a:latin typeface="Calibri"/>
              </a:rPr>
              <a:t>2. Generate real Llama traces on a machine with A100 or H100 GPUs</a:t>
            </a:r>
          </a:p>
          <a:p>
            <a:pPr marL="457200" indent="-228600" algn="l">
              <a:spcBef>
                <a:spcPts val="380"/>
              </a:spcBef>
              <a:buClr>
                <a:srgbClr val="8FA3BF"/>
              </a:buClr>
              <a:buSzPct val="90000"/>
              <a:buFont typeface="Arial"/>
              <a:buChar char="–"/>
            </a:pPr>
            <a:r>
              <a:rPr lang="en-US" sz="1400" b="0" i="0" dirty="0">
                <a:solidFill>
                  <a:srgbClr val="5F6368"/>
                </a:solidFill>
                <a:latin typeface="Calibri"/>
              </a:rPr>
              <a:t>Requirements written up in docs/large_machine_requirements.md</a:t>
            </a:r>
          </a:p>
          <a:p>
            <a:pPr marL="228600" indent="-228600" algn="l">
              <a:spcBef>
                <a:spcPts val="520"/>
              </a:spcBef>
              <a:buClr>
                <a:srgbClr val="C55A11"/>
              </a:buClr>
              <a:buSzPct val="90000"/>
              <a:buFont typeface="Arial"/>
              <a:buChar char="■"/>
            </a:pPr>
            <a:r>
              <a:rPr lang="en-US" sz="1550" b="0" i="0" dirty="0">
                <a:solidFill>
                  <a:srgbClr val="1A1D21"/>
                </a:solidFill>
                <a:latin typeface="Calibri"/>
              </a:rPr>
              <a:t>3. Complete the power model if the throughput-per-watt claim is needed</a:t>
            </a:r>
          </a:p>
          <a:p>
            <a:pPr marL="228600" indent="-228600" algn="l">
              <a:spcBef>
                <a:spcPts val="520"/>
              </a:spcBef>
              <a:buClr>
                <a:srgbClr val="C55A11"/>
              </a:buClr>
              <a:buSzPct val="90000"/>
              <a:buFont typeface="Arial"/>
              <a:buChar char="■"/>
            </a:pPr>
            <a:r>
              <a:rPr lang="en-US" sz="1550" b="0" i="0" dirty="0">
                <a:solidFill>
                  <a:srgbClr val="1A1D21"/>
                </a:solidFill>
                <a:latin typeface="Calibri"/>
              </a:rPr>
              <a:t>4. Run the sensitivity sweeps the analytical model cannot reach</a:t>
            </a:r>
          </a:p>
        </p:txBody>
      </p:sp>
      <p:sp>
        <p:nvSpPr>
          <p:cNvPr id="284" name="nb"/>
          <p:cNvSpPr txBox="1"/>
          <p:nvPr/>
        </p:nvSpPr>
        <p:spPr>
          <a:xfrm>
            <a:off x="731520" y="4980000"/>
            <a:ext cx="68580" cy="1150000"/>
          </a:xfrm>
          <a:prstGeom prst="rect">
            <a:avLst/>
          </a:prstGeom>
          <a:solidFill>
            <a:srgbClr val="C55A11"/>
          </a:solidFill>
          <a:ln>
            <a:noFill/>
          </a:ln>
        </p:spPr>
        <p:txBody>
          <a:bodyPr wrap="square" lIns="137160" tIns="91440" rIns="137160" bIns="91440" anchor="t">
            <a:normAutofit/>
          </a:bodyPr>
          <a:lstStyle/>
          <a:p>
            <a:endParaRPr lang="en-US"/>
          </a:p>
        </p:txBody>
      </p:sp>
      <p:sp>
        <p:nvSpPr>
          <p:cNvPr id="285" name="sh"/>
          <p:cNvSpPr txBox="1"/>
          <p:nvPr/>
        </p:nvSpPr>
        <p:spPr>
          <a:xfrm>
            <a:off x="800100" y="4980000"/>
            <a:ext cx="10660380" cy="1150000"/>
          </a:xfrm>
          <a:prstGeom prst="rect">
            <a:avLst/>
          </a:prstGeom>
          <a:solidFill>
            <a:srgbClr val="EAEFF6"/>
          </a:solidFill>
          <a:ln>
            <a:noFill/>
          </a:ln>
        </p:spPr>
        <p:txBody>
          <a:bodyPr wrap="square" lIns="137160" tIns="91440" rIns="137160" bIns="91440" anchor="t">
            <a:normAutofit/>
          </a:bodyPr>
          <a:lstStyle/>
          <a:p>
            <a:pPr marL="0" indent="0" algn="l">
              <a:buNone/>
            </a:pPr>
            <a:r>
              <a:rPr lang="en-US" sz="1000" b="1" i="0" spc="200" dirty="0">
                <a:solidFill>
                  <a:srgbClr val="C55A11"/>
                </a:solidFill>
                <a:latin typeface="Calibri"/>
              </a:rPr>
              <a:t>IN PLAIN WORDS</a:t>
            </a:r>
          </a:p>
          <a:p>
            <a:pPr marL="0" indent="0" algn="l">
              <a:spcBef>
                <a:spcPts val="250"/>
              </a:spcBef>
              <a:buNone/>
            </a:pPr>
            <a:r>
              <a:rPr lang="en-US" sz="1400" b="0" i="0" dirty="0">
                <a:solidFill>
                  <a:srgbClr val="1A1D21"/>
                </a:solidFill>
                <a:latin typeface="Calibri"/>
              </a:rPr>
              <a:t>Step 1 should come first because it is free and it determines everything after it. Generating traces costs days and terabytes, so it is worth being certain about the experiment before starting.</a:t>
            </a:r>
          </a:p>
        </p:txBody>
      </p:sp>
    </p:spTree>
  </p:cSld>
  <p:clrMapOvr>
    <a:masterClrMapping/>
  </p:clrMapOvr>
</p:sld>
</file>

<file path=ppt/theme/theme1.xml><?xml version="1.0" encoding="utf-8"?>
<a:theme xmlns:a="http://schemas.openxmlformats.org/drawingml/2006/main" name="H3">
  <a:themeElements>
    <a:clrScheme name="H3">
      <a:dk1>
        <a:sysClr val="windowText" lastClr="000000"/>
      </a:dk1>
      <a:lt1>
        <a:sysClr val="window" lastClr="FFFFFF"/>
      </a:lt1>
      <a:dk2>
        <a:srgbClr val="1F3864"/>
      </a:dk2>
      <a:lt2>
        <a:srgbClr val="F2F4F7"/>
      </a:lt2>
      <a:accent1>
        <a:srgbClr val="C55A11"/>
      </a:accent1>
      <a:accent2>
        <a:srgbClr val="1F3864"/>
      </a:accent2>
      <a:accent3>
        <a:srgbClr val="5F6368"/>
      </a:accent3>
      <a:accent4>
        <a:srgbClr val="8FAADC"/>
      </a:accent4>
      <a:accent5>
        <a:srgbClr val="A9D18E"/>
      </a:accent5>
      <a:accent6>
        <a:srgbClr val="FFD966"/>
      </a:accent6>
      <a:hlink>
        <a:srgbClr val="0563C1"/>
      </a:hlink>
      <a:folHlink>
        <a:srgbClr val="954F72"/>
      </a:folHlink>
    </a:clrScheme>
    <a:fontScheme name="H3">
      <a:majorFont>
        <a:latin typeface="Calibri Light"/>
        <a:ea typeface=""/>
        <a:cs typeface=""/>
      </a:majorFont>
      <a:minorFont>
        <a:latin typeface="Calibri"/>
        <a:ea typeface=""/>
        <a:cs typeface=""/>
      </a:minorFont>
    </a:fontScheme>
    <a:fmtScheme name="H3">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Slides>23</Slides>
  <Application>H3 build script</Application>
</Properties>
</file>

<file path=docProps/core.xml><?xml version="1.0" encoding="utf-8"?>
<cp:coreProperties xmlns:cp="http://schemas.openxmlformats.org/package/2006/metadata/core-properties" xmlns:dc="http://purl.org/dc/elements/1.1/" xmlns:dcterms="http://purl.org/dc/terms/" xmlns:xsi="http://www.w3.org/2001/XMLSchema-instance">
  <dc:title>H3 Cycle-Accurate Memory Simulator</dc:title>
  <dc:creator>H3 Simulator Project</dc:creator>
  <cp:lastModifiedBy>H3 Simulator Project</cp:lastModifiedBy>
</cp:coreProperties>
</file>